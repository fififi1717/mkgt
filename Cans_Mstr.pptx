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notesMasterIdLst>
    <p:notesMasterId r:id="rId2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notesMaster" Target="notesMasters/notes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Relationship Id="rId26" Type="http://schemas.openxmlformats.org/officeDocument/2006/relationships/customXml" Target="../customXml/item1.xml"/><Relationship Id="rId27" Type="http://schemas.openxmlformats.org/officeDocument/2006/relationships/customXml" Target="../customXml/item2.xml"/><Relationship Id="rId28" Type="http://schemas.openxmlformats.org/officeDocument/2006/relationships/customXml" Target="../customXml/item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Allocation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C2B3A"/>
              </a:solidFill>
              <a:effectLst/>
            </c:spPr>
          </c:dPt>
          <c:dPt>
            <c:idx val="1"/>
            <c:bubble3D val="0"/>
            <c:spPr>
              <a:solidFill>
                <a:srgbClr val="8B1A1A"/>
              </a:solidFill>
              <a:effectLst/>
            </c:spPr>
          </c:dPt>
          <c:dPt>
            <c:idx val="2"/>
            <c:bubble3D val="0"/>
            <c:spPr>
              <a:solidFill>
                <a:srgbClr val="A09080"/>
              </a:solidFill>
              <a:effectLst/>
            </c:spPr>
          </c:dPt>
          <c:dPt>
            <c:idx val="3"/>
            <c:bubble3D val="0"/>
            <c:spPr>
              <a:solidFill>
                <a:srgbClr val="CFC8BD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Immobilier</c:v>
                </c:pt>
                <c:pt idx="1">
                  <c:v>Financier</c:v>
                </c:pt>
                <c:pt idx="2">
                  <c:v>Retraite</c:v>
                </c:pt>
                <c:pt idx="3">
                  <c:v>Liquidités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40</c:v>
                </c:pt>
                <c:pt idx="1">
                  <c:v>30</c:v>
                </c:pt>
                <c:pt idx="2">
                  <c:v>20</c:v>
                </c:pt>
                <c:pt idx="3">
                  <c:v>10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Liquidité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CFC8BD"/>
              </a:solidFill>
              <a:effectLst/>
            </c:spPr>
          </c:dPt>
          <c:dPt>
            <c:idx val="1"/>
            <c:bubble3D val="0"/>
            <c:spPr>
              <a:solidFill>
                <a:srgbClr val="1C2B3A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9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Liquide</c:v>
                </c:pt>
                <c:pt idx="1">
                  <c:v>Illiquide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35</c:v>
                </c:pt>
                <c:pt idx="1">
                  <c:v>65</c:v>
                </c:pt>
              </c:numCache>
            </c:numRef>
          </c:val>
        </c:ser>
        <c:firstSliceAng val="0"/>
        <c:holeSize val="65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chart" Target="../charts/chart1.xml"/><Relationship Id="rId3" Type="http://schemas.openxmlformats.org/officeDocument/2006/relationships/chart" Target="../charts/chart2.xml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743200" cy="514350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975104"/>
            <a:ext cx="1920240" cy="1188720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1024128" y="323697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1440" y="332841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spc="150" kern="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Privée</a:t>
            </a:r>
            <a:endParaRPr lang="en-US" sz="850" dirty="0"/>
          </a:p>
        </p:txBody>
      </p:sp>
      <p:sp>
        <p:nvSpPr>
          <p:cNvPr id="5" name="Text 2"/>
          <p:cNvSpPr/>
          <p:nvPr/>
        </p:nvSpPr>
        <p:spPr>
          <a:xfrm>
            <a:off x="91440" y="3538416"/>
            <a:ext cx="2560320" cy="2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i="1" spc="150" kern="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Gestion de fortune · Family office</a:t>
            </a:r>
            <a:endParaRPr lang="en-US" sz="850" dirty="0"/>
          </a:p>
        </p:txBody>
      </p:sp>
      <p:sp>
        <p:nvSpPr>
          <p:cNvPr id="6" name="Shape 3"/>
          <p:cNvSpPr/>
          <p:nvPr/>
        </p:nvSpPr>
        <p:spPr>
          <a:xfrm>
            <a:off x="2926080" y="118872"/>
            <a:ext cx="5715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6035040" y="173736"/>
            <a:ext cx="23317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[MOIS ANNÉE]</a:t>
            </a:r>
            <a:endParaRPr lang="en-US" sz="750" dirty="0"/>
          </a:p>
        </p:txBody>
      </p:sp>
      <p:sp>
        <p:nvSpPr>
          <p:cNvPr id="8" name="Shape 5"/>
          <p:cNvSpPr/>
          <p:nvPr/>
        </p:nvSpPr>
        <p:spPr>
          <a:xfrm>
            <a:off x="3108960" y="1298448"/>
            <a:ext cx="20117" cy="1417320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337560" y="1188720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[Prénom Nom]</a:t>
            </a:r>
            <a:endParaRPr lang="en-US" sz="4600" dirty="0"/>
          </a:p>
        </p:txBody>
      </p:sp>
      <p:sp>
        <p:nvSpPr>
          <p:cNvPr id="10" name="Shape 7"/>
          <p:cNvSpPr/>
          <p:nvPr/>
        </p:nvSpPr>
        <p:spPr>
          <a:xfrm>
            <a:off x="3337560" y="2304288"/>
            <a:ext cx="50292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337560" y="2514600"/>
            <a:ext cx="53035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patrimoniale</a:t>
            </a:r>
            <a:endParaRPr lang="en-US" sz="2000" dirty="0"/>
          </a:p>
        </p:txBody>
      </p:sp>
      <p:sp>
        <p:nvSpPr>
          <p:cNvPr id="12" name="Text 9"/>
          <p:cNvSpPr/>
          <p:nvPr/>
        </p:nvSpPr>
        <p:spPr>
          <a:xfrm>
            <a:off x="3337560" y="3218688"/>
            <a:ext cx="1828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·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3520440" y="3218688"/>
            <a:ext cx="5029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[Mot-clé objectif 1 · Mot-clé objectif 2 · …]</a:t>
            </a:r>
            <a:endParaRPr lang="en-US" sz="1000" dirty="0"/>
          </a:p>
        </p:txBody>
      </p:sp>
      <p:sp>
        <p:nvSpPr>
          <p:cNvPr id="14" name="Text 11"/>
          <p:cNvSpPr/>
          <p:nvPr/>
        </p:nvSpPr>
        <p:spPr>
          <a:xfrm>
            <a:off x="3337560" y="4160520"/>
            <a:ext cx="32004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150" kern="0" dirty="0">
                <a:solidFill>
                  <a:srgbClr val="CFC8BD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Document confidentiel</a:t>
            </a:r>
            <a:endParaRPr lang="en-US" sz="750" dirty="0"/>
          </a:p>
        </p:txBody>
      </p:sp>
      <p:sp>
        <p:nvSpPr>
          <p:cNvPr id="15" name="Shape 12"/>
          <p:cNvSpPr/>
          <p:nvPr/>
        </p:nvSpPr>
        <p:spPr>
          <a:xfrm>
            <a:off x="2743200" y="4974336"/>
            <a:ext cx="64008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108960" y="5001768"/>
            <a:ext cx="5577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document est confidentiel et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Sommaire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41732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1078992" y="145389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1078992" y="176479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 · Patrimoine · Fiscalité · Droits de succession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7498080" y="152704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 — 08</a:t>
            </a:r>
            <a:endParaRPr lang="en-US" sz="1000" dirty="0"/>
          </a:p>
        </p:txBody>
      </p:sp>
      <p:sp>
        <p:nvSpPr>
          <p:cNvPr id="16" name="Shape 13"/>
          <p:cNvSpPr/>
          <p:nvPr/>
        </p:nvSpPr>
        <p:spPr>
          <a:xfrm>
            <a:off x="502920" y="21305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02920" y="224028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2800" dirty="0"/>
          </a:p>
        </p:txBody>
      </p:sp>
      <p:sp>
        <p:nvSpPr>
          <p:cNvPr id="18" name="Text 15"/>
          <p:cNvSpPr/>
          <p:nvPr/>
        </p:nvSpPr>
        <p:spPr>
          <a:xfrm>
            <a:off x="1078992" y="227685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1600" dirty="0"/>
          </a:p>
        </p:txBody>
      </p:sp>
      <p:sp>
        <p:nvSpPr>
          <p:cNvPr id="19" name="Text 16"/>
          <p:cNvSpPr/>
          <p:nvPr/>
        </p:nvSpPr>
        <p:spPr>
          <a:xfrm>
            <a:off x="1078992" y="258775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 · Notre diagnostic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7498080" y="235000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 — 10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02920" y="306324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2800" dirty="0"/>
          </a:p>
        </p:txBody>
      </p:sp>
      <p:sp>
        <p:nvSpPr>
          <p:cNvPr id="23" name="Text 20"/>
          <p:cNvSpPr/>
          <p:nvPr/>
        </p:nvSpPr>
        <p:spPr>
          <a:xfrm>
            <a:off x="1078992" y="309981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 Affilior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1078992" y="341071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7498080" y="317296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 — 15</a:t>
            </a:r>
            <a:endParaRPr lang="en-US" sz="1000" dirty="0"/>
          </a:p>
        </p:txBody>
      </p:sp>
      <p:sp>
        <p:nvSpPr>
          <p:cNvPr id="26" name="Shape 23"/>
          <p:cNvSpPr/>
          <p:nvPr/>
        </p:nvSpPr>
        <p:spPr>
          <a:xfrm>
            <a:off x="502920" y="377647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02920" y="3886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2800" dirty="0"/>
          </a:p>
        </p:txBody>
      </p:sp>
      <p:sp>
        <p:nvSpPr>
          <p:cNvPr id="28" name="Text 25"/>
          <p:cNvSpPr/>
          <p:nvPr/>
        </p:nvSpPr>
        <p:spPr>
          <a:xfrm>
            <a:off x="1078992" y="3922776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1078992" y="4233672"/>
            <a:ext cx="5669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10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 · Prochaines étapes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7498080" y="3995928"/>
            <a:ext cx="1005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 — 17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AUDIT PATRIMONIAL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· Patrimoine · Fiscalité · Droits de succession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04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situation</a:t>
            </a:r>
            <a:endParaRPr lang="en-US" sz="2600" dirty="0"/>
          </a:p>
        </p:txBody>
      </p:sp>
      <p:sp>
        <p:nvSpPr>
          <p:cNvPr id="10" name="Shape 7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ÂGE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50292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ans — ou X et X ans si couple]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0292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PROFESSIONNELLE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0292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[Profession · Employeur · Statut]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FAMILIALE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[Marié(e) / Pacsé(e) / Célibataire] sous le régime de [régime matrimonial]</a:t>
            </a:r>
            <a:endParaRPr lang="en-US" sz="1150" dirty="0"/>
          </a:p>
        </p:txBody>
      </p:sp>
      <p:sp>
        <p:nvSpPr>
          <p:cNvPr id="20" name="Shape 17"/>
          <p:cNvSpPr/>
          <p:nvPr/>
        </p:nvSpPr>
        <p:spPr>
          <a:xfrm>
            <a:off x="502920" y="3273552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502920" y="3346704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ENFANTS</a:t>
            </a:r>
            <a:endParaRPr lang="en-US" sz="750" dirty="0"/>
          </a:p>
        </p:txBody>
      </p:sp>
      <p:sp>
        <p:nvSpPr>
          <p:cNvPr id="22" name="Text 19"/>
          <p:cNvSpPr/>
          <p:nvPr/>
        </p:nvSpPr>
        <p:spPr>
          <a:xfrm>
            <a:off x="502920" y="3584448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enfants âgés de X, X et X ans]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02920" y="3931920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502920" y="400507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RÉSIDENCE PRINCIPALE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502920" y="4242816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[Propriétaire / Locataire] à [Ville]</a:t>
            </a:r>
            <a:endParaRPr lang="en-US" sz="1150" dirty="0"/>
          </a:p>
        </p:txBody>
      </p:sp>
      <p:sp>
        <p:nvSpPr>
          <p:cNvPr id="26" name="Shape 23"/>
          <p:cNvSpPr/>
          <p:nvPr/>
        </p:nvSpPr>
        <p:spPr>
          <a:xfrm>
            <a:off x="4572000" y="594360"/>
            <a:ext cx="10973" cy="42976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709160" y="1371600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ANNUEL NET DÉCLARÉ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4709160" y="1609344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 en [ANNÉE]</a:t>
            </a:r>
            <a:endParaRPr lang="en-US" sz="1150" dirty="0"/>
          </a:p>
        </p:txBody>
      </p:sp>
      <p:sp>
        <p:nvSpPr>
          <p:cNvPr id="29" name="Shape 26"/>
          <p:cNvSpPr/>
          <p:nvPr/>
        </p:nvSpPr>
        <p:spPr>
          <a:xfrm>
            <a:off x="4709160" y="1956816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09160" y="2029968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ÉPARGNE MENSUELLE CAPACITÉ</a:t>
            </a:r>
            <a:endParaRPr lang="en-US" sz="750" dirty="0"/>
          </a:p>
        </p:txBody>
      </p:sp>
      <p:sp>
        <p:nvSpPr>
          <p:cNvPr id="31" name="Text 28"/>
          <p:cNvSpPr/>
          <p:nvPr/>
        </p:nvSpPr>
        <p:spPr>
          <a:xfrm>
            <a:off x="4709160" y="2267712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1150" dirty="0"/>
          </a:p>
        </p:txBody>
      </p:sp>
      <p:sp>
        <p:nvSpPr>
          <p:cNvPr id="32" name="Shape 29"/>
          <p:cNvSpPr/>
          <p:nvPr/>
        </p:nvSpPr>
        <p:spPr>
          <a:xfrm>
            <a:off x="4709160" y="2615184"/>
            <a:ext cx="384048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709160" y="2688336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PARTICULIÈRE</a:t>
            </a:r>
            <a:endParaRPr lang="en-US" sz="750" dirty="0"/>
          </a:p>
        </p:txBody>
      </p:sp>
      <p:sp>
        <p:nvSpPr>
          <p:cNvPr id="34" name="Text 31"/>
          <p:cNvSpPr/>
          <p:nvPr/>
        </p:nvSpPr>
        <p:spPr>
          <a:xfrm>
            <a:off x="4709160" y="2926080"/>
            <a:ext cx="3840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[AGA, BSPCE, stock-options, gérance, etc.]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patrimoine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371600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" y="1371600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Composante</a:t>
            </a:r>
            <a:endParaRPr lang="en-US" sz="850" dirty="0"/>
          </a:p>
        </p:txBody>
      </p:sp>
      <p:sp>
        <p:nvSpPr>
          <p:cNvPr id="14" name="Shape 11"/>
          <p:cNvSpPr/>
          <p:nvPr/>
        </p:nvSpPr>
        <p:spPr>
          <a:xfrm>
            <a:off x="3429000" y="1371600"/>
            <a:ext cx="14630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3502152" y="1371600"/>
            <a:ext cx="13533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 estimée</a:t>
            </a:r>
            <a:endParaRPr lang="en-US" sz="850" dirty="0"/>
          </a:p>
        </p:txBody>
      </p:sp>
      <p:sp>
        <p:nvSpPr>
          <p:cNvPr id="16" name="Shape 13"/>
          <p:cNvSpPr/>
          <p:nvPr/>
        </p:nvSpPr>
        <p:spPr>
          <a:xfrm>
            <a:off x="4892040" y="1371600"/>
            <a:ext cx="82296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965192" y="1371600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du total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502920" y="167335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6072" y="168249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Résidence principale</a:t>
            </a:r>
            <a:endParaRPr lang="en-US" sz="900" dirty="0"/>
          </a:p>
        </p:txBody>
      </p:sp>
      <p:sp>
        <p:nvSpPr>
          <p:cNvPr id="20" name="Shape 17"/>
          <p:cNvSpPr/>
          <p:nvPr/>
        </p:nvSpPr>
        <p:spPr>
          <a:xfrm>
            <a:off x="3429000" y="1673352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502152" y="1682496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2" name="Shape 19"/>
          <p:cNvSpPr/>
          <p:nvPr/>
        </p:nvSpPr>
        <p:spPr>
          <a:xfrm>
            <a:off x="4892040" y="1673352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965192" y="1682496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24" name="Shape 21"/>
          <p:cNvSpPr/>
          <p:nvPr/>
        </p:nvSpPr>
        <p:spPr>
          <a:xfrm>
            <a:off x="502920" y="197510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76072" y="19842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Résidence secondaire / investissement immobilier</a:t>
            </a:r>
            <a:endParaRPr lang="en-US" sz="900" dirty="0"/>
          </a:p>
        </p:txBody>
      </p:sp>
      <p:sp>
        <p:nvSpPr>
          <p:cNvPr id="26" name="Shape 23"/>
          <p:cNvSpPr/>
          <p:nvPr/>
        </p:nvSpPr>
        <p:spPr>
          <a:xfrm>
            <a:off x="3429000" y="1975104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502152" y="1984248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8" name="Shape 25"/>
          <p:cNvSpPr/>
          <p:nvPr/>
        </p:nvSpPr>
        <p:spPr>
          <a:xfrm>
            <a:off x="4892040" y="1975104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965192" y="1984248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30" name="Shape 27"/>
          <p:cNvSpPr/>
          <p:nvPr/>
        </p:nvSpPr>
        <p:spPr>
          <a:xfrm>
            <a:off x="502920" y="22768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576072" y="22860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Assurance-vie</a:t>
            </a:r>
            <a:endParaRPr lang="en-US" sz="900" dirty="0"/>
          </a:p>
        </p:txBody>
      </p:sp>
      <p:sp>
        <p:nvSpPr>
          <p:cNvPr id="32" name="Shape 29"/>
          <p:cNvSpPr/>
          <p:nvPr/>
        </p:nvSpPr>
        <p:spPr>
          <a:xfrm>
            <a:off x="3429000" y="2276856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3502152" y="228600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892040" y="2276856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4965192" y="2286000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36" name="Shape 33"/>
          <p:cNvSpPr/>
          <p:nvPr/>
        </p:nvSpPr>
        <p:spPr>
          <a:xfrm>
            <a:off x="502920" y="2578608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576072" y="258775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PEA</a:t>
            </a:r>
            <a:endParaRPr lang="en-US" sz="900" dirty="0"/>
          </a:p>
        </p:txBody>
      </p:sp>
      <p:sp>
        <p:nvSpPr>
          <p:cNvPr id="38" name="Shape 35"/>
          <p:cNvSpPr/>
          <p:nvPr/>
        </p:nvSpPr>
        <p:spPr>
          <a:xfrm>
            <a:off x="3429000" y="2578608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3502152" y="2587752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0" name="Shape 37"/>
          <p:cNvSpPr/>
          <p:nvPr/>
        </p:nvSpPr>
        <p:spPr>
          <a:xfrm>
            <a:off x="4892040" y="2578608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4965192" y="2587752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42" name="Shape 39"/>
          <p:cNvSpPr/>
          <p:nvPr/>
        </p:nvSpPr>
        <p:spPr>
          <a:xfrm>
            <a:off x="502920" y="2880360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3" name="Text 40"/>
          <p:cNvSpPr/>
          <p:nvPr/>
        </p:nvSpPr>
        <p:spPr>
          <a:xfrm>
            <a:off x="576072" y="288950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 (PEE / PERCO)</a:t>
            </a:r>
            <a:endParaRPr lang="en-US" sz="900" dirty="0"/>
          </a:p>
        </p:txBody>
      </p:sp>
      <p:sp>
        <p:nvSpPr>
          <p:cNvPr id="44" name="Shape 41"/>
          <p:cNvSpPr/>
          <p:nvPr/>
        </p:nvSpPr>
        <p:spPr>
          <a:xfrm>
            <a:off x="3429000" y="2880360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3502152" y="2889504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6" name="Shape 43"/>
          <p:cNvSpPr/>
          <p:nvPr/>
        </p:nvSpPr>
        <p:spPr>
          <a:xfrm>
            <a:off x="4892040" y="2880360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4965192" y="2889504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48" name="Shape 45"/>
          <p:cNvSpPr/>
          <p:nvPr/>
        </p:nvSpPr>
        <p:spPr>
          <a:xfrm>
            <a:off x="502920" y="3182112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76072" y="319125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3429000" y="3182112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3502152" y="3191256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2" name="Shape 49"/>
          <p:cNvSpPr/>
          <p:nvPr/>
        </p:nvSpPr>
        <p:spPr>
          <a:xfrm>
            <a:off x="4892040" y="3182112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3" name="Text 50"/>
          <p:cNvSpPr/>
          <p:nvPr/>
        </p:nvSpPr>
        <p:spPr>
          <a:xfrm>
            <a:off x="4965192" y="3191256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54" name="Shape 51"/>
          <p:cNvSpPr/>
          <p:nvPr/>
        </p:nvSpPr>
        <p:spPr>
          <a:xfrm>
            <a:off x="502920" y="348386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576072" y="34930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Compte-titres / autres placements</a:t>
            </a:r>
            <a:endParaRPr lang="en-US" sz="900" dirty="0"/>
          </a:p>
        </p:txBody>
      </p:sp>
      <p:sp>
        <p:nvSpPr>
          <p:cNvPr id="56" name="Shape 53"/>
          <p:cNvSpPr/>
          <p:nvPr/>
        </p:nvSpPr>
        <p:spPr>
          <a:xfrm>
            <a:off x="3429000" y="3483864"/>
            <a:ext cx="14630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7" name="Text 54"/>
          <p:cNvSpPr/>
          <p:nvPr/>
        </p:nvSpPr>
        <p:spPr>
          <a:xfrm>
            <a:off x="3502152" y="3493008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8" name="Shape 55"/>
          <p:cNvSpPr/>
          <p:nvPr/>
        </p:nvSpPr>
        <p:spPr>
          <a:xfrm>
            <a:off x="4892040" y="3483864"/>
            <a:ext cx="822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4965192" y="3493008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60" name="Shape 57"/>
          <p:cNvSpPr/>
          <p:nvPr/>
        </p:nvSpPr>
        <p:spPr>
          <a:xfrm>
            <a:off x="502920" y="378561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1" name="Text 58"/>
          <p:cNvSpPr/>
          <p:nvPr/>
        </p:nvSpPr>
        <p:spPr>
          <a:xfrm>
            <a:off x="576072" y="379476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 actifs</a:t>
            </a:r>
            <a:endParaRPr lang="en-US" sz="900" dirty="0"/>
          </a:p>
        </p:txBody>
      </p:sp>
      <p:sp>
        <p:nvSpPr>
          <p:cNvPr id="62" name="Shape 59"/>
          <p:cNvSpPr/>
          <p:nvPr/>
        </p:nvSpPr>
        <p:spPr>
          <a:xfrm>
            <a:off x="3429000" y="3785616"/>
            <a:ext cx="14630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3502152" y="3794760"/>
            <a:ext cx="13533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64" name="Shape 61"/>
          <p:cNvSpPr/>
          <p:nvPr/>
        </p:nvSpPr>
        <p:spPr>
          <a:xfrm>
            <a:off x="4892040" y="3785616"/>
            <a:ext cx="822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4965192" y="3794760"/>
            <a:ext cx="713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900" dirty="0"/>
          </a:p>
        </p:txBody>
      </p:sp>
      <p:sp>
        <p:nvSpPr>
          <p:cNvPr id="66" name="Shape 63"/>
          <p:cNvSpPr/>
          <p:nvPr/>
        </p:nvSpPr>
        <p:spPr>
          <a:xfrm>
            <a:off x="502920" y="4087368"/>
            <a:ext cx="5212080" cy="31089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576072" y="409651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</a:t>
            </a:r>
            <a:endParaRPr lang="en-US" sz="900" dirty="0"/>
          </a:p>
        </p:txBody>
      </p:sp>
      <p:sp>
        <p:nvSpPr>
          <p:cNvPr id="68" name="Text 65"/>
          <p:cNvSpPr/>
          <p:nvPr/>
        </p:nvSpPr>
        <p:spPr>
          <a:xfrm>
            <a:off x="3493008" y="4096512"/>
            <a:ext cx="1371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69" name="Text 66"/>
          <p:cNvSpPr/>
          <p:nvPr/>
        </p:nvSpPr>
        <p:spPr>
          <a:xfrm>
            <a:off x="4974336" y="4096512"/>
            <a:ext cx="758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100 %</a:t>
            </a:r>
            <a:endParaRPr lang="en-US" sz="900" dirty="0"/>
          </a:p>
        </p:txBody>
      </p:sp>
      <p:sp>
        <p:nvSpPr>
          <p:cNvPr id="70" name="Shape 67"/>
          <p:cNvSpPr/>
          <p:nvPr/>
        </p:nvSpPr>
        <p:spPr>
          <a:xfrm>
            <a:off x="5989320" y="1371600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6144768" y="137160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VISUELLE</a:t>
            </a:r>
            <a:endParaRPr lang="en-US" sz="750" dirty="0"/>
          </a:p>
        </p:txBody>
      </p:sp>
      <p:sp>
        <p:nvSpPr>
          <p:cNvPr id="72" name="Text 69"/>
          <p:cNvSpPr/>
          <p:nvPr/>
        </p:nvSpPr>
        <p:spPr>
          <a:xfrm>
            <a:off x="6144768" y="1609344"/>
            <a:ext cx="2468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mettre à jour selon les montants — adapter les largeurs proportionnellement.</a:t>
            </a:r>
            <a:endParaRPr lang="en-US" sz="900" dirty="0"/>
          </a:p>
        </p:txBody>
      </p:sp>
      <p:sp>
        <p:nvSpPr>
          <p:cNvPr id="73" name="Text 70"/>
          <p:cNvSpPr/>
          <p:nvPr/>
        </p:nvSpPr>
        <p:spPr>
          <a:xfrm>
            <a:off x="6144768" y="20848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74" name="Shape 71"/>
          <p:cNvSpPr/>
          <p:nvPr/>
        </p:nvSpPr>
        <p:spPr>
          <a:xfrm>
            <a:off x="6144768" y="2286000"/>
            <a:ext cx="1028700" cy="2560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7246620" y="22860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76" name="Text 73"/>
          <p:cNvSpPr/>
          <p:nvPr/>
        </p:nvSpPr>
        <p:spPr>
          <a:xfrm>
            <a:off x="6144768" y="27706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Placements financiers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6144768" y="2971800"/>
            <a:ext cx="800100" cy="2560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7018020" y="29718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35 %</a:t>
            </a:r>
            <a:endParaRPr lang="en-US" sz="900" dirty="0"/>
          </a:p>
        </p:txBody>
      </p:sp>
      <p:sp>
        <p:nvSpPr>
          <p:cNvPr id="79" name="Text 76"/>
          <p:cNvSpPr/>
          <p:nvPr/>
        </p:nvSpPr>
        <p:spPr>
          <a:xfrm>
            <a:off x="6144768" y="34564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Épargne entreprise</a:t>
            </a:r>
            <a:endParaRPr lang="en-US" sz="850" dirty="0"/>
          </a:p>
        </p:txBody>
      </p:sp>
      <p:sp>
        <p:nvSpPr>
          <p:cNvPr id="80" name="Shape 77"/>
          <p:cNvSpPr/>
          <p:nvPr/>
        </p:nvSpPr>
        <p:spPr>
          <a:xfrm>
            <a:off x="6144768" y="3657600"/>
            <a:ext cx="274320" cy="256032"/>
          </a:xfrm>
          <a:prstGeom prst="rect">
            <a:avLst/>
          </a:prstGeom>
          <a:solidFill>
            <a:srgbClr val="6B8CAE"/>
          </a:solidFill>
          <a:ln w="12700">
            <a:solidFill>
              <a:srgbClr val="6B8CAE"/>
            </a:solidFill>
            <a:prstDash val="solid"/>
          </a:ln>
        </p:spPr>
      </p:sp>
      <p:sp>
        <p:nvSpPr>
          <p:cNvPr id="81" name="Text 78"/>
          <p:cNvSpPr/>
          <p:nvPr/>
        </p:nvSpPr>
        <p:spPr>
          <a:xfrm>
            <a:off x="6492240" y="36576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12 %</a:t>
            </a:r>
            <a:endParaRPr lang="en-US" sz="900" dirty="0"/>
          </a:p>
        </p:txBody>
      </p:sp>
      <p:sp>
        <p:nvSpPr>
          <p:cNvPr id="82" name="Text 79"/>
          <p:cNvSpPr/>
          <p:nvPr/>
        </p:nvSpPr>
        <p:spPr>
          <a:xfrm>
            <a:off x="6144768" y="4142232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Autres</a:t>
            </a:r>
            <a:endParaRPr lang="en-US" sz="850" dirty="0"/>
          </a:p>
        </p:txBody>
      </p:sp>
      <p:sp>
        <p:nvSpPr>
          <p:cNvPr id="83" name="Shape 80"/>
          <p:cNvSpPr/>
          <p:nvPr/>
        </p:nvSpPr>
        <p:spPr>
          <a:xfrm>
            <a:off x="6144768" y="4343400"/>
            <a:ext cx="182880" cy="25603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84" name="Text 81"/>
          <p:cNvSpPr/>
          <p:nvPr/>
        </p:nvSpPr>
        <p:spPr>
          <a:xfrm>
            <a:off x="6400800" y="4343400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8 %</a:t>
            </a:r>
            <a:endParaRPr lang="en-US" sz="900" dirty="0"/>
          </a:p>
        </p:txBody>
      </p:sp>
      <p:sp>
        <p:nvSpPr>
          <p:cNvPr id="85" name="Text 82"/>
          <p:cNvSpPr/>
          <p:nvPr/>
        </p:nvSpPr>
        <p:spPr>
          <a:xfrm>
            <a:off x="6144768" y="4754880"/>
            <a:ext cx="24688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Illustration — valeurs à personnaliser</a:t>
            </a:r>
            <a:endParaRPr lang="en-US" sz="750" dirty="0"/>
          </a:p>
        </p:txBody>
      </p:sp>
      <p:sp>
        <p:nvSpPr>
          <p:cNvPr id="86" name="Text 8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PATRIMOINE · ALLOCATION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Répartition du patrimoine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617720" y="1188720"/>
            <a:ext cx="10973" cy="347472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261872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CLASSE D'ACTIFS</a:t>
            </a:r>
            <a:endParaRPr lang="en-US" sz="750" dirty="0"/>
          </a:p>
        </p:txBody>
      </p:sp>
      <p:graphicFrame>
        <p:nvGraphicFramePr>
          <p:cNvPr id="13" name="Chart 0" descr=""/>
          <p:cNvGraphicFramePr/>
          <p:nvPr/>
        </p:nvGraphicFramePr>
        <p:xfrm>
          <a:off x="274320" y="1389888"/>
          <a:ext cx="420624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4" name="Shape 10"/>
          <p:cNvSpPr/>
          <p:nvPr/>
        </p:nvSpPr>
        <p:spPr>
          <a:xfrm>
            <a:off x="5029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6858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Immobilier</a:t>
            </a:r>
            <a:endParaRPr lang="en-US" sz="850" dirty="0"/>
          </a:p>
        </p:txBody>
      </p:sp>
      <p:sp>
        <p:nvSpPr>
          <p:cNvPr id="16" name="Text 12"/>
          <p:cNvSpPr/>
          <p:nvPr/>
        </p:nvSpPr>
        <p:spPr>
          <a:xfrm>
            <a:off x="18288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2423160" y="3941064"/>
            <a:ext cx="118872" cy="118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260604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Financier</a:t>
            </a:r>
            <a:endParaRPr lang="en-US" sz="850" dirty="0"/>
          </a:p>
        </p:txBody>
      </p:sp>
      <p:sp>
        <p:nvSpPr>
          <p:cNvPr id="19" name="Text 15"/>
          <p:cNvSpPr/>
          <p:nvPr/>
        </p:nvSpPr>
        <p:spPr>
          <a:xfrm>
            <a:off x="374904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02920" y="4178808"/>
            <a:ext cx="118872" cy="118872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8580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Retraite</a:t>
            </a:r>
            <a:endParaRPr lang="en-US" sz="850" dirty="0"/>
          </a:p>
        </p:txBody>
      </p:sp>
      <p:sp>
        <p:nvSpPr>
          <p:cNvPr id="22" name="Text 18"/>
          <p:cNvSpPr/>
          <p:nvPr/>
        </p:nvSpPr>
        <p:spPr>
          <a:xfrm>
            <a:off x="182880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3" name="Shape 19"/>
          <p:cNvSpPr/>
          <p:nvPr/>
        </p:nvSpPr>
        <p:spPr>
          <a:xfrm>
            <a:off x="2423160" y="4178808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2606040" y="4151376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Liquidités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3749040" y="4151376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26" name="Text 22"/>
          <p:cNvSpPr/>
          <p:nvPr/>
        </p:nvSpPr>
        <p:spPr>
          <a:xfrm>
            <a:off x="4754880" y="126187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PAR LIQUIDITÉ</a:t>
            </a:r>
            <a:endParaRPr lang="en-US" sz="750" dirty="0"/>
          </a:p>
        </p:txBody>
      </p:sp>
      <p:graphicFrame>
        <p:nvGraphicFramePr>
          <p:cNvPr id="27" name="Chart 1" descr=""/>
          <p:cNvGraphicFramePr/>
          <p:nvPr/>
        </p:nvGraphicFramePr>
        <p:xfrm>
          <a:off x="4617720" y="1389888"/>
          <a:ext cx="3931920" cy="2423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8" name="Shape 23"/>
          <p:cNvSpPr/>
          <p:nvPr/>
        </p:nvSpPr>
        <p:spPr>
          <a:xfrm>
            <a:off x="4754880" y="3941064"/>
            <a:ext cx="118872" cy="118872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9" name="Text 24"/>
          <p:cNvSpPr/>
          <p:nvPr/>
        </p:nvSpPr>
        <p:spPr>
          <a:xfrm>
            <a:off x="493776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</a:t>
            </a:r>
            <a:endParaRPr lang="en-US" sz="850" dirty="0"/>
          </a:p>
        </p:txBody>
      </p:sp>
      <p:sp>
        <p:nvSpPr>
          <p:cNvPr id="30" name="Text 25"/>
          <p:cNvSpPr/>
          <p:nvPr/>
        </p:nvSpPr>
        <p:spPr>
          <a:xfrm>
            <a:off x="608076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6675120" y="3941064"/>
            <a:ext cx="118872" cy="118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6858000" y="3913632"/>
            <a:ext cx="1143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Illiquide</a:t>
            </a:r>
            <a:endParaRPr lang="en-US" sz="850" dirty="0"/>
          </a:p>
        </p:txBody>
      </p:sp>
      <p:sp>
        <p:nvSpPr>
          <p:cNvPr id="33" name="Text 28"/>
          <p:cNvSpPr/>
          <p:nvPr/>
        </p:nvSpPr>
        <p:spPr>
          <a:xfrm>
            <a:off x="8001000" y="3913632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%]</a:t>
            </a:r>
            <a:endParaRPr lang="en-US" sz="850" dirty="0"/>
          </a:p>
        </p:txBody>
      </p:sp>
      <p:sp>
        <p:nvSpPr>
          <p:cNvPr id="34" name="Shape 29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5" name="Text 30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Valeurs estimées sur la base des éléments communiqués. À mettre à jour lors de chaque revue patrimoniale.</a:t>
            </a:r>
            <a:endParaRPr lang="en-US" sz="700" dirty="0"/>
          </a:p>
        </p:txBody>
      </p:sp>
      <p:sp>
        <p:nvSpPr>
          <p:cNvPr id="36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Fiscalité et budget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716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TMI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502920" y="1627632"/>
            <a:ext cx="3200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14" name="Shape 11"/>
          <p:cNvSpPr/>
          <p:nvPr/>
        </p:nvSpPr>
        <p:spPr>
          <a:xfrm>
            <a:off x="502920" y="2606040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724912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[Tranche marginale applicable — noter CEHR si applicable]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3931920" y="1371600"/>
            <a:ext cx="10973" cy="33375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1480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D'IMPÔTS [ANNÉE]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411480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411480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217920" y="137160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% DES REVENUS EN IMPÔTS</a:t>
            </a:r>
            <a:endParaRPr lang="en-US" sz="700" dirty="0"/>
          </a:p>
        </p:txBody>
      </p:sp>
      <p:sp>
        <p:nvSpPr>
          <p:cNvPr id="21" name="Text 18"/>
          <p:cNvSpPr/>
          <p:nvPr/>
        </p:nvSpPr>
        <p:spPr>
          <a:xfrm>
            <a:off x="6217920" y="159105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6217920" y="219456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11480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 D'ENDETTEMENT</a:t>
            </a:r>
            <a:endParaRPr lang="en-US" sz="700" dirty="0"/>
          </a:p>
        </p:txBody>
      </p:sp>
      <p:sp>
        <p:nvSpPr>
          <p:cNvPr id="24" name="Text 21"/>
          <p:cNvSpPr/>
          <p:nvPr/>
        </p:nvSpPr>
        <p:spPr>
          <a:xfrm>
            <a:off x="411480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[X,XX %]</a:t>
            </a:r>
            <a:endParaRPr lang="en-US" sz="1800" dirty="0"/>
          </a:p>
        </p:txBody>
      </p:sp>
      <p:sp>
        <p:nvSpPr>
          <p:cNvPr id="25" name="Shape 22"/>
          <p:cNvSpPr/>
          <p:nvPr/>
        </p:nvSpPr>
        <p:spPr>
          <a:xfrm>
            <a:off x="411480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217920" y="256032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 AVANT TRANCHE SUP.</a:t>
            </a:r>
            <a:endParaRPr lang="en-US" sz="700" dirty="0"/>
          </a:p>
        </p:txBody>
      </p:sp>
      <p:sp>
        <p:nvSpPr>
          <p:cNvPr id="27" name="Text 24"/>
          <p:cNvSpPr/>
          <p:nvPr/>
        </p:nvSpPr>
        <p:spPr>
          <a:xfrm>
            <a:off x="6217920" y="277977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Shape 25"/>
          <p:cNvSpPr/>
          <p:nvPr/>
        </p:nvSpPr>
        <p:spPr>
          <a:xfrm>
            <a:off x="6217920" y="3383280"/>
            <a:ext cx="196596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411480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DISPONIBLE FISCAL PER</a:t>
            </a:r>
            <a:endParaRPr lang="en-US" sz="700" dirty="0"/>
          </a:p>
        </p:txBody>
      </p:sp>
      <p:sp>
        <p:nvSpPr>
          <p:cNvPr id="30" name="Text 27"/>
          <p:cNvSpPr/>
          <p:nvPr/>
        </p:nvSpPr>
        <p:spPr>
          <a:xfrm>
            <a:off x="411480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1" name="Text 28"/>
          <p:cNvSpPr/>
          <p:nvPr/>
        </p:nvSpPr>
        <p:spPr>
          <a:xfrm>
            <a:off x="6217920" y="3749040"/>
            <a:ext cx="1965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NETS MENSUELS</a:t>
            </a:r>
            <a:endParaRPr lang="en-US" sz="700" dirty="0"/>
          </a:p>
        </p:txBody>
      </p:sp>
      <p:sp>
        <p:nvSpPr>
          <p:cNvPr id="32" name="Text 29"/>
          <p:cNvSpPr/>
          <p:nvPr/>
        </p:nvSpPr>
        <p:spPr>
          <a:xfrm>
            <a:off x="6217920" y="3968496"/>
            <a:ext cx="1965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€]/mois</a:t>
            </a:r>
            <a:endParaRPr lang="en-US" sz="1800" dirty="0"/>
          </a:p>
        </p:txBody>
      </p:sp>
      <p:sp>
        <p:nvSpPr>
          <p:cNvPr id="33" name="Text 30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SUCCESSION · DROITS ESTIMÉS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07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estimés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1188720"/>
            <a:ext cx="2450592" cy="354787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E5E0D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1ER DÉCÈS</a:t>
            </a:r>
            <a:endParaRPr lang="en-US" sz="750" dirty="0"/>
          </a:p>
        </p:txBody>
      </p:sp>
      <p:sp>
        <p:nvSpPr>
          <p:cNvPr id="13" name="Text 10"/>
          <p:cNvSpPr/>
          <p:nvPr/>
        </p:nvSpPr>
        <p:spPr>
          <a:xfrm>
            <a:off x="65836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M. [NOM]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658368" y="2103120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5836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16" name="Text 13"/>
          <p:cNvSpPr/>
          <p:nvPr/>
        </p:nvSpPr>
        <p:spPr>
          <a:xfrm>
            <a:off x="65836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17" name="Text 14"/>
          <p:cNvSpPr/>
          <p:nvPr/>
        </p:nvSpPr>
        <p:spPr>
          <a:xfrm>
            <a:off x="65836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1</a:t>
            </a:r>
            <a:endParaRPr lang="en-US" sz="850" dirty="0"/>
          </a:p>
        </p:txBody>
      </p:sp>
      <p:sp>
        <p:nvSpPr>
          <p:cNvPr id="18" name="Text 15"/>
          <p:cNvSpPr/>
          <p:nvPr/>
        </p:nvSpPr>
        <p:spPr>
          <a:xfrm>
            <a:off x="182880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65836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2</a:t>
            </a:r>
            <a:endParaRPr lang="en-US" sz="850" dirty="0"/>
          </a:p>
        </p:txBody>
      </p:sp>
      <p:sp>
        <p:nvSpPr>
          <p:cNvPr id="20" name="Text 17"/>
          <p:cNvSpPr/>
          <p:nvPr/>
        </p:nvSpPr>
        <p:spPr>
          <a:xfrm>
            <a:off x="182880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46" name="Text 16"/>
          <p:cNvSpPr/>
          <p:nvPr/>
        </p:nvSpPr>
        <p:spPr>
          <a:xfrm>
            <a:off x="65836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3</a:t>
            </a:r>
            <a:endParaRPr lang="en-US" sz="850" dirty="0"/>
          </a:p>
        </p:txBody>
      </p:sp>
      <p:sp>
        <p:nvSpPr>
          <p:cNvPr id="47" name="Text 17"/>
          <p:cNvSpPr/>
          <p:nvPr/>
        </p:nvSpPr>
        <p:spPr>
          <a:xfrm>
            <a:off x="182880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58368" y="426110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22" name="Text 19"/>
          <p:cNvSpPr/>
          <p:nvPr/>
        </p:nvSpPr>
        <p:spPr>
          <a:xfrm>
            <a:off x="1828800" y="42611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3163824" y="1188720"/>
            <a:ext cx="2450592" cy="354787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310128" y="1353312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2ÈME DÉCÈS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310128" y="1609344"/>
            <a:ext cx="213969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PRÉDÉCÈS</a:t>
            </a:r>
            <a:endParaRPr lang="en-US" sz="950" dirty="0"/>
          </a:p>
          <a:p>
            <a:pPr indent="0" marL="0">
              <a:buNone/>
            </a:pPr>
            <a:r>
              <a:rPr lang="en-US" sz="95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MME [NOM]</a:t>
            </a:r>
            <a:endParaRPr lang="en-US" sz="950" dirty="0"/>
          </a:p>
        </p:txBody>
      </p:sp>
      <p:sp>
        <p:nvSpPr>
          <p:cNvPr id="26" name="Shape 23"/>
          <p:cNvSpPr/>
          <p:nvPr/>
        </p:nvSpPr>
        <p:spPr>
          <a:xfrm>
            <a:off x="3310128" y="2103120"/>
            <a:ext cx="16459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3310128" y="2212848"/>
            <a:ext cx="21396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28" name="Text 25"/>
          <p:cNvSpPr/>
          <p:nvPr/>
        </p:nvSpPr>
        <p:spPr>
          <a:xfrm>
            <a:off x="3310128" y="3246120"/>
            <a:ext cx="213969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droits exigibles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3310128" y="3493008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1</a:t>
            </a:r>
            <a:endParaRPr lang="en-US" sz="850" dirty="0"/>
          </a:p>
        </p:txBody>
      </p:sp>
      <p:sp>
        <p:nvSpPr>
          <p:cNvPr id="30" name="Text 27"/>
          <p:cNvSpPr/>
          <p:nvPr/>
        </p:nvSpPr>
        <p:spPr>
          <a:xfrm>
            <a:off x="4480560" y="3493008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31" name="Text 28"/>
          <p:cNvSpPr/>
          <p:nvPr/>
        </p:nvSpPr>
        <p:spPr>
          <a:xfrm>
            <a:off x="3310128" y="3749040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2</a:t>
            </a:r>
            <a:endParaRPr lang="en-US" sz="850" dirty="0"/>
          </a:p>
        </p:txBody>
      </p:sp>
      <p:sp>
        <p:nvSpPr>
          <p:cNvPr id="32" name="Text 29"/>
          <p:cNvSpPr/>
          <p:nvPr/>
        </p:nvSpPr>
        <p:spPr>
          <a:xfrm>
            <a:off x="4480560" y="3749040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48" name="Text 28"/>
          <p:cNvSpPr/>
          <p:nvPr/>
        </p:nvSpPr>
        <p:spPr>
          <a:xfrm>
            <a:off x="3310128" y="4005072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3</a:t>
            </a:r>
            <a:endParaRPr lang="en-US" sz="850" dirty="0"/>
          </a:p>
        </p:txBody>
      </p:sp>
      <p:sp>
        <p:nvSpPr>
          <p:cNvPr id="49" name="Text 29"/>
          <p:cNvSpPr/>
          <p:nvPr/>
        </p:nvSpPr>
        <p:spPr>
          <a:xfrm>
            <a:off x="4480560" y="4005072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33" name="Text 30"/>
          <p:cNvSpPr/>
          <p:nvPr/>
        </p:nvSpPr>
        <p:spPr>
          <a:xfrm>
            <a:off x="3310128" y="4261104"/>
            <a:ext cx="12801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F3F0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</a:t>
            </a:r>
            <a:endParaRPr lang="en-US" sz="850" dirty="0"/>
          </a:p>
        </p:txBody>
      </p:sp>
      <p:sp>
        <p:nvSpPr>
          <p:cNvPr id="34" name="Text 31"/>
          <p:cNvSpPr/>
          <p:nvPr/>
        </p:nvSpPr>
        <p:spPr>
          <a:xfrm>
            <a:off x="4480560" y="4261104"/>
            <a:ext cx="96926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E5E0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35" name="Shape 32"/>
          <p:cNvSpPr/>
          <p:nvPr/>
        </p:nvSpPr>
        <p:spPr>
          <a:xfrm>
            <a:off x="5824728" y="1188720"/>
            <a:ext cx="2679192" cy="3547872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5961888" y="1353312"/>
            <a:ext cx="2395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TOTAL CUMULÉ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5961888" y="1609344"/>
            <a:ext cx="2395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les deux décès</a:t>
            </a:r>
            <a:endParaRPr lang="en-US" sz="950" dirty="0"/>
          </a:p>
        </p:txBody>
      </p:sp>
      <p:sp>
        <p:nvSpPr>
          <p:cNvPr id="38" name="Shape 35"/>
          <p:cNvSpPr/>
          <p:nvPr/>
        </p:nvSpPr>
        <p:spPr>
          <a:xfrm>
            <a:off x="5961888" y="1938528"/>
            <a:ext cx="16459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5961888" y="2048256"/>
            <a:ext cx="23957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4400" dirty="0"/>
          </a:p>
        </p:txBody>
      </p:sp>
      <p:sp>
        <p:nvSpPr>
          <p:cNvPr id="40" name="Shape 37"/>
          <p:cNvSpPr/>
          <p:nvPr/>
        </p:nvSpPr>
        <p:spPr>
          <a:xfrm>
            <a:off x="5961888" y="3090672"/>
            <a:ext cx="2395728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5961888" y="3218688"/>
            <a:ext cx="239572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%]</a:t>
            </a:r>
            <a:endParaRPr lang="en-US" sz="6000" dirty="0"/>
          </a:p>
        </p:txBody>
      </p:sp>
      <p:sp>
        <p:nvSpPr>
          <p:cNvPr id="42" name="Text 39"/>
          <p:cNvSpPr/>
          <p:nvPr/>
        </p:nvSpPr>
        <p:spPr>
          <a:xfrm>
            <a:off x="5961888" y="3895344"/>
            <a:ext cx="239572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Taux marginal max</a:t>
            </a:r>
            <a:endParaRPr lang="en-US" sz="800" dirty="0"/>
          </a:p>
          <a:p>
            <a:pPr indent="0" marL="0">
              <a:buNone/>
            </a:pPr>
            <a:r>
              <a:rPr lang="en-US" sz="8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ligne directe</a:t>
            </a:r>
            <a:endParaRPr lang="en-US" sz="8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 : BOFIP. Barème et abattements détaillés en Annexe. Droits calculés sur la base des éléments communiqués.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09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Nos remarques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[Accroche synthétique — 1 phrase résumant le diagnostic]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67512" y="1783080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1 — observation patrimoniale, fiscale ou successorale spécifique à ce client]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234086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502920" y="2395728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67512" y="2395728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2 — observation patrimoniale, fiscale ou successorale spécifique à ce client]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02920" y="295351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502920" y="3008376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7512" y="3008376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3 — observation patrimoniale, fiscale ou successorale spécifique à ce client]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502920" y="3566160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2" name="Shape 19"/>
          <p:cNvSpPr/>
          <p:nvPr/>
        </p:nvSpPr>
        <p:spPr>
          <a:xfrm>
            <a:off x="502920" y="3621024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667512" y="3621024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4 — observation patrimoniale, fiscale ou successorale spécifique à ce client]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502920" y="4178808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502920" y="4233672"/>
            <a:ext cx="22860" cy="47548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67512" y="4233672"/>
            <a:ext cx="786384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[Remarque 5 — observation patrimoniale, fiscale ou successorale spécifique à ce client]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remarques maximum recommandées — supprimer les lignes non utilisées</a:t>
            </a:r>
            <a:endParaRPr lang="en-US" sz="750" dirty="0"/>
          </a:p>
        </p:txBody>
      </p:sp>
      <p:sp>
        <p:nvSpPr>
          <p:cNvPr id="28" name="Text 25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DIAGNOSTIC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10</a:t>
            </a:r>
            <a:endParaRPr lang="en-US" sz="700" dirty="0"/>
          </a:p>
        </p:txBody>
      </p:sp>
      <p:sp>
        <p:nvSpPr>
          <p:cNvPr id="8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475488"/>
            <a:ext cx="4251960" cy="44988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65760" y="71323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5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AUJOURD'HUI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36576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30352" y="1143000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— TMI, charges, pression IR/PS]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36576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2167128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estimés au premier décès]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36576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0352" y="3191256"/>
            <a:ext cx="3520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futurs — lacune ou manque identifié]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526280" y="713232"/>
            <a:ext cx="3840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3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AFFILIOR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526280" y="1143000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681728" y="1143000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[Optimisation IR/PS — dispositifs et enveloppes recommandés]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4526280" y="2167128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81728" y="2167128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anticipée — droits réduits de X €]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4526280" y="3191256"/>
            <a:ext cx="20117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681728" y="3191256"/>
            <a:ext cx="3703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dès [ANNÉE] — X €/an]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C2B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8B1A1A">
              <a:alpha val="60000"/>
            </a:srgbClr>
          </a:solidFill>
          <a:ln w="12700">
            <a:solidFill>
              <a:srgbClr val="8B1A1A">
                <a:alpha val="6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777240"/>
            <a:ext cx="274320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0" dirty="0">
                <a:solidFill>
                  <a:srgbClr val="24304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16000" dirty="0"/>
          </a:p>
        </p:txBody>
      </p:sp>
      <p:sp>
        <p:nvSpPr>
          <p:cNvPr id="4" name="Shape 2"/>
          <p:cNvSpPr/>
          <p:nvPr/>
        </p:nvSpPr>
        <p:spPr>
          <a:xfrm>
            <a:off x="548640" y="2487168"/>
            <a:ext cx="1097280" cy="22860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2633472"/>
            <a:ext cx="7772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dirty="0">
                <a:solidFill>
                  <a:srgbClr val="F3F0EB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VOTRE STRATÉGIE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548640" y="333756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 · Moyens · Impact · Synthèse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PROJETS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12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45720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Vos projets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0292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1 — intitulé]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50292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1 — contexte, montant envisagé, horizon, implications patrimoniales]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50292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0292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17" name="Text 14"/>
          <p:cNvSpPr/>
          <p:nvPr/>
        </p:nvSpPr>
        <p:spPr>
          <a:xfrm>
            <a:off x="50292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0292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0" name="Shape 17"/>
          <p:cNvSpPr/>
          <p:nvPr/>
        </p:nvSpPr>
        <p:spPr>
          <a:xfrm>
            <a:off x="320040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320040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2 — intitulé]</a:t>
            </a:r>
            <a:endParaRPr lang="en-US" sz="800" dirty="0"/>
          </a:p>
        </p:txBody>
      </p:sp>
      <p:sp>
        <p:nvSpPr>
          <p:cNvPr id="22" name="Text 19"/>
          <p:cNvSpPr/>
          <p:nvPr/>
        </p:nvSpPr>
        <p:spPr>
          <a:xfrm>
            <a:off x="320040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2 — contexte, montant envisagé, horizon, implications patrimoniales]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320040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20040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25" name="Text 22"/>
          <p:cNvSpPr/>
          <p:nvPr/>
        </p:nvSpPr>
        <p:spPr>
          <a:xfrm>
            <a:off x="320040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26" name="Text 23"/>
          <p:cNvSpPr/>
          <p:nvPr/>
        </p:nvSpPr>
        <p:spPr>
          <a:xfrm>
            <a:off x="320040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320040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28" name="Shape 25"/>
          <p:cNvSpPr/>
          <p:nvPr/>
        </p:nvSpPr>
        <p:spPr>
          <a:xfrm>
            <a:off x="5897880" y="1371600"/>
            <a:ext cx="2560320" cy="10973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97880" y="14630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[PROJET 3 — intitulé]</a:t>
            </a:r>
            <a:endParaRPr lang="en-US" sz="800" dirty="0"/>
          </a:p>
        </p:txBody>
      </p:sp>
      <p:sp>
        <p:nvSpPr>
          <p:cNvPr id="30" name="Text 27"/>
          <p:cNvSpPr/>
          <p:nvPr/>
        </p:nvSpPr>
        <p:spPr>
          <a:xfrm>
            <a:off x="5897880" y="1783080"/>
            <a:ext cx="25603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du projet 3 — contexte, montant envisagé, horizon, implications patrimoniales]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897880" y="3273552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97880" y="336499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HORIZON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356616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[Court / Moyen / Long terme]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5897880" y="391363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MONTANT ESTIMÉ</a:t>
            </a:r>
            <a:endParaRPr lang="en-US" sz="750" dirty="0"/>
          </a:p>
        </p:txBody>
      </p:sp>
      <p:sp>
        <p:nvSpPr>
          <p:cNvPr id="35" name="Text 32"/>
          <p:cNvSpPr/>
          <p:nvPr/>
        </p:nvSpPr>
        <p:spPr>
          <a:xfrm>
            <a:off x="5897880" y="411480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le nombre de colonnes au nombre de projets — supprimer les colonnes non utilisées</a:t>
            </a:r>
            <a:endParaRPr lang="en-US" sz="750" dirty="0"/>
          </a:p>
        </p:txBody>
      </p:sp>
      <p:sp>
        <p:nvSpPr>
          <p:cNvPr id="37" name="Text 34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MOYENS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13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Moyens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7772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introductive]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83080"/>
            <a:ext cx="274320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6072" y="1783080"/>
            <a:ext cx="26334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Enveloppe / Actif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24612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31927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Origine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4892040" y="1783080"/>
            <a:ext cx="164592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965192" y="1783080"/>
            <a:ext cx="15361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Montant mobilisé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6537960" y="1783080"/>
            <a:ext cx="196596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611112" y="1783080"/>
            <a:ext cx="1856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</a:t>
            </a:r>
            <a:endParaRPr lang="en-US" sz="850" dirty="0"/>
          </a:p>
        </p:txBody>
      </p:sp>
      <p:sp>
        <p:nvSpPr>
          <p:cNvPr id="21" name="Shape 18"/>
          <p:cNvSpPr/>
          <p:nvPr/>
        </p:nvSpPr>
        <p:spPr>
          <a:xfrm>
            <a:off x="502920" y="2084832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6072" y="2093976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1]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24612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31927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892040" y="2084832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965192" y="2093976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6537960" y="2084832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611112" y="2093976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395728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6072" y="2404872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2]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24612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31927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4892040" y="2395728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965192" y="2404872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6537960" y="2395728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6611112" y="2404872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2706624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6072" y="2715768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3]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24612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31927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4892040" y="2706624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965192" y="2715768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6537960" y="2706624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6611112" y="2715768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502920" y="3017520"/>
            <a:ext cx="274320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576072" y="3026664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 / actif 4]</a:t>
            </a:r>
            <a:endParaRPr lang="en-US" sz="900" dirty="0"/>
          </a:p>
        </p:txBody>
      </p:sp>
      <p:sp>
        <p:nvSpPr>
          <p:cNvPr id="47" name="Shape 44"/>
          <p:cNvSpPr/>
          <p:nvPr/>
        </p:nvSpPr>
        <p:spPr>
          <a:xfrm>
            <a:off x="324612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331927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[Existant / Nouveau]</a:t>
            </a:r>
            <a:endParaRPr lang="en-US" sz="900" dirty="0"/>
          </a:p>
        </p:txBody>
      </p:sp>
      <p:sp>
        <p:nvSpPr>
          <p:cNvPr id="49" name="Shape 46"/>
          <p:cNvSpPr/>
          <p:nvPr/>
        </p:nvSpPr>
        <p:spPr>
          <a:xfrm>
            <a:off x="4892040" y="3017520"/>
            <a:ext cx="164592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0" name="Text 47"/>
          <p:cNvSpPr/>
          <p:nvPr/>
        </p:nvSpPr>
        <p:spPr>
          <a:xfrm>
            <a:off x="4965192" y="3026664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900" dirty="0"/>
          </a:p>
        </p:txBody>
      </p:sp>
      <p:sp>
        <p:nvSpPr>
          <p:cNvPr id="51" name="Shape 48"/>
          <p:cNvSpPr/>
          <p:nvPr/>
        </p:nvSpPr>
        <p:spPr>
          <a:xfrm>
            <a:off x="6537960" y="3017520"/>
            <a:ext cx="19659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6611112" y="3026664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502920" y="3328416"/>
            <a:ext cx="274320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576072" y="3337560"/>
            <a:ext cx="263347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[Capacité d'épargne mensuelle]</a:t>
            </a:r>
            <a:endParaRPr lang="en-US" sz="900" dirty="0"/>
          </a:p>
        </p:txBody>
      </p:sp>
      <p:sp>
        <p:nvSpPr>
          <p:cNvPr id="55" name="Shape 52"/>
          <p:cNvSpPr/>
          <p:nvPr/>
        </p:nvSpPr>
        <p:spPr>
          <a:xfrm>
            <a:off x="324612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6" name="Text 53"/>
          <p:cNvSpPr/>
          <p:nvPr/>
        </p:nvSpPr>
        <p:spPr>
          <a:xfrm>
            <a:off x="331927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[Nouveau]</a:t>
            </a:r>
            <a:endParaRPr lang="en-US" sz="900" dirty="0"/>
          </a:p>
        </p:txBody>
      </p:sp>
      <p:sp>
        <p:nvSpPr>
          <p:cNvPr id="57" name="Shape 54"/>
          <p:cNvSpPr/>
          <p:nvPr/>
        </p:nvSpPr>
        <p:spPr>
          <a:xfrm>
            <a:off x="4892040" y="3328416"/>
            <a:ext cx="164592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8" name="Text 55"/>
          <p:cNvSpPr/>
          <p:nvPr/>
        </p:nvSpPr>
        <p:spPr>
          <a:xfrm>
            <a:off x="4965192" y="3337560"/>
            <a:ext cx="153619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€]/mois</a:t>
            </a:r>
            <a:endParaRPr lang="en-US" sz="900" dirty="0"/>
          </a:p>
        </p:txBody>
      </p:sp>
      <p:sp>
        <p:nvSpPr>
          <p:cNvPr id="59" name="Shape 56"/>
          <p:cNvSpPr/>
          <p:nvPr/>
        </p:nvSpPr>
        <p:spPr>
          <a:xfrm>
            <a:off x="6537960" y="3328416"/>
            <a:ext cx="19659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0" name="Text 57"/>
          <p:cNvSpPr/>
          <p:nvPr/>
        </p:nvSpPr>
        <p:spPr>
          <a:xfrm>
            <a:off x="6611112" y="3337560"/>
            <a:ext cx="185623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[Commentaire]</a:t>
            </a:r>
            <a:endParaRPr lang="en-US" sz="900" dirty="0"/>
          </a:p>
        </p:txBody>
      </p:sp>
      <p:sp>
        <p:nvSpPr>
          <p:cNvPr id="61" name="Shape 58"/>
          <p:cNvSpPr/>
          <p:nvPr/>
        </p:nvSpPr>
        <p:spPr>
          <a:xfrm>
            <a:off x="502920" y="3639312"/>
            <a:ext cx="8001000" cy="29260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62" name="Text 59"/>
          <p:cNvSpPr/>
          <p:nvPr/>
        </p:nvSpPr>
        <p:spPr>
          <a:xfrm>
            <a:off x="576072" y="3648456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DES MOYENS MOBILISÉS</a:t>
            </a:r>
            <a:endParaRPr lang="en-US" sz="850" dirty="0"/>
          </a:p>
        </p:txBody>
      </p:sp>
      <p:sp>
        <p:nvSpPr>
          <p:cNvPr id="63" name="Text 60"/>
          <p:cNvSpPr/>
          <p:nvPr/>
        </p:nvSpPr>
        <p:spPr>
          <a:xfrm>
            <a:off x="5303520" y="3648456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[X €]</a:t>
            </a:r>
            <a:endParaRPr lang="en-US" sz="850" dirty="0"/>
          </a:p>
        </p:txBody>
      </p:sp>
      <p:sp>
        <p:nvSpPr>
          <p:cNvPr id="64" name="Shape 61"/>
          <p:cNvSpPr/>
          <p:nvPr/>
        </p:nvSpPr>
        <p:spPr>
          <a:xfrm>
            <a:off x="502920" y="4078224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65" name="Text 62"/>
          <p:cNvSpPr/>
          <p:nvPr/>
        </p:nvSpPr>
        <p:spPr>
          <a:xfrm>
            <a:off x="502920" y="4169664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[Note complémentaire si besoin]</a:t>
            </a:r>
            <a:endParaRPr lang="en-US" sz="1000" dirty="0"/>
          </a:p>
        </p:txBody>
      </p:sp>
      <p:sp>
        <p:nvSpPr>
          <p:cNvPr id="66" name="Text 63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IMPACT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14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d'ancrage]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502920" y="171907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0292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DROITS DE SUCCESSION ÉVITÉS</a:t>
            </a:r>
            <a:endParaRPr lang="en-US" sz="750" dirty="0"/>
          </a:p>
        </p:txBody>
      </p:sp>
      <p:sp>
        <p:nvSpPr>
          <p:cNvPr id="15" name="Text 12"/>
          <p:cNvSpPr/>
          <p:nvPr/>
        </p:nvSpPr>
        <p:spPr>
          <a:xfrm>
            <a:off x="50292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16" name="Text 13"/>
          <p:cNvSpPr/>
          <p:nvPr/>
        </p:nvSpPr>
        <p:spPr>
          <a:xfrm>
            <a:off x="50292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vs. [X €] sans stratégie</a:t>
            </a:r>
            <a:endParaRPr lang="en-US" sz="900" dirty="0"/>
          </a:p>
        </p:txBody>
      </p:sp>
      <p:sp>
        <p:nvSpPr>
          <p:cNvPr id="17" name="Shape 14"/>
          <p:cNvSpPr/>
          <p:nvPr/>
        </p:nvSpPr>
        <p:spPr>
          <a:xfrm>
            <a:off x="310896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20040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REVENU COMPLÉMENTAIRE ANNUEL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320040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€/an]</a:t>
            </a:r>
            <a:endParaRPr lang="en-US" sz="3400" dirty="0"/>
          </a:p>
        </p:txBody>
      </p:sp>
      <p:sp>
        <p:nvSpPr>
          <p:cNvPr id="20" name="Text 17"/>
          <p:cNvSpPr/>
          <p:nvPr/>
        </p:nvSpPr>
        <p:spPr>
          <a:xfrm>
            <a:off x="320040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partir de [ANNÉE]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806440" y="1783080"/>
            <a:ext cx="10973" cy="1280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897880" y="178308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ÉCONOMIE FISCALE SUR [X] ANS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5897880" y="1993392"/>
            <a:ext cx="256032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3400" dirty="0"/>
          </a:p>
        </p:txBody>
      </p:sp>
      <p:sp>
        <p:nvSpPr>
          <p:cNvPr id="24" name="Text 21"/>
          <p:cNvSpPr/>
          <p:nvPr/>
        </p:nvSpPr>
        <p:spPr>
          <a:xfrm>
            <a:off x="5897880" y="2798064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 + PS + frais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312724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02920" y="3246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4A5568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SANS STRATÉGIE</a:t>
            </a:r>
            <a:endParaRPr lang="en-US" sz="750" dirty="0"/>
          </a:p>
        </p:txBody>
      </p:sp>
      <p:sp>
        <p:nvSpPr>
          <p:cNvPr id="27" name="Text 24"/>
          <p:cNvSpPr/>
          <p:nvPr/>
        </p:nvSpPr>
        <p:spPr>
          <a:xfrm>
            <a:off x="4343400" y="3246120"/>
            <a:ext cx="4069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AVEC LA STRATÉGIE AFFILIOR</a:t>
            </a:r>
            <a:endParaRPr lang="en-US" sz="750" dirty="0"/>
          </a:p>
        </p:txBody>
      </p:sp>
      <p:sp>
        <p:nvSpPr>
          <p:cNvPr id="28" name="Shape 25"/>
          <p:cNvSpPr/>
          <p:nvPr/>
        </p:nvSpPr>
        <p:spPr>
          <a:xfrm>
            <a:off x="4160520" y="3200400"/>
            <a:ext cx="10973" cy="157276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502920" y="347472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8368" y="347472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[Situation fiscale actuelle]</a:t>
            </a:r>
            <a:endParaRPr lang="en-US" sz="1050" dirty="0"/>
          </a:p>
        </p:txBody>
      </p:sp>
      <p:sp>
        <p:nvSpPr>
          <p:cNvPr id="31" name="Shape 28"/>
          <p:cNvSpPr/>
          <p:nvPr/>
        </p:nvSpPr>
        <p:spPr>
          <a:xfrm>
            <a:off x="502920" y="397764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58368" y="397764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[Transmission]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502920" y="4480560"/>
            <a:ext cx="20117" cy="384048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58368" y="4480560"/>
            <a:ext cx="3337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[Retraite]</a:t>
            </a:r>
            <a:endParaRPr lang="en-US" sz="1050" dirty="0"/>
          </a:p>
        </p:txBody>
      </p:sp>
      <p:sp>
        <p:nvSpPr>
          <p:cNvPr id="35" name="Shape 32"/>
          <p:cNvSpPr/>
          <p:nvPr/>
        </p:nvSpPr>
        <p:spPr>
          <a:xfrm>
            <a:off x="4343400" y="347472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498848" y="347472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[Fiscalité — économie de X €/an grâce à [dispositif retenu]]</a:t>
            </a:r>
            <a:endParaRPr lang="en-US" sz="1050" dirty="0"/>
          </a:p>
        </p:txBody>
      </p:sp>
      <p:sp>
        <p:nvSpPr>
          <p:cNvPr id="37" name="Shape 34"/>
          <p:cNvSpPr/>
          <p:nvPr/>
        </p:nvSpPr>
        <p:spPr>
          <a:xfrm>
            <a:off x="4343400" y="397764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498848" y="397764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[Transmission — droits réduits de X € grâce à l'anticipation]</a:t>
            </a:r>
            <a:endParaRPr lang="en-US" sz="1050" dirty="0"/>
          </a:p>
        </p:txBody>
      </p:sp>
      <p:sp>
        <p:nvSpPr>
          <p:cNvPr id="39" name="Shape 36"/>
          <p:cNvSpPr/>
          <p:nvPr/>
        </p:nvSpPr>
        <p:spPr>
          <a:xfrm>
            <a:off x="4343400" y="4480560"/>
            <a:ext cx="20117" cy="38404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4498848" y="4480560"/>
            <a:ext cx="391363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[Revenus complémentaires — X €/mois dès [ANNÉE]]</a:t>
            </a:r>
            <a:endParaRPr lang="en-US" sz="1050" dirty="0"/>
          </a:p>
        </p:txBody>
      </p:sp>
      <p:sp>
        <p:nvSpPr>
          <p:cNvPr id="41" name="Text 38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SYNTHÈSE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15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Synthèse de la stratégie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16736"/>
            <a:ext cx="7772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[Phrase de synthèse]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02920" y="17373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01</a:t>
            </a:r>
            <a:endParaRPr lang="en-US" sz="3200" dirty="0"/>
          </a:p>
        </p:txBody>
      </p:sp>
      <p:sp>
        <p:nvSpPr>
          <p:cNvPr id="14" name="Shape 11"/>
          <p:cNvSpPr/>
          <p:nvPr/>
        </p:nvSpPr>
        <p:spPr>
          <a:xfrm>
            <a:off x="50292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502920" y="2377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[AXE 1 — intitulé, REVENUS COMPLÉMENTAIRES]</a:t>
            </a:r>
            <a:endParaRPr lang="en-US" sz="750" dirty="0"/>
          </a:p>
        </p:txBody>
      </p:sp>
      <p:sp>
        <p:nvSpPr>
          <p:cNvPr id="16" name="Text 13"/>
          <p:cNvSpPr/>
          <p:nvPr/>
        </p:nvSpPr>
        <p:spPr>
          <a:xfrm>
            <a:off x="50292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de l'axe 1 — objectif, enveloppe(s) mobilisée(s), montant cible, horizon]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0292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ENVELOPPE(S)</a:t>
            </a:r>
            <a:endParaRPr lang="en-US" sz="750" dirty="0"/>
          </a:p>
        </p:txBody>
      </p:sp>
      <p:sp>
        <p:nvSpPr>
          <p:cNvPr id="19" name="Text 16"/>
          <p:cNvSpPr/>
          <p:nvPr/>
        </p:nvSpPr>
        <p:spPr>
          <a:xfrm>
            <a:off x="50292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[Enveloppe(s)]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3200400" y="17373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02</a:t>
            </a:r>
            <a:endParaRPr lang="en-US" sz="3200" dirty="0"/>
          </a:p>
        </p:txBody>
      </p:sp>
      <p:sp>
        <p:nvSpPr>
          <p:cNvPr id="21" name="Shape 18"/>
          <p:cNvSpPr/>
          <p:nvPr/>
        </p:nvSpPr>
        <p:spPr>
          <a:xfrm>
            <a:off x="320040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200400" y="2377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[AXE 2 — intitulé, REVENUS COMPLÉMENTAIRES]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0040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de l'axe 2 — objectif, enveloppe(s) mobilisée(s), montant cible, horizon]</a:t>
            </a:r>
            <a:endParaRPr lang="en-US" sz="1150" dirty="0"/>
          </a:p>
        </p:txBody>
      </p:sp>
      <p:sp>
        <p:nvSpPr>
          <p:cNvPr id="24" name="Shape 21"/>
          <p:cNvSpPr/>
          <p:nvPr/>
        </p:nvSpPr>
        <p:spPr>
          <a:xfrm>
            <a:off x="320040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320040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ENVELOPPE(S)</a:t>
            </a:r>
            <a:endParaRPr lang="en-US" sz="750" dirty="0"/>
          </a:p>
        </p:txBody>
      </p:sp>
      <p:sp>
        <p:nvSpPr>
          <p:cNvPr id="26" name="Text 23"/>
          <p:cNvSpPr/>
          <p:nvPr/>
        </p:nvSpPr>
        <p:spPr>
          <a:xfrm>
            <a:off x="320040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[Enveloppe(s)]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5897880" y="1737360"/>
            <a:ext cx="548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03</a:t>
            </a:r>
            <a:endParaRPr lang="en-US" sz="3200" dirty="0"/>
          </a:p>
        </p:txBody>
      </p:sp>
      <p:sp>
        <p:nvSpPr>
          <p:cNvPr id="28" name="Shape 25"/>
          <p:cNvSpPr/>
          <p:nvPr/>
        </p:nvSpPr>
        <p:spPr>
          <a:xfrm>
            <a:off x="5897880" y="2286000"/>
            <a:ext cx="256032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5897880" y="237744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[AXE 3 — intitulé, REVENUS COMPLÉMENTAIRES]</a:t>
            </a:r>
            <a:endParaRPr lang="en-US" sz="750" dirty="0"/>
          </a:p>
        </p:txBody>
      </p:sp>
      <p:sp>
        <p:nvSpPr>
          <p:cNvPr id="30" name="Text 27"/>
          <p:cNvSpPr/>
          <p:nvPr/>
        </p:nvSpPr>
        <p:spPr>
          <a:xfrm>
            <a:off x="5897880" y="2697480"/>
            <a:ext cx="256032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 de l'axe 3 — objectif, enveloppe(s) mobilisée(s), montant cible, horizon]</a:t>
            </a:r>
            <a:endParaRPr lang="en-US" sz="1150" dirty="0"/>
          </a:p>
        </p:txBody>
      </p:sp>
      <p:sp>
        <p:nvSpPr>
          <p:cNvPr id="31" name="Shape 28"/>
          <p:cNvSpPr/>
          <p:nvPr/>
        </p:nvSpPr>
        <p:spPr>
          <a:xfrm>
            <a:off x="5897880" y="3931920"/>
            <a:ext cx="25603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5897880" y="4005072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ENVELOPPE(S)</a:t>
            </a:r>
            <a:endParaRPr lang="en-US" sz="750" dirty="0"/>
          </a:p>
        </p:txBody>
      </p:sp>
      <p:sp>
        <p:nvSpPr>
          <p:cNvPr id="33" name="Text 30"/>
          <p:cNvSpPr/>
          <p:nvPr/>
        </p:nvSpPr>
        <p:spPr>
          <a:xfrm>
            <a:off x="5897880" y="422452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[Enveloppe(s)]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STRATÉGIE · AVANT / APRÈS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7315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L'impact de la stratégie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1188720"/>
            <a:ext cx="3794760" cy="32918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83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SITUATION ACTUELLE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658368" y="1627632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estimés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658368" y="1883664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658368" y="2249424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2304288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annuelle (IR + PS)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658368" y="2560320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18" name="Shape 15"/>
          <p:cNvSpPr/>
          <p:nvPr/>
        </p:nvSpPr>
        <p:spPr>
          <a:xfrm>
            <a:off x="658368" y="2926080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8368" y="298094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net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658368" y="3236976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1" name="Shape 18"/>
          <p:cNvSpPr/>
          <p:nvPr/>
        </p:nvSpPr>
        <p:spPr>
          <a:xfrm>
            <a:off x="658368" y="3602736"/>
            <a:ext cx="329184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" y="365760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disponibles</a:t>
            </a:r>
            <a:endParaRPr lang="en-US" sz="900" dirty="0"/>
          </a:p>
        </p:txBody>
      </p:sp>
      <p:sp>
        <p:nvSpPr>
          <p:cNvPr id="23" name="Text 20"/>
          <p:cNvSpPr/>
          <p:nvPr/>
        </p:nvSpPr>
        <p:spPr>
          <a:xfrm>
            <a:off x="658368" y="3913632"/>
            <a:ext cx="31089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4" name="Shape 21"/>
          <p:cNvSpPr/>
          <p:nvPr/>
        </p:nvSpPr>
        <p:spPr>
          <a:xfrm>
            <a:off x="4617720" y="1188720"/>
            <a:ext cx="3886200" cy="32918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773168" y="12070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APRÈS STRATÉGIE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773168" y="162763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Droits de succession optimisés</a:t>
            </a:r>
            <a:endParaRPr lang="en-US" sz="900" dirty="0"/>
          </a:p>
        </p:txBody>
      </p:sp>
      <p:sp>
        <p:nvSpPr>
          <p:cNvPr id="27" name="Text 24"/>
          <p:cNvSpPr/>
          <p:nvPr/>
        </p:nvSpPr>
        <p:spPr>
          <a:xfrm>
            <a:off x="4773168" y="188366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28" name="Text 25"/>
          <p:cNvSpPr/>
          <p:nvPr/>
        </p:nvSpPr>
        <p:spPr>
          <a:xfrm>
            <a:off x="7168896" y="19019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économie de [X €]</a:t>
            </a:r>
            <a:endParaRPr lang="en-US" sz="850" dirty="0"/>
          </a:p>
        </p:txBody>
      </p:sp>
      <p:sp>
        <p:nvSpPr>
          <p:cNvPr id="29" name="Shape 26"/>
          <p:cNvSpPr/>
          <p:nvPr/>
        </p:nvSpPr>
        <p:spPr>
          <a:xfrm>
            <a:off x="4773168" y="2249424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4773168" y="230428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Pression fiscale optimisée</a:t>
            </a:r>
            <a:endParaRPr lang="en-US" sz="900" dirty="0"/>
          </a:p>
        </p:txBody>
      </p:sp>
      <p:sp>
        <p:nvSpPr>
          <p:cNvPr id="31" name="Text 28"/>
          <p:cNvSpPr/>
          <p:nvPr/>
        </p:nvSpPr>
        <p:spPr>
          <a:xfrm>
            <a:off x="4773168" y="256032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7168896" y="257860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[X €] / an</a:t>
            </a:r>
            <a:endParaRPr lang="en-US" sz="850" dirty="0"/>
          </a:p>
        </p:txBody>
      </p:sp>
      <p:sp>
        <p:nvSpPr>
          <p:cNvPr id="33" name="Shape 30"/>
          <p:cNvSpPr/>
          <p:nvPr/>
        </p:nvSpPr>
        <p:spPr>
          <a:xfrm>
            <a:off x="4773168" y="2926080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4773168" y="298094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transmissible optimisé</a:t>
            </a:r>
            <a:endParaRPr lang="en-US" sz="900" dirty="0"/>
          </a:p>
        </p:txBody>
      </p:sp>
      <p:sp>
        <p:nvSpPr>
          <p:cNvPr id="35" name="Text 32"/>
          <p:cNvSpPr/>
          <p:nvPr/>
        </p:nvSpPr>
        <p:spPr>
          <a:xfrm>
            <a:off x="4773168" y="323697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</a:t>
            </a:r>
            <a:endParaRPr lang="en-US" sz="1800" dirty="0"/>
          </a:p>
        </p:txBody>
      </p:sp>
      <p:sp>
        <p:nvSpPr>
          <p:cNvPr id="36" name="Text 33"/>
          <p:cNvSpPr/>
          <p:nvPr/>
        </p:nvSpPr>
        <p:spPr>
          <a:xfrm>
            <a:off x="7168896" y="3255264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[X €]</a:t>
            </a:r>
            <a:endParaRPr lang="en-US" sz="850" dirty="0"/>
          </a:p>
        </p:txBody>
      </p:sp>
      <p:sp>
        <p:nvSpPr>
          <p:cNvPr id="37" name="Shape 34"/>
          <p:cNvSpPr/>
          <p:nvPr/>
        </p:nvSpPr>
        <p:spPr>
          <a:xfrm>
            <a:off x="4773168" y="3602736"/>
            <a:ext cx="3401568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773168" y="365760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Revenus complémentaires cibles</a:t>
            </a:r>
            <a:endParaRPr lang="en-US" sz="900" dirty="0"/>
          </a:p>
        </p:txBody>
      </p:sp>
      <p:sp>
        <p:nvSpPr>
          <p:cNvPr id="39" name="Text 36"/>
          <p:cNvSpPr/>
          <p:nvPr/>
        </p:nvSpPr>
        <p:spPr>
          <a:xfrm>
            <a:off x="4773168" y="3913632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[X €] / mois</a:t>
            </a:r>
            <a:endParaRPr lang="en-US" sz="1800" dirty="0"/>
          </a:p>
        </p:txBody>
      </p:sp>
      <p:sp>
        <p:nvSpPr>
          <p:cNvPr id="40" name="Text 37"/>
          <p:cNvSpPr/>
          <p:nvPr/>
        </p:nvSpPr>
        <p:spPr>
          <a:xfrm>
            <a:off x="7168896" y="393192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dès [ANNÉE]</a:t>
            </a:r>
            <a:endParaRPr lang="en-US" sz="850" dirty="0"/>
          </a:p>
        </p:txBody>
      </p:sp>
      <p:sp>
        <p:nvSpPr>
          <p:cNvPr id="41" name="Shape 38"/>
          <p:cNvSpPr/>
          <p:nvPr/>
        </p:nvSpPr>
        <p:spPr>
          <a:xfrm>
            <a:off x="4370832" y="1188720"/>
            <a:ext cx="10973" cy="356616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4169664" y="2834640"/>
            <a:ext cx="40233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→</a:t>
            </a:r>
            <a:endParaRPr lang="en-US" sz="2200" dirty="0"/>
          </a:p>
        </p:txBody>
      </p:sp>
      <p:sp>
        <p:nvSpPr>
          <p:cNvPr id="43" name="Shape 40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502920" y="4681728"/>
            <a:ext cx="80010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Projections établies sur la base des éléments communiqués. Ces estimations conditionnelles ne sauraient constituer un engagement.</a:t>
            </a:r>
            <a:endParaRPr lang="en-US" sz="700" dirty="0"/>
          </a:p>
        </p:txBody>
      </p:sp>
      <p:sp>
        <p:nvSpPr>
          <p:cNvPr id="45" name="Text 42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ACCOMPAGNEMENT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16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5486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accompagnement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53312"/>
            <a:ext cx="3840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NOTRE PROCESSUS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7276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8368" y="157276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Évaluation de votre profil de risque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502920" y="2084832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8368" y="208483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Sélection indépendante des meilleures solutions par appel d'offres multi-partenaires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02920" y="2596896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58368" y="2596896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Négociation des conditions tarifaires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502920" y="3108960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58368" y="31089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Centralisation des documents de mise en place</a:t>
            </a:r>
            <a:endParaRPr lang="en-US" sz="1100" dirty="0"/>
          </a:p>
        </p:txBody>
      </p:sp>
      <p:sp>
        <p:nvSpPr>
          <p:cNvPr id="21" name="Shape 18"/>
          <p:cNvSpPr/>
          <p:nvPr/>
        </p:nvSpPr>
        <p:spPr>
          <a:xfrm>
            <a:off x="502920" y="3621024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58368" y="362102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Suivi des allocations d'actifs et de la performance</a:t>
            </a:r>
            <a:endParaRPr lang="en-US" sz="1100" dirty="0"/>
          </a:p>
        </p:txBody>
      </p:sp>
      <p:sp>
        <p:nvSpPr>
          <p:cNvPr id="23" name="Shape 20"/>
          <p:cNvSpPr/>
          <p:nvPr/>
        </p:nvSpPr>
        <p:spPr>
          <a:xfrm>
            <a:off x="502920" y="4133088"/>
            <a:ext cx="22860" cy="384048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58368" y="4133088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Rédaction sur mesure de la clause bénéficiaire</a:t>
            </a:r>
            <a:endParaRPr lang="en-US" sz="1100" dirty="0"/>
          </a:p>
        </p:txBody>
      </p:sp>
      <p:sp>
        <p:nvSpPr>
          <p:cNvPr id="25" name="Shape 22"/>
          <p:cNvSpPr/>
          <p:nvPr/>
        </p:nvSpPr>
        <p:spPr>
          <a:xfrm>
            <a:off x="4279392" y="1353312"/>
            <a:ext cx="10973" cy="338328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434840" y="135331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ENGAGEMENTS SPÉCIFIQUES À CE DOSSIER</a:t>
            </a:r>
            <a:endParaRPr lang="en-US" sz="750" dirty="0"/>
          </a:p>
        </p:txBody>
      </p:sp>
      <p:sp>
        <p:nvSpPr>
          <p:cNvPr id="27" name="Shape 24"/>
          <p:cNvSpPr/>
          <p:nvPr/>
        </p:nvSpPr>
        <p:spPr>
          <a:xfrm>
            <a:off x="4434840" y="1572768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590288" y="1572768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1]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4590288" y="1847088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4434840" y="2487168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1" name="Shape 28"/>
          <p:cNvSpPr/>
          <p:nvPr/>
        </p:nvSpPr>
        <p:spPr>
          <a:xfrm>
            <a:off x="4434840" y="2560320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4590288" y="2560320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2]</a:t>
            </a:r>
            <a:endParaRPr lang="en-US" sz="1100" dirty="0"/>
          </a:p>
        </p:txBody>
      </p:sp>
      <p:sp>
        <p:nvSpPr>
          <p:cNvPr id="33" name="Text 30"/>
          <p:cNvSpPr/>
          <p:nvPr/>
        </p:nvSpPr>
        <p:spPr>
          <a:xfrm>
            <a:off x="4590288" y="2834640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4434840" y="3474720"/>
            <a:ext cx="416052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35" name="Shape 32"/>
          <p:cNvSpPr/>
          <p:nvPr/>
        </p:nvSpPr>
        <p:spPr>
          <a:xfrm>
            <a:off x="4434840" y="3547872"/>
            <a:ext cx="22860" cy="749808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4590288" y="3547872"/>
            <a:ext cx="39136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[Engagement 3]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4590288" y="3822192"/>
            <a:ext cx="39136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[Détail — comment, fréquence, interlocuteur]</a:t>
            </a:r>
            <a:endParaRPr lang="en-US" sz="1050" dirty="0"/>
          </a:p>
        </p:txBody>
      </p:sp>
      <p:sp>
        <p:nvSpPr>
          <p:cNvPr id="38" name="Text 35"/>
          <p:cNvSpPr/>
          <p:nvPr/>
        </p:nvSpPr>
        <p:spPr>
          <a:xfrm>
            <a:off x="502920" y="4800600"/>
            <a:ext cx="8001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gauche : contenu fixe Affilior. Section droite : personnaliser selon le dossier.</a:t>
            </a:r>
            <a:endParaRPr lang="en-US" sz="750" dirty="0"/>
          </a:p>
        </p:txBody>
      </p:sp>
      <p:sp>
        <p:nvSpPr>
          <p:cNvPr id="39" name="Text 3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PROCHAINES ÉTAPES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19</a:t>
            </a:r>
            <a:endParaRPr lang="en-US" sz="700" dirty="0"/>
          </a:p>
        </p:txBody>
      </p:sp>
      <p:sp>
        <p:nvSpPr>
          <p:cNvPr id="9" name="Text 6"/>
          <p:cNvSpPr/>
          <p:nvPr/>
        </p:nvSpPr>
        <p:spPr>
          <a:xfrm>
            <a:off x="502920" y="566928"/>
            <a:ext cx="5486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Les prochaines étapes</a:t>
            </a:r>
            <a:endParaRPr lang="en-US" sz="2400" dirty="0"/>
          </a:p>
        </p:txBody>
      </p:sp>
      <p:sp>
        <p:nvSpPr>
          <p:cNvPr id="10" name="Shape 7"/>
          <p:cNvSpPr/>
          <p:nvPr/>
        </p:nvSpPr>
        <p:spPr>
          <a:xfrm>
            <a:off x="502920" y="1088136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502920" y="2326234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502920" y="1188720"/>
            <a:ext cx="1920240" cy="237744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7607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1</a:t>
            </a:r>
            <a:endParaRPr lang="en-US" sz="750" dirty="0"/>
          </a:p>
        </p:txBody>
      </p:sp>
      <p:sp>
        <p:nvSpPr>
          <p:cNvPr id="14" name="Text 11"/>
          <p:cNvSpPr/>
          <p:nvPr/>
        </p:nvSpPr>
        <p:spPr>
          <a:xfrm>
            <a:off x="152704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[M+1]</a:t>
            </a:r>
            <a:endParaRPr lang="en-US" sz="800" dirty="0"/>
          </a:p>
        </p:txBody>
      </p:sp>
      <p:sp>
        <p:nvSpPr>
          <p:cNvPr id="15" name="Text 12"/>
          <p:cNvSpPr/>
          <p:nvPr/>
        </p:nvSpPr>
        <p:spPr>
          <a:xfrm>
            <a:off x="50292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[Audit &amp; validation]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50292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50292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18" name="Shape 15"/>
          <p:cNvSpPr/>
          <p:nvPr/>
        </p:nvSpPr>
        <p:spPr>
          <a:xfrm>
            <a:off x="497434" y="2212848"/>
            <a:ext cx="10973" cy="27432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411480" y="2240280"/>
            <a:ext cx="182880" cy="182880"/>
          </a:xfrm>
          <a:prstGeom prst="ellipse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50292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21" name="Shape 18"/>
          <p:cNvSpPr/>
          <p:nvPr/>
        </p:nvSpPr>
        <p:spPr>
          <a:xfrm>
            <a:off x="2209800" y="265176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228295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2</a:t>
            </a:r>
            <a:endParaRPr lang="en-US" sz="750" dirty="0"/>
          </a:p>
        </p:txBody>
      </p:sp>
      <p:sp>
        <p:nvSpPr>
          <p:cNvPr id="23" name="Text 20"/>
          <p:cNvSpPr/>
          <p:nvPr/>
        </p:nvSpPr>
        <p:spPr>
          <a:xfrm>
            <a:off x="323392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[M+3]</a:t>
            </a:r>
            <a:endParaRPr lang="en-US" sz="800" dirty="0"/>
          </a:p>
        </p:txBody>
      </p:sp>
      <p:sp>
        <p:nvSpPr>
          <p:cNvPr id="24" name="Text 21"/>
          <p:cNvSpPr/>
          <p:nvPr/>
        </p:nvSpPr>
        <p:spPr>
          <a:xfrm>
            <a:off x="220980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[Mise en place juridique]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220980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26" name="Text 23"/>
          <p:cNvSpPr/>
          <p:nvPr/>
        </p:nvSpPr>
        <p:spPr>
          <a:xfrm>
            <a:off x="220980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3164434" y="2350008"/>
            <a:ext cx="10973" cy="265176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3078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220980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[Notaire + Affilior]</a:t>
            </a:r>
            <a:endParaRPr lang="en-US" sz="750" dirty="0"/>
          </a:p>
        </p:txBody>
      </p:sp>
      <p:sp>
        <p:nvSpPr>
          <p:cNvPr id="30" name="Shape 27"/>
          <p:cNvSpPr/>
          <p:nvPr/>
        </p:nvSpPr>
        <p:spPr>
          <a:xfrm>
            <a:off x="4876800" y="1188720"/>
            <a:ext cx="1920240" cy="237744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4949952" y="118872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3</a:t>
            </a:r>
            <a:endParaRPr lang="en-US" sz="750" dirty="0"/>
          </a:p>
        </p:txBody>
      </p:sp>
      <p:sp>
        <p:nvSpPr>
          <p:cNvPr id="32" name="Text 29"/>
          <p:cNvSpPr/>
          <p:nvPr/>
        </p:nvSpPr>
        <p:spPr>
          <a:xfrm>
            <a:off x="5900928" y="118872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[M+6]</a:t>
            </a:r>
            <a:endParaRPr lang="en-US" sz="800" dirty="0"/>
          </a:p>
        </p:txBody>
      </p:sp>
      <p:sp>
        <p:nvSpPr>
          <p:cNvPr id="33" name="Text 30"/>
          <p:cNvSpPr/>
          <p:nvPr/>
        </p:nvSpPr>
        <p:spPr>
          <a:xfrm>
            <a:off x="4876800" y="14630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[Déploiement financier]</a:t>
            </a:r>
            <a:endParaRPr lang="en-US" sz="1000" dirty="0"/>
          </a:p>
        </p:txBody>
      </p:sp>
      <p:sp>
        <p:nvSpPr>
          <p:cNvPr id="34" name="Text 31"/>
          <p:cNvSpPr/>
          <p:nvPr/>
        </p:nvSpPr>
        <p:spPr>
          <a:xfrm>
            <a:off x="4876800" y="175564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35" name="Text 32"/>
          <p:cNvSpPr/>
          <p:nvPr/>
        </p:nvSpPr>
        <p:spPr>
          <a:xfrm>
            <a:off x="4876800" y="193852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36" name="Shape 33"/>
          <p:cNvSpPr/>
          <p:nvPr/>
        </p:nvSpPr>
        <p:spPr>
          <a:xfrm>
            <a:off x="5831434" y="2212848"/>
            <a:ext cx="10973" cy="27432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5745480" y="2240280"/>
            <a:ext cx="182880" cy="182880"/>
          </a:xfrm>
          <a:prstGeom prst="ellipse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4876800" y="2478024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[Affilior]</a:t>
            </a:r>
            <a:endParaRPr lang="en-US" sz="750" dirty="0"/>
          </a:p>
        </p:txBody>
      </p:sp>
      <p:sp>
        <p:nvSpPr>
          <p:cNvPr id="39" name="Shape 36"/>
          <p:cNvSpPr/>
          <p:nvPr/>
        </p:nvSpPr>
        <p:spPr>
          <a:xfrm>
            <a:off x="6583680" y="2651760"/>
            <a:ext cx="1920240" cy="237744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6656832" y="265176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50" kern="0" dirty="0">
                <a:solidFill>
                  <a:srgbClr val="FFFFFF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PHASE 4</a:t>
            </a:r>
            <a:endParaRPr lang="en-US" sz="750" dirty="0"/>
          </a:p>
        </p:txBody>
      </p:sp>
      <p:sp>
        <p:nvSpPr>
          <p:cNvPr id="41" name="Text 38"/>
          <p:cNvSpPr/>
          <p:nvPr/>
        </p:nvSpPr>
        <p:spPr>
          <a:xfrm>
            <a:off x="7607808" y="2651760"/>
            <a:ext cx="822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[M+12]</a:t>
            </a:r>
            <a:endParaRPr lang="en-US" sz="800" dirty="0"/>
          </a:p>
        </p:txBody>
      </p:sp>
      <p:sp>
        <p:nvSpPr>
          <p:cNvPr id="42" name="Text 39"/>
          <p:cNvSpPr/>
          <p:nvPr/>
        </p:nvSpPr>
        <p:spPr>
          <a:xfrm>
            <a:off x="6583680" y="292608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C4B5A5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[Revue annuelle]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0" y="321868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1]</a:t>
            </a:r>
            <a:endParaRPr lang="en-US" sz="850" dirty="0"/>
          </a:p>
        </p:txBody>
      </p:sp>
      <p:sp>
        <p:nvSpPr>
          <p:cNvPr id="44" name="Text 41"/>
          <p:cNvSpPr/>
          <p:nvPr/>
        </p:nvSpPr>
        <p:spPr>
          <a:xfrm>
            <a:off x="6583680" y="3401568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i="1" dirty="0">
                <a:solidFill>
                  <a:srgbClr val="C4B5A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[Action 2]</a:t>
            </a:r>
            <a:endParaRPr lang="en-US" sz="850" dirty="0"/>
          </a:p>
        </p:txBody>
      </p:sp>
      <p:sp>
        <p:nvSpPr>
          <p:cNvPr id="45" name="Shape 42"/>
          <p:cNvSpPr/>
          <p:nvPr/>
        </p:nvSpPr>
        <p:spPr>
          <a:xfrm>
            <a:off x="8498434" y="2350008"/>
            <a:ext cx="10973" cy="265176"/>
          </a:xfrm>
          <a:prstGeom prst="rect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46" name="Shape 43"/>
          <p:cNvSpPr/>
          <p:nvPr/>
        </p:nvSpPr>
        <p:spPr>
          <a:xfrm>
            <a:off x="8412480" y="2240280"/>
            <a:ext cx="182880" cy="182880"/>
          </a:xfrm>
          <a:prstGeom prst="ellipse">
            <a:avLst/>
          </a:prstGeom>
          <a:solidFill>
            <a:srgbClr val="A09080"/>
          </a:solidFill>
          <a:ln w="12700">
            <a:solidFill>
              <a:srgbClr val="A09080"/>
            </a:solidFill>
            <a:prstDash val="solid"/>
          </a:ln>
        </p:spPr>
      </p:sp>
      <p:sp>
        <p:nvSpPr>
          <p:cNvPr id="47" name="Text 44"/>
          <p:cNvSpPr/>
          <p:nvPr/>
        </p:nvSpPr>
        <p:spPr>
          <a:xfrm>
            <a:off x="6583680" y="3730752"/>
            <a:ext cx="1920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[Client + Affilior]</a:t>
            </a:r>
            <a:endParaRPr lang="en-US" sz="750" dirty="0"/>
          </a:p>
        </p:txBody>
      </p:sp>
      <p:sp>
        <p:nvSpPr>
          <p:cNvPr id="48" name="Shape 45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9" name="Text 46"/>
          <p:cNvSpPr/>
          <p:nvPr/>
        </p:nvSpPr>
        <p:spPr>
          <a:xfrm>
            <a:off x="502920" y="4718304"/>
            <a:ext cx="8001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spc="60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 F F I L I O R</a:t>
            </a:r>
            <a:endParaRPr lang="en-US" sz="1000" dirty="0"/>
          </a:p>
        </p:txBody>
      </p:sp>
      <p:sp>
        <p:nvSpPr>
          <p:cNvPr id="50" name="Text 47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3F0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13648" y="411480"/>
            <a:ext cx="10973" cy="4224528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76288" y="4773168"/>
            <a:ext cx="1572768" cy="10973"/>
          </a:xfrm>
          <a:prstGeom prst="rect">
            <a:avLst/>
          </a:prstGeom>
          <a:solidFill>
            <a:srgbClr val="8B1A1A">
              <a:alpha val="45000"/>
            </a:srgbClr>
          </a:solidFill>
          <a:ln w="12700">
            <a:solidFill>
              <a:srgbClr val="8B1A1A">
                <a:alpha val="4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0" y="4974336"/>
            <a:ext cx="9144000" cy="169164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4464" y="4974336"/>
            <a:ext cx="374904" cy="169164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02920" y="164592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846320" y="228600"/>
            <a:ext cx="30175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spc="200" kern="0" dirty="0">
                <a:solidFill>
                  <a:srgbClr val="8B1A1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· BARÈME</a:t>
            </a:r>
            <a:endParaRPr lang="en-US" sz="750" dirty="0"/>
          </a:p>
        </p:txBody>
      </p:sp>
      <p:sp>
        <p:nvSpPr>
          <p:cNvPr id="8" name="Text 5"/>
          <p:cNvSpPr/>
          <p:nvPr/>
        </p:nvSpPr>
        <p:spPr>
          <a:xfrm>
            <a:off x="8092440" y="219456"/>
            <a:ext cx="3474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A09080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18</a:t>
            </a:r>
            <a:endParaRPr lang="en-US" sz="700" dirty="0"/>
          </a:p>
        </p:txBody>
      </p:sp>
      <p:sp>
        <p:nvSpPr>
          <p:cNvPr id="9" name="Shape 6"/>
          <p:cNvSpPr/>
          <p:nvPr/>
        </p:nvSpPr>
        <p:spPr>
          <a:xfrm>
            <a:off x="502920" y="475488"/>
            <a:ext cx="8001000" cy="10973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02920" y="5943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Annexe — Barème détaillé</a:t>
            </a:r>
            <a:endParaRPr lang="en-US" sz="2600" dirty="0"/>
          </a:p>
        </p:txBody>
      </p:sp>
      <p:sp>
        <p:nvSpPr>
          <p:cNvPr id="11" name="Shape 8"/>
          <p:cNvSpPr/>
          <p:nvPr/>
        </p:nvSpPr>
        <p:spPr>
          <a:xfrm>
            <a:off x="502920" y="1207008"/>
            <a:ext cx="347472" cy="20117"/>
          </a:xfrm>
          <a:prstGeom prst="rect">
            <a:avLst/>
          </a:prstGeom>
          <a:solidFill>
            <a:srgbClr val="8B1A1A"/>
          </a:solidFill>
          <a:ln w="12700">
            <a:solidFill>
              <a:srgbClr val="8B1A1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502920" y="13258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TARIF EN LIGNE DIRECTE (ENFANTS, PARENTS)</a:t>
            </a:r>
            <a:endParaRPr lang="en-US" sz="750" dirty="0"/>
          </a:p>
        </p:txBody>
      </p:sp>
      <p:sp>
        <p:nvSpPr>
          <p:cNvPr id="13" name="Shape 10"/>
          <p:cNvSpPr/>
          <p:nvPr/>
        </p:nvSpPr>
        <p:spPr>
          <a:xfrm>
            <a:off x="502920" y="1536192"/>
            <a:ext cx="292608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76072" y="1536192"/>
            <a:ext cx="28163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Fraction de part nette taxable</a:t>
            </a:r>
            <a:endParaRPr lang="en-US" sz="850" dirty="0"/>
          </a:p>
        </p:txBody>
      </p:sp>
      <p:sp>
        <p:nvSpPr>
          <p:cNvPr id="15" name="Shape 12"/>
          <p:cNvSpPr/>
          <p:nvPr/>
        </p:nvSpPr>
        <p:spPr>
          <a:xfrm>
            <a:off x="3429000" y="1536192"/>
            <a:ext cx="777240" cy="274320"/>
          </a:xfrm>
          <a:prstGeom prst="rect">
            <a:avLst/>
          </a:prstGeom>
          <a:solidFill>
            <a:srgbClr val="1C2B3A"/>
          </a:solidFill>
          <a:ln w="12700">
            <a:solidFill>
              <a:srgbClr val="1C2B3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3502152" y="1536192"/>
            <a:ext cx="66751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</a:t>
            </a:r>
            <a:endParaRPr lang="en-US" sz="850" dirty="0"/>
          </a:p>
        </p:txBody>
      </p:sp>
      <p:sp>
        <p:nvSpPr>
          <p:cNvPr id="17" name="Shape 14"/>
          <p:cNvSpPr/>
          <p:nvPr/>
        </p:nvSpPr>
        <p:spPr>
          <a:xfrm>
            <a:off x="502920" y="1819656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576072" y="182880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N'excédant pas 8 072 €</a:t>
            </a:r>
            <a:endParaRPr lang="en-US" sz="900" dirty="0"/>
          </a:p>
        </p:txBody>
      </p:sp>
      <p:sp>
        <p:nvSpPr>
          <p:cNvPr id="19" name="Shape 16"/>
          <p:cNvSpPr/>
          <p:nvPr/>
        </p:nvSpPr>
        <p:spPr>
          <a:xfrm>
            <a:off x="3429000" y="1819656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3502152" y="182880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5 %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502920" y="2112264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576072" y="212140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8 072 € à 12 109 €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3429000" y="2112264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502152" y="212140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10 %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502920" y="2404872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576072" y="2414016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12 109 € à 15 932 €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3429000" y="2404872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502152" y="2414016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15 %</a:t>
            </a:r>
            <a:endParaRPr lang="en-US" sz="900" dirty="0"/>
          </a:p>
        </p:txBody>
      </p:sp>
      <p:sp>
        <p:nvSpPr>
          <p:cNvPr id="29" name="Shape 26"/>
          <p:cNvSpPr/>
          <p:nvPr/>
        </p:nvSpPr>
        <p:spPr>
          <a:xfrm>
            <a:off x="502920" y="2697480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576072" y="2706624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15 932 € à 552 324 €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3429000" y="2697480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3502152" y="2706624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20 %</a:t>
            </a:r>
            <a:endParaRPr lang="en-US" sz="900" dirty="0"/>
          </a:p>
        </p:txBody>
      </p:sp>
      <p:sp>
        <p:nvSpPr>
          <p:cNvPr id="33" name="Shape 30"/>
          <p:cNvSpPr/>
          <p:nvPr/>
        </p:nvSpPr>
        <p:spPr>
          <a:xfrm>
            <a:off x="502920" y="2990088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576072" y="2999232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552 324 € à 902 838 €</a:t>
            </a:r>
            <a:endParaRPr lang="en-US" sz="900" dirty="0"/>
          </a:p>
        </p:txBody>
      </p:sp>
      <p:sp>
        <p:nvSpPr>
          <p:cNvPr id="35" name="Shape 32"/>
          <p:cNvSpPr/>
          <p:nvPr/>
        </p:nvSpPr>
        <p:spPr>
          <a:xfrm>
            <a:off x="3429000" y="2990088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3502152" y="2999232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30 %</a:t>
            </a:r>
            <a:endParaRPr lang="en-US" sz="900" dirty="0"/>
          </a:p>
        </p:txBody>
      </p:sp>
      <p:sp>
        <p:nvSpPr>
          <p:cNvPr id="37" name="Shape 34"/>
          <p:cNvSpPr/>
          <p:nvPr/>
        </p:nvSpPr>
        <p:spPr>
          <a:xfrm>
            <a:off x="502920" y="3282696"/>
            <a:ext cx="29260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576072" y="3291840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902 838 € à 1 805 677 €</a:t>
            </a:r>
            <a:endParaRPr lang="en-US" sz="900" dirty="0"/>
          </a:p>
        </p:txBody>
      </p:sp>
      <p:sp>
        <p:nvSpPr>
          <p:cNvPr id="39" name="Shape 36"/>
          <p:cNvSpPr/>
          <p:nvPr/>
        </p:nvSpPr>
        <p:spPr>
          <a:xfrm>
            <a:off x="3429000" y="3282696"/>
            <a:ext cx="77724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3502152" y="3291840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40 %</a:t>
            </a:r>
            <a:endParaRPr lang="en-US" sz="900" dirty="0"/>
          </a:p>
        </p:txBody>
      </p:sp>
      <p:sp>
        <p:nvSpPr>
          <p:cNvPr id="41" name="Shape 38"/>
          <p:cNvSpPr/>
          <p:nvPr/>
        </p:nvSpPr>
        <p:spPr>
          <a:xfrm>
            <a:off x="502920" y="3575304"/>
            <a:ext cx="29260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576072" y="3584448"/>
            <a:ext cx="28163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Au-delà de 1 805 677 €</a:t>
            </a:r>
            <a:endParaRPr lang="en-US" sz="900" dirty="0"/>
          </a:p>
        </p:txBody>
      </p:sp>
      <p:sp>
        <p:nvSpPr>
          <p:cNvPr id="43" name="Shape 40"/>
          <p:cNvSpPr/>
          <p:nvPr/>
        </p:nvSpPr>
        <p:spPr>
          <a:xfrm>
            <a:off x="3429000" y="3575304"/>
            <a:ext cx="77724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3502152" y="3584448"/>
            <a:ext cx="66751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45 %</a:t>
            </a:r>
            <a:endParaRPr lang="en-US" sz="900" dirty="0"/>
          </a:p>
        </p:txBody>
      </p:sp>
      <p:sp>
        <p:nvSpPr>
          <p:cNvPr id="45" name="Shape 42"/>
          <p:cNvSpPr/>
          <p:nvPr/>
        </p:nvSpPr>
        <p:spPr>
          <a:xfrm>
            <a:off x="4315968" y="1325880"/>
            <a:ext cx="10973" cy="3200400"/>
          </a:xfrm>
          <a:prstGeom prst="rect">
            <a:avLst/>
          </a:prstGeom>
          <a:solidFill>
            <a:srgbClr val="CFC8BD"/>
          </a:solidFill>
          <a:ln w="12700">
            <a:solidFill>
              <a:srgbClr val="CFC8BD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4462272" y="132588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ABATTEMENTS PAR BÉNÉFICIAIRE</a:t>
            </a:r>
            <a:endParaRPr lang="en-US" sz="750" dirty="0"/>
          </a:p>
        </p:txBody>
      </p:sp>
      <p:sp>
        <p:nvSpPr>
          <p:cNvPr id="47" name="Text 44"/>
          <p:cNvSpPr/>
          <p:nvPr/>
        </p:nvSpPr>
        <p:spPr>
          <a:xfrm>
            <a:off x="4462272" y="1536192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BÉNÉFICIAIRE</a:t>
            </a:r>
            <a:endParaRPr lang="en-US" sz="750" dirty="0"/>
          </a:p>
        </p:txBody>
      </p:sp>
      <p:sp>
        <p:nvSpPr>
          <p:cNvPr id="48" name="Text 45"/>
          <p:cNvSpPr/>
          <p:nvPr/>
        </p:nvSpPr>
        <p:spPr>
          <a:xfrm>
            <a:off x="6510528" y="153619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pc="250" kern="0" dirty="0">
                <a:solidFill>
                  <a:srgbClr val="1C2B3A"/>
                </a:solidFill>
                <a:latin typeface="Garamond" pitchFamily="34" charset="0"/>
                <a:ea typeface="Garamond" pitchFamily="34" charset="-122"/>
                <a:cs typeface="Garamond" pitchFamily="34" charset="-120"/>
              </a:rPr>
              <a:t>ABATTEMENT</a:t>
            </a:r>
            <a:endParaRPr lang="en-US" sz="750" dirty="0"/>
          </a:p>
        </p:txBody>
      </p:sp>
      <p:sp>
        <p:nvSpPr>
          <p:cNvPr id="49" name="Shape 46"/>
          <p:cNvSpPr/>
          <p:nvPr/>
        </p:nvSpPr>
        <p:spPr>
          <a:xfrm>
            <a:off x="4462272" y="1819656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0" name="Shape 47"/>
          <p:cNvSpPr/>
          <p:nvPr/>
        </p:nvSpPr>
        <p:spPr>
          <a:xfrm>
            <a:off x="6528816" y="1819656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4535424" y="182880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Conjoint / Partenaire PACS</a:t>
            </a:r>
            <a:endParaRPr lang="en-US" sz="850" dirty="0"/>
          </a:p>
        </p:txBody>
      </p:sp>
      <p:sp>
        <p:nvSpPr>
          <p:cNvPr id="52" name="Text 49"/>
          <p:cNvSpPr/>
          <p:nvPr/>
        </p:nvSpPr>
        <p:spPr>
          <a:xfrm>
            <a:off x="6601968" y="182880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8B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EXONÉRÉ</a:t>
            </a:r>
            <a:endParaRPr lang="en-US" sz="850" dirty="0"/>
          </a:p>
        </p:txBody>
      </p:sp>
      <p:sp>
        <p:nvSpPr>
          <p:cNvPr id="53" name="Shape 50"/>
          <p:cNvSpPr/>
          <p:nvPr/>
        </p:nvSpPr>
        <p:spPr>
          <a:xfrm>
            <a:off x="4462272" y="2130552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4" name="Shape 51"/>
          <p:cNvSpPr/>
          <p:nvPr/>
        </p:nvSpPr>
        <p:spPr>
          <a:xfrm>
            <a:off x="6528816" y="2130552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5" name="Text 52"/>
          <p:cNvSpPr/>
          <p:nvPr/>
        </p:nvSpPr>
        <p:spPr>
          <a:xfrm>
            <a:off x="4535424" y="213969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Enfant (par parent)</a:t>
            </a:r>
            <a:endParaRPr lang="en-US" sz="850" dirty="0"/>
          </a:p>
        </p:txBody>
      </p:sp>
      <p:sp>
        <p:nvSpPr>
          <p:cNvPr id="56" name="Text 53"/>
          <p:cNvSpPr/>
          <p:nvPr/>
        </p:nvSpPr>
        <p:spPr>
          <a:xfrm>
            <a:off x="6601968" y="213969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100 000 €</a:t>
            </a:r>
            <a:endParaRPr lang="en-US" sz="850" dirty="0"/>
          </a:p>
        </p:txBody>
      </p:sp>
      <p:sp>
        <p:nvSpPr>
          <p:cNvPr id="57" name="Shape 54"/>
          <p:cNvSpPr/>
          <p:nvPr/>
        </p:nvSpPr>
        <p:spPr>
          <a:xfrm>
            <a:off x="4462272" y="2441448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8" name="Shape 55"/>
          <p:cNvSpPr/>
          <p:nvPr/>
        </p:nvSpPr>
        <p:spPr>
          <a:xfrm>
            <a:off x="6528816" y="2441448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59" name="Text 56"/>
          <p:cNvSpPr/>
          <p:nvPr/>
        </p:nvSpPr>
        <p:spPr>
          <a:xfrm>
            <a:off x="4535424" y="2450592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Petit-enfant</a:t>
            </a:r>
            <a:endParaRPr lang="en-US" sz="850" dirty="0"/>
          </a:p>
        </p:txBody>
      </p:sp>
      <p:sp>
        <p:nvSpPr>
          <p:cNvPr id="60" name="Text 57"/>
          <p:cNvSpPr/>
          <p:nvPr/>
        </p:nvSpPr>
        <p:spPr>
          <a:xfrm>
            <a:off x="6601968" y="2450592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1" name="Shape 58"/>
          <p:cNvSpPr/>
          <p:nvPr/>
        </p:nvSpPr>
        <p:spPr>
          <a:xfrm>
            <a:off x="4462272" y="2752344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2" name="Shape 59"/>
          <p:cNvSpPr/>
          <p:nvPr/>
        </p:nvSpPr>
        <p:spPr>
          <a:xfrm>
            <a:off x="6528816" y="2752344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3" name="Text 60"/>
          <p:cNvSpPr/>
          <p:nvPr/>
        </p:nvSpPr>
        <p:spPr>
          <a:xfrm>
            <a:off x="4535424" y="2761488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Arrière-petit-enfant</a:t>
            </a:r>
            <a:endParaRPr lang="en-US" sz="850" dirty="0"/>
          </a:p>
        </p:txBody>
      </p:sp>
      <p:sp>
        <p:nvSpPr>
          <p:cNvPr id="64" name="Text 61"/>
          <p:cNvSpPr/>
          <p:nvPr/>
        </p:nvSpPr>
        <p:spPr>
          <a:xfrm>
            <a:off x="6601968" y="2761488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65" name="Shape 62"/>
          <p:cNvSpPr/>
          <p:nvPr/>
        </p:nvSpPr>
        <p:spPr>
          <a:xfrm>
            <a:off x="4462272" y="3063240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6" name="Shape 63"/>
          <p:cNvSpPr/>
          <p:nvPr/>
        </p:nvSpPr>
        <p:spPr>
          <a:xfrm>
            <a:off x="6528816" y="3063240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67" name="Text 64"/>
          <p:cNvSpPr/>
          <p:nvPr/>
        </p:nvSpPr>
        <p:spPr>
          <a:xfrm>
            <a:off x="4535424" y="3072384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Frère ou sœur</a:t>
            </a:r>
            <a:endParaRPr lang="en-US" sz="850" dirty="0"/>
          </a:p>
        </p:txBody>
      </p:sp>
      <p:sp>
        <p:nvSpPr>
          <p:cNvPr id="68" name="Text 65"/>
          <p:cNvSpPr/>
          <p:nvPr/>
        </p:nvSpPr>
        <p:spPr>
          <a:xfrm>
            <a:off x="6601968" y="3072384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15 932 €</a:t>
            </a:r>
            <a:endParaRPr lang="en-US" sz="850" dirty="0"/>
          </a:p>
        </p:txBody>
      </p:sp>
      <p:sp>
        <p:nvSpPr>
          <p:cNvPr id="69" name="Shape 66"/>
          <p:cNvSpPr/>
          <p:nvPr/>
        </p:nvSpPr>
        <p:spPr>
          <a:xfrm>
            <a:off x="4462272" y="3374136"/>
            <a:ext cx="201168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0" name="Shape 67"/>
          <p:cNvSpPr/>
          <p:nvPr/>
        </p:nvSpPr>
        <p:spPr>
          <a:xfrm>
            <a:off x="6528816" y="3374136"/>
            <a:ext cx="1508760" cy="301752"/>
          </a:xfrm>
          <a:prstGeom prst="rect">
            <a:avLst/>
          </a:prstGeom>
          <a:solidFill>
            <a:srgbClr val="F3F0EB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1" name="Text 68"/>
          <p:cNvSpPr/>
          <p:nvPr/>
        </p:nvSpPr>
        <p:spPr>
          <a:xfrm>
            <a:off x="4535424" y="3383280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Neveu / Nièce</a:t>
            </a:r>
            <a:endParaRPr lang="en-US" sz="850" dirty="0"/>
          </a:p>
        </p:txBody>
      </p:sp>
      <p:sp>
        <p:nvSpPr>
          <p:cNvPr id="72" name="Text 69"/>
          <p:cNvSpPr/>
          <p:nvPr/>
        </p:nvSpPr>
        <p:spPr>
          <a:xfrm>
            <a:off x="6601968" y="3383280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7 967 €</a:t>
            </a:r>
            <a:endParaRPr lang="en-US" sz="850" dirty="0"/>
          </a:p>
        </p:txBody>
      </p:sp>
      <p:sp>
        <p:nvSpPr>
          <p:cNvPr id="73" name="Shape 70"/>
          <p:cNvSpPr/>
          <p:nvPr/>
        </p:nvSpPr>
        <p:spPr>
          <a:xfrm>
            <a:off x="4462272" y="3685032"/>
            <a:ext cx="201168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4" name="Shape 71"/>
          <p:cNvSpPr/>
          <p:nvPr/>
        </p:nvSpPr>
        <p:spPr>
          <a:xfrm>
            <a:off x="6528816" y="3685032"/>
            <a:ext cx="1508760" cy="301752"/>
          </a:xfrm>
          <a:prstGeom prst="rect">
            <a:avLst/>
          </a:prstGeom>
          <a:solidFill>
            <a:srgbClr val="F7F5F1"/>
          </a:solidFill>
          <a:ln w="3810">
            <a:solidFill>
              <a:srgbClr val="E5E0D8"/>
            </a:solidFill>
            <a:prstDash val="solid"/>
          </a:ln>
        </p:spPr>
      </p:sp>
      <p:sp>
        <p:nvSpPr>
          <p:cNvPr id="75" name="Text 72"/>
          <p:cNvSpPr/>
          <p:nvPr/>
        </p:nvSpPr>
        <p:spPr>
          <a:xfrm>
            <a:off x="4535424" y="3694176"/>
            <a:ext cx="1901952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A55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Autre (non parent)</a:t>
            </a:r>
            <a:endParaRPr lang="en-US" sz="850" dirty="0"/>
          </a:p>
        </p:txBody>
      </p:sp>
      <p:sp>
        <p:nvSpPr>
          <p:cNvPr id="76" name="Text 73"/>
          <p:cNvSpPr/>
          <p:nvPr/>
        </p:nvSpPr>
        <p:spPr>
          <a:xfrm>
            <a:off x="6601968" y="3694176"/>
            <a:ext cx="1371600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C2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1 594 €</a:t>
            </a:r>
            <a:endParaRPr lang="en-US" sz="850" dirty="0"/>
          </a:p>
        </p:txBody>
      </p:sp>
      <p:sp>
        <p:nvSpPr>
          <p:cNvPr id="77" name="Shape 74"/>
          <p:cNvSpPr/>
          <p:nvPr/>
        </p:nvSpPr>
        <p:spPr>
          <a:xfrm>
            <a:off x="502920" y="4645152"/>
            <a:ext cx="8001000" cy="10973"/>
          </a:xfrm>
          <a:prstGeom prst="rect">
            <a:avLst/>
          </a:prstGeom>
          <a:solidFill>
            <a:srgbClr val="E5E0D8"/>
          </a:solidFill>
          <a:ln w="12700">
            <a:solidFill>
              <a:srgbClr val="E5E0D8"/>
            </a:solidFill>
            <a:prstDash val="solid"/>
          </a:ln>
        </p:spPr>
      </p:sp>
      <p:sp>
        <p:nvSpPr>
          <p:cNvPr id="78" name="Text 75"/>
          <p:cNvSpPr/>
          <p:nvPr/>
        </p:nvSpPr>
        <p:spPr>
          <a:xfrm>
            <a:off x="502920" y="4690872"/>
            <a:ext cx="8001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Abattements renouvelables tous les 15 ans par donateur/successeur. Source : BOFIP — bofip.impots.gouv.fr</a:t>
            </a:r>
            <a:endParaRPr lang="en-US" sz="750" dirty="0"/>
          </a:p>
        </p:txBody>
      </p:sp>
      <p:sp>
        <p:nvSpPr>
          <p:cNvPr id="79" name="Text 76"/>
          <p:cNvSpPr/>
          <p:nvPr/>
        </p:nvSpPr>
        <p:spPr>
          <a:xfrm>
            <a:off x="2560320" y="5001768"/>
            <a:ext cx="6080760" cy="118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80" i="1" dirty="0">
                <a:solidFill>
                  <a:srgbClr val="A090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Affilior Gestion Privée  ·  Confidentiel  ·  [MOIS ANNÉE]  ·  Ce document ne constitue pas un conseil en investissement au sens MIF2</a:t>
            </a:r>
            <a:endParaRPr lang="en-US" sz="68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E413E88BE41E9B4697EEB1383CCFCEE9" ma:contentTypeVersion="15" ma:contentTypeDescription="Crée un document." ma:contentTypeScope="" ma:versionID="fdc6ab2ac34b5193386aa592c794ff43">
  <xsd:schema xmlns:xsd="http://www.w3.org/2001/XMLSchema" xmlns:xs="http://www.w3.org/2001/XMLSchema" xmlns:p="http://schemas.microsoft.com/office/2006/metadata/properties" xmlns:ns2="20af6729-ca02-41fe-ad33-8052e43e59c7" xmlns:ns3="96f3f382-ceb1-40cb-99f5-e72dad3ad468" targetNamespace="http://schemas.microsoft.com/office/2006/metadata/properties" ma:root="true" ma:fieldsID="deac9eb5af6cc4882cd6ba5d54d79817" ns2:_="" ns3:_="">
    <xsd:import namespace="20af6729-ca02-41fe-ad33-8052e43e59c7"/>
    <xsd:import namespace="96f3f382-ceb1-40cb-99f5-e72dad3ad46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Location" minOccurs="0"/>
                <xsd:element ref="ns2:MediaLengthInSeconds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0af6729-ca02-41fe-ad33-8052e43e59c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lcf76f155ced4ddcb4097134ff3c332f" ma:index="11" nillable="true" ma:taxonomy="true" ma:internalName="lcf76f155ced4ddcb4097134ff3c332f" ma:taxonomyFieldName="MediaServiceImageTags" ma:displayName="Balises d’images" ma:readOnly="false" ma:fieldId="{5cf76f15-5ced-4ddc-b409-7134ff3c332f}" ma:taxonomyMulti="true" ma:sspId="aa5910e2-05a9-40dc-8adb-0ff760bd223f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3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bjectDetectorVersions" ma:index="2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6f3f382-ceb1-40cb-99f5-e72dad3ad468" elementFormDefault="qualified">
    <xsd:import namespace="http://schemas.microsoft.com/office/2006/documentManagement/types"/>
    <xsd:import namespace="http://schemas.microsoft.com/office/infopath/2007/PartnerControls"/>
    <xsd:element name="TaxCatchAll" ma:index="12" nillable="true" ma:displayName="Taxonomy Catch All Column" ma:hidden="true" ma:list="{a0be584f-2fe4-4807-82a2-8b95f00e20f2}" ma:internalName="TaxCatchAll" ma:showField="CatchAllData" ma:web="96f3f382-ceb1-40cb-99f5-e72dad3ad46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7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96f3f382-ceb1-40cb-99f5-e72dad3ad468" xsi:nil="true"/>
    <lcf76f155ced4ddcb4097134ff3c332f xmlns="20af6729-ca02-41fe-ad33-8052e43e59c7">
      <Terms xmlns="http://schemas.microsoft.com/office/infopath/2007/PartnerControls"/>
    </lcf76f155ced4ddcb4097134ff3c332f>
  </documentManagement>
</p:properties>
</file>

<file path=customXml/itemProps1.xml><?xml version="1.0" encoding="utf-8"?>
<ds:datastoreItem xmlns:ds="http://schemas.openxmlformats.org/officeDocument/2006/customXml" ds:itemID="{BE50BBAE-E30E-4E78-9619-46B248827988}"/>
</file>

<file path=customXml/itemProps2.xml><?xml version="1.0" encoding="utf-8"?>
<ds:datastoreItem xmlns:ds="http://schemas.openxmlformats.org/officeDocument/2006/customXml" ds:itemID="{F079F69C-2C23-423F-AFA6-0DA966A4C7CD}"/>
</file>

<file path=customXml/itemProps3.xml><?xml version="1.0" encoding="utf-8"?>
<ds:datastoreItem xmlns:ds="http://schemas.openxmlformats.org/officeDocument/2006/customXml" ds:itemID="{4D2500C3-0BF9-4160-9EFB-6F363BE89EA2}"/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19</Slides>
  <Notes>19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2026-08-01T09:13:54Z</dcterms:created>
  <dcterms:modified xsi:type="dcterms:W3CDTF">2026-08-01T09:13:54Z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0x010100E413E88BE41E9B4697EEB1383CCFCEE9</vt:lpwstr>
  </property>
</Properties>
</file>