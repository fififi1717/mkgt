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Allocation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C2B3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4599-4413-8511-35C52911DB64}"/>
              </c:ext>
            </c:extLst>
          </c:dPt>
          <c:dPt>
            <c:idx val="1"/>
            <c:bubble3D val="0"/>
            <c:spPr>
              <a:solidFill>
                <a:srgbClr val="8B1A1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599-4413-8511-35C52911DB64}"/>
              </c:ext>
            </c:extLst>
          </c:dPt>
          <c:dPt>
            <c:idx val="2"/>
            <c:bubble3D val="0"/>
            <c:spPr>
              <a:solidFill>
                <a:srgbClr val="A0908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4599-4413-8511-35C52911DB64}"/>
              </c:ext>
            </c:extLst>
          </c:dPt>
          <c:dPt>
            <c:idx val="3"/>
            <c:bubble3D val="0"/>
            <c:spPr>
              <a:solidFill>
                <a:srgbClr val="CFC8B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4599-4413-8511-35C52911DB64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4599-4413-8511-35C52911DB64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4599-4413-8511-35C52911DB64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4599-4413-8511-35C52911DB64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4599-4413-8511-35C52911DB64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fr-FR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Immobilier</c:v>
                </c:pt>
                <c:pt idx="1">
                  <c:v>Financier</c:v>
                </c:pt>
                <c:pt idx="2">
                  <c:v>Retraite</c:v>
                </c:pt>
                <c:pt idx="3">
                  <c:v>Liquidités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30</c:v>
                </c:pt>
                <c:pt idx="2">
                  <c:v>20</c:v>
                </c:pt>
                <c:pt idx="3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4599-4413-8511-35C52911DB6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5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Liquidité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FC8B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4A28-4496-B912-79D198304420}"/>
              </c:ext>
            </c:extLst>
          </c:dPt>
          <c:dPt>
            <c:idx val="1"/>
            <c:bubble3D val="0"/>
            <c:spPr>
              <a:solidFill>
                <a:srgbClr val="1C2B3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A28-4496-B912-79D19830442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4A28-4496-B912-79D19830442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4A28-4496-B912-79D19830442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fr-FR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Liquide</c:v>
                </c:pt>
                <c:pt idx="1">
                  <c:v>Illiquide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</c:v>
                </c:pt>
                <c:pt idx="1">
                  <c:v>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A28-4496-B912-79D1983044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5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07925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2.xml"/><Relationship Id="rId4" Type="http://schemas.openxmlformats.org/officeDocument/2006/relationships/chart" Target="../charts/char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0" cy="51435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975104"/>
            <a:ext cx="1920240" cy="11887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024128" y="323697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91440" y="332841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kern="0" spc="150" dirty="0">
                <a:solidFill>
                  <a:srgbClr val="CFC8BD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Gestion Privée</a:t>
            </a:r>
            <a:endParaRPr lang="en-US" sz="850" dirty="0"/>
          </a:p>
        </p:txBody>
      </p:sp>
      <p:sp>
        <p:nvSpPr>
          <p:cNvPr id="17" name="Text 2"/>
          <p:cNvSpPr/>
          <p:nvPr/>
        </p:nvSpPr>
        <p:spPr>
          <a:xfrm>
            <a:off x="91440" y="3538416"/>
            <a:ext cx="256032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kern="0" spc="150" dirty="0">
                <a:solidFill>
                  <a:srgbClr val="CFC8BD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Gestion de fortune · Family office</a:t>
            </a:r>
            <a:endParaRPr lang="en-US" sz="850" dirty="0"/>
          </a:p>
        </p:txBody>
      </p:sp>
      <p:sp>
        <p:nvSpPr>
          <p:cNvPr id="6" name="Shape 3"/>
          <p:cNvSpPr/>
          <p:nvPr/>
        </p:nvSpPr>
        <p:spPr>
          <a:xfrm>
            <a:off x="2926080" y="118872"/>
            <a:ext cx="5715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6035040" y="173736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[MOIS ANNÉE]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3108960" y="1298448"/>
            <a:ext cx="20117" cy="1417320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3337560" y="1188720"/>
            <a:ext cx="5303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[Prénom Nom]</a:t>
            </a:r>
            <a:endParaRPr lang="en-US" sz="4600" dirty="0"/>
          </a:p>
        </p:txBody>
      </p:sp>
      <p:sp>
        <p:nvSpPr>
          <p:cNvPr id="10" name="Shape 7"/>
          <p:cNvSpPr/>
          <p:nvPr/>
        </p:nvSpPr>
        <p:spPr>
          <a:xfrm>
            <a:off x="3337560" y="2304288"/>
            <a:ext cx="502920" cy="2286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8"/>
          <p:cNvSpPr/>
          <p:nvPr/>
        </p:nvSpPr>
        <p:spPr>
          <a:xfrm>
            <a:off x="3337560" y="2514600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patrimoniale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3337560" y="3218688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·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3520440" y="321868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[Mot-clé objectif 1 · Mot-clé objectif 2 · …]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3337560" y="41605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150" dirty="0">
                <a:solidFill>
                  <a:srgbClr val="CFC8BD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Document confidentiel</a:t>
            </a:r>
            <a:endParaRPr lang="en-US" sz="750" dirty="0"/>
          </a:p>
        </p:txBody>
      </p:sp>
      <p:sp>
        <p:nvSpPr>
          <p:cNvPr id="15" name="Shape 12"/>
          <p:cNvSpPr/>
          <p:nvPr/>
        </p:nvSpPr>
        <p:spPr>
          <a:xfrm>
            <a:off x="2743200" y="4974336"/>
            <a:ext cx="64008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3108960" y="5001768"/>
            <a:ext cx="5577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document est confidentiel et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SOMMAIRE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02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Sommaire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41732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01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1078992" y="145389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Audit patrimonial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078992" y="176479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situation · Patrimoine · Fiscalité · Droits de succession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7498080" y="152704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04 — 08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02920" y="21305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4"/>
          <p:cNvSpPr/>
          <p:nvPr/>
        </p:nvSpPr>
        <p:spPr>
          <a:xfrm>
            <a:off x="502920" y="224028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02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1078992" y="227685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Diagnostic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078992" y="258775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Nos remarques · Notre diagnostic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7498080" y="23500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09 — 10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02920" y="295351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502920" y="306324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03</a:t>
            </a:r>
            <a:endParaRPr lang="en-US" sz="2800" dirty="0"/>
          </a:p>
        </p:txBody>
      </p:sp>
      <p:sp>
        <p:nvSpPr>
          <p:cNvPr id="23" name="Text 20"/>
          <p:cNvSpPr/>
          <p:nvPr/>
        </p:nvSpPr>
        <p:spPr>
          <a:xfrm>
            <a:off x="1078992" y="309981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stratégie Affilior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1078992" y="341071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Projets · Moyens · Impact · Synthèse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7498080" y="317296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12 — 15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02920" y="377647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24"/>
          <p:cNvSpPr/>
          <p:nvPr/>
        </p:nvSpPr>
        <p:spPr>
          <a:xfrm>
            <a:off x="502920" y="3886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04</a:t>
            </a:r>
            <a:endParaRPr lang="en-US" sz="2800" dirty="0"/>
          </a:p>
        </p:txBody>
      </p:sp>
      <p:sp>
        <p:nvSpPr>
          <p:cNvPr id="28" name="Text 25"/>
          <p:cNvSpPr/>
          <p:nvPr/>
        </p:nvSpPr>
        <p:spPr>
          <a:xfrm>
            <a:off x="1078992" y="392277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Accompagnement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1078992" y="423367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accompagnement · Prochaines étapes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7498080" y="399592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16 — 17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8B1A1A">
              <a:alpha val="60000"/>
            </a:srgbClr>
          </a:solidFill>
          <a:ln w="12700">
            <a:solidFill>
              <a:srgbClr val="8B1A1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0" dirty="0">
                <a:solidFill>
                  <a:srgbClr val="24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01</a:t>
            </a:r>
            <a:endParaRPr lang="en-US" sz="16000" dirty="0"/>
          </a:p>
        </p:txBody>
      </p:sp>
      <p:sp>
        <p:nvSpPr>
          <p:cNvPr id="4" name="Shape 2"/>
          <p:cNvSpPr/>
          <p:nvPr/>
        </p:nvSpPr>
        <p:spPr>
          <a:xfrm>
            <a:off x="548640" y="2487168"/>
            <a:ext cx="1097280" cy="2286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548640" y="263347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AUDIT PATRIMONIAL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33375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15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 · Patrimoine · Fiscalité · Droits de succession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04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02920" y="5943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situation</a:t>
            </a:r>
            <a:endParaRPr lang="en-US" sz="2600" dirty="0"/>
          </a:p>
        </p:txBody>
      </p:sp>
      <p:sp>
        <p:nvSpPr>
          <p:cNvPr id="10" name="Shape 7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71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ÂGE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502920" y="160934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ans — ou X et X ans si couple]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02920" y="1956816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2"/>
          <p:cNvSpPr/>
          <p:nvPr/>
        </p:nvSpPr>
        <p:spPr>
          <a:xfrm>
            <a:off x="502920" y="2029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 PROFESSIONNELLE</a:t>
            </a:r>
            <a:endParaRPr lang="en-US" sz="750" dirty="0"/>
          </a:p>
        </p:txBody>
      </p:sp>
      <p:sp>
        <p:nvSpPr>
          <p:cNvPr id="16" name="Text 13"/>
          <p:cNvSpPr/>
          <p:nvPr/>
        </p:nvSpPr>
        <p:spPr>
          <a:xfrm>
            <a:off x="502920" y="226771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[Profession · Employeur · Statut]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2615184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502920" y="2688336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 FAMILIALE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502920" y="292608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[Marié(e) / Pacsé(e) / Célibataire] sous le régime de [régime matrimonial]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02920" y="3273552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8"/>
          <p:cNvSpPr/>
          <p:nvPr/>
        </p:nvSpPr>
        <p:spPr>
          <a:xfrm>
            <a:off x="502920" y="334670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ENFANTS</a:t>
            </a:r>
            <a:endParaRPr lang="en-US" sz="750" dirty="0"/>
          </a:p>
        </p:txBody>
      </p:sp>
      <p:sp>
        <p:nvSpPr>
          <p:cNvPr id="22" name="Text 19"/>
          <p:cNvSpPr/>
          <p:nvPr/>
        </p:nvSpPr>
        <p:spPr>
          <a:xfrm>
            <a:off x="502920" y="35844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enfants âgés de X, X et X ans]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02920" y="3931920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1"/>
          <p:cNvSpPr/>
          <p:nvPr/>
        </p:nvSpPr>
        <p:spPr>
          <a:xfrm>
            <a:off x="502920" y="400507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RÉSIDENCE PRINCIPALE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502920" y="424281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[Propriétaire / Locataire] à [Ville]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4572000" y="594360"/>
            <a:ext cx="10973" cy="429768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24"/>
          <p:cNvSpPr/>
          <p:nvPr/>
        </p:nvSpPr>
        <p:spPr>
          <a:xfrm>
            <a:off x="4709160" y="1371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REVENU ANNUEL NET DÉCLARÉ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4709160" y="160934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 en [ANNÉE]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4709160" y="1956816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7"/>
          <p:cNvSpPr/>
          <p:nvPr/>
        </p:nvSpPr>
        <p:spPr>
          <a:xfrm>
            <a:off x="4709160" y="2029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ÉPARGNE MENSUELLE CAPACITÉ</a:t>
            </a:r>
            <a:endParaRPr lang="en-US" sz="750" dirty="0"/>
          </a:p>
        </p:txBody>
      </p:sp>
      <p:sp>
        <p:nvSpPr>
          <p:cNvPr id="31" name="Text 28"/>
          <p:cNvSpPr/>
          <p:nvPr/>
        </p:nvSpPr>
        <p:spPr>
          <a:xfrm>
            <a:off x="4709160" y="226771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€]/mois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709160" y="2615184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Text 30"/>
          <p:cNvSpPr/>
          <p:nvPr/>
        </p:nvSpPr>
        <p:spPr>
          <a:xfrm>
            <a:off x="4709160" y="2688336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 PARTICULIÈRE</a:t>
            </a:r>
            <a:endParaRPr lang="en-US" sz="750" dirty="0"/>
          </a:p>
        </p:txBody>
      </p:sp>
      <p:sp>
        <p:nvSpPr>
          <p:cNvPr id="34" name="Text 31"/>
          <p:cNvSpPr/>
          <p:nvPr/>
        </p:nvSpPr>
        <p:spPr>
          <a:xfrm>
            <a:off x="4709160" y="292608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[AGA, BSPCE, stock-options, gérance, etc.]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PATRIMOINE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05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patrimoine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0" name="Shape 67"/>
          <p:cNvSpPr/>
          <p:nvPr/>
        </p:nvSpPr>
        <p:spPr>
          <a:xfrm>
            <a:off x="5989320" y="1371600"/>
            <a:ext cx="10973" cy="338328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1" name="Text 68"/>
          <p:cNvSpPr/>
          <p:nvPr/>
        </p:nvSpPr>
        <p:spPr>
          <a:xfrm>
            <a:off x="6144768" y="137160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RÉPARTITION VISUELLE</a:t>
            </a:r>
            <a:endParaRPr lang="en-US" sz="750" dirty="0"/>
          </a:p>
        </p:txBody>
      </p:sp>
      <p:sp>
        <p:nvSpPr>
          <p:cNvPr id="72" name="Text 69"/>
          <p:cNvSpPr/>
          <p:nvPr/>
        </p:nvSpPr>
        <p:spPr>
          <a:xfrm>
            <a:off x="6144768" y="1609344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mettre à jour selon les montants — adapter les largeurs proportionnellement.</a:t>
            </a:r>
            <a:endParaRPr lang="en-US" sz="900" dirty="0"/>
          </a:p>
        </p:txBody>
      </p:sp>
      <p:sp>
        <p:nvSpPr>
          <p:cNvPr id="73" name="Text 70"/>
          <p:cNvSpPr/>
          <p:nvPr/>
        </p:nvSpPr>
        <p:spPr>
          <a:xfrm>
            <a:off x="6144768" y="208483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Immobilier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>
            <a:off x="6144768" y="2286000"/>
            <a:ext cx="1028700" cy="256032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5" name="Text 72"/>
          <p:cNvSpPr/>
          <p:nvPr/>
        </p:nvSpPr>
        <p:spPr>
          <a:xfrm>
            <a:off x="7246620" y="22860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45 %</a:t>
            </a:r>
            <a:endParaRPr lang="en-US" sz="900" dirty="0"/>
          </a:p>
        </p:txBody>
      </p:sp>
      <p:sp>
        <p:nvSpPr>
          <p:cNvPr id="76" name="Text 73"/>
          <p:cNvSpPr/>
          <p:nvPr/>
        </p:nvSpPr>
        <p:spPr>
          <a:xfrm>
            <a:off x="6144768" y="277063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Placements financiers</a:t>
            </a:r>
            <a:endParaRPr lang="en-US" sz="850" dirty="0"/>
          </a:p>
        </p:txBody>
      </p:sp>
      <p:sp>
        <p:nvSpPr>
          <p:cNvPr id="77" name="Shape 74"/>
          <p:cNvSpPr/>
          <p:nvPr/>
        </p:nvSpPr>
        <p:spPr>
          <a:xfrm>
            <a:off x="6144768" y="2971800"/>
            <a:ext cx="800100" cy="256032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8" name="Text 75"/>
          <p:cNvSpPr/>
          <p:nvPr/>
        </p:nvSpPr>
        <p:spPr>
          <a:xfrm>
            <a:off x="7018020" y="29718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35 %</a:t>
            </a:r>
            <a:endParaRPr lang="en-US" sz="900" dirty="0"/>
          </a:p>
        </p:txBody>
      </p:sp>
      <p:sp>
        <p:nvSpPr>
          <p:cNvPr id="79" name="Text 76"/>
          <p:cNvSpPr/>
          <p:nvPr/>
        </p:nvSpPr>
        <p:spPr>
          <a:xfrm>
            <a:off x="6144768" y="345643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Épargne entreprise</a:t>
            </a:r>
            <a:endParaRPr lang="en-US" sz="850" dirty="0"/>
          </a:p>
        </p:txBody>
      </p:sp>
      <p:sp>
        <p:nvSpPr>
          <p:cNvPr id="80" name="Shape 77"/>
          <p:cNvSpPr/>
          <p:nvPr/>
        </p:nvSpPr>
        <p:spPr>
          <a:xfrm>
            <a:off x="6144768" y="3657600"/>
            <a:ext cx="274320" cy="256032"/>
          </a:xfrm>
          <a:prstGeom prst="rect">
            <a:avLst/>
          </a:prstGeom>
          <a:solidFill>
            <a:srgbClr val="6B8CAE"/>
          </a:solidFill>
          <a:ln w="12700">
            <a:solidFill>
              <a:srgbClr val="6B8CA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1" name="Text 78"/>
          <p:cNvSpPr/>
          <p:nvPr/>
        </p:nvSpPr>
        <p:spPr>
          <a:xfrm>
            <a:off x="6492240" y="36576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12 %</a:t>
            </a:r>
            <a:endParaRPr lang="en-US" sz="900" dirty="0"/>
          </a:p>
        </p:txBody>
      </p:sp>
      <p:sp>
        <p:nvSpPr>
          <p:cNvPr id="82" name="Text 79"/>
          <p:cNvSpPr/>
          <p:nvPr/>
        </p:nvSpPr>
        <p:spPr>
          <a:xfrm>
            <a:off x="6144768" y="414223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Autres</a:t>
            </a:r>
            <a:endParaRPr lang="en-US" sz="850" dirty="0"/>
          </a:p>
        </p:txBody>
      </p:sp>
      <p:sp>
        <p:nvSpPr>
          <p:cNvPr id="83" name="Shape 80"/>
          <p:cNvSpPr/>
          <p:nvPr/>
        </p:nvSpPr>
        <p:spPr>
          <a:xfrm>
            <a:off x="6144768" y="4343400"/>
            <a:ext cx="182880" cy="256032"/>
          </a:xfrm>
          <a:prstGeom prst="rect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4" name="Text 81"/>
          <p:cNvSpPr/>
          <p:nvPr/>
        </p:nvSpPr>
        <p:spPr>
          <a:xfrm>
            <a:off x="6400800" y="43434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8 %</a:t>
            </a:r>
            <a:endParaRPr lang="en-US" sz="900" dirty="0"/>
          </a:p>
        </p:txBody>
      </p:sp>
      <p:sp>
        <p:nvSpPr>
          <p:cNvPr id="85" name="Text 82"/>
          <p:cNvSpPr/>
          <p:nvPr/>
        </p:nvSpPr>
        <p:spPr>
          <a:xfrm>
            <a:off x="6144768" y="4754880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Illustration — valeurs à personnaliser</a:t>
            </a:r>
            <a:endParaRPr lang="en-US" sz="750" dirty="0"/>
          </a:p>
        </p:txBody>
      </p:sp>
      <p:sp>
        <p:nvSpPr>
          <p:cNvPr id="86" name="Text 83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  <p:sp>
        <p:nvSpPr>
          <p:cNvPr id="88" name="Shape 8">
            <a:extLst>
              <a:ext uri="{FF2B5EF4-FFF2-40B4-BE49-F238E27FC236}">
                <a16:creationId xmlns:a16="http://schemas.microsoft.com/office/drawing/2014/main" id="{A7BF4CE1-7DE6-D9E9-BB09-74698E5EECD1}"/>
              </a:ext>
            </a:extLst>
          </p:cNvPr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/>
          </a:p>
        </p:txBody>
      </p:sp>
      <p:graphicFrame>
        <p:nvGraphicFramePr>
          <p:cNvPr id="90" name="Table 86">
            <a:extLst>
              <a:ext uri="{FF2B5EF4-FFF2-40B4-BE49-F238E27FC236}">
                <a16:creationId xmlns:a16="http://schemas.microsoft.com/office/drawing/2014/main" id="{46A68E02-24B7-A096-7122-839418A02BCC}"/>
              </a:ext>
            </a:extLst>
          </p:cNvPr>
          <p:cNvGraphicFramePr>
            <a:graphicFrameLocks noGrp="1"/>
          </p:cNvGraphicFramePr>
          <p:nvPr/>
        </p:nvGraphicFramePr>
        <p:xfrm>
          <a:off x="502920" y="1207008"/>
          <a:ext cx="5486400" cy="35610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00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Actif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Propriétaire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Détention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Montant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1]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2]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3]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4]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5]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6]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7]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8]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9]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10]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PATRIMOINE · ALLOCATION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06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02920" y="566928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Répartition du patrimoine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502920" y="108813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4617720" y="1188720"/>
            <a:ext cx="10973" cy="347472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26187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PAR CLASSE D'ACTIFS</a:t>
            </a:r>
            <a:endParaRPr lang="en-US" sz="750" dirty="0"/>
          </a:p>
        </p:txBody>
      </p:sp>
      <p:graphicFrame>
        <p:nvGraphicFramePr>
          <p:cNvPr id="13" name="Chart 0"/>
          <p:cNvGraphicFramePr/>
          <p:nvPr/>
        </p:nvGraphicFramePr>
        <p:xfrm>
          <a:off x="274320" y="1389888"/>
          <a:ext cx="4206240" cy="2423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4" name="Shape 10"/>
          <p:cNvSpPr/>
          <p:nvPr/>
        </p:nvSpPr>
        <p:spPr>
          <a:xfrm>
            <a:off x="502920" y="3941064"/>
            <a:ext cx="118872" cy="118872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1"/>
          <p:cNvSpPr/>
          <p:nvPr/>
        </p:nvSpPr>
        <p:spPr>
          <a:xfrm>
            <a:off x="685800" y="3913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Immobilier</a:t>
            </a:r>
            <a:endParaRPr lang="en-US" sz="850" dirty="0"/>
          </a:p>
        </p:txBody>
      </p:sp>
      <p:sp>
        <p:nvSpPr>
          <p:cNvPr id="16" name="Text 12"/>
          <p:cNvSpPr/>
          <p:nvPr/>
        </p:nvSpPr>
        <p:spPr>
          <a:xfrm>
            <a:off x="1828800" y="39136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2423160" y="3941064"/>
            <a:ext cx="118872" cy="118872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4"/>
          <p:cNvSpPr/>
          <p:nvPr/>
        </p:nvSpPr>
        <p:spPr>
          <a:xfrm>
            <a:off x="2606040" y="3913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Financier</a:t>
            </a:r>
            <a:endParaRPr lang="en-US" sz="850" dirty="0"/>
          </a:p>
        </p:txBody>
      </p:sp>
      <p:sp>
        <p:nvSpPr>
          <p:cNvPr id="19" name="Text 15"/>
          <p:cNvSpPr/>
          <p:nvPr/>
        </p:nvSpPr>
        <p:spPr>
          <a:xfrm>
            <a:off x="3749040" y="39136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502920" y="4178808"/>
            <a:ext cx="118872" cy="118872"/>
          </a:xfrm>
          <a:prstGeom prst="rect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7"/>
          <p:cNvSpPr/>
          <p:nvPr/>
        </p:nvSpPr>
        <p:spPr>
          <a:xfrm>
            <a:off x="685800" y="415137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Retraite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1828800" y="4151376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23" name="Shape 19"/>
          <p:cNvSpPr/>
          <p:nvPr/>
        </p:nvSpPr>
        <p:spPr>
          <a:xfrm>
            <a:off x="2423160" y="4178808"/>
            <a:ext cx="118872" cy="118872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0"/>
          <p:cNvSpPr/>
          <p:nvPr/>
        </p:nvSpPr>
        <p:spPr>
          <a:xfrm>
            <a:off x="2606040" y="415137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Liquidités</a:t>
            </a:r>
            <a:endParaRPr lang="en-US" sz="850" dirty="0"/>
          </a:p>
        </p:txBody>
      </p:sp>
      <p:sp>
        <p:nvSpPr>
          <p:cNvPr id="25" name="Text 21"/>
          <p:cNvSpPr/>
          <p:nvPr/>
        </p:nvSpPr>
        <p:spPr>
          <a:xfrm>
            <a:off x="3749040" y="4151376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26" name="Text 22"/>
          <p:cNvSpPr/>
          <p:nvPr/>
        </p:nvSpPr>
        <p:spPr>
          <a:xfrm>
            <a:off x="4754880" y="126187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PAR LIQUIDITÉ</a:t>
            </a:r>
            <a:endParaRPr lang="en-US" sz="750" dirty="0"/>
          </a:p>
        </p:txBody>
      </p:sp>
      <p:graphicFrame>
        <p:nvGraphicFramePr>
          <p:cNvPr id="27" name="Chart 1"/>
          <p:cNvGraphicFramePr/>
          <p:nvPr/>
        </p:nvGraphicFramePr>
        <p:xfrm>
          <a:off x="4617720" y="1389888"/>
          <a:ext cx="3931920" cy="2423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28" name="Shape 23"/>
          <p:cNvSpPr/>
          <p:nvPr/>
        </p:nvSpPr>
        <p:spPr>
          <a:xfrm>
            <a:off x="4754880" y="3941064"/>
            <a:ext cx="118872" cy="118872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4"/>
          <p:cNvSpPr/>
          <p:nvPr/>
        </p:nvSpPr>
        <p:spPr>
          <a:xfrm>
            <a:off x="4937760" y="3913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</a:t>
            </a:r>
            <a:endParaRPr lang="en-US" sz="850" dirty="0"/>
          </a:p>
        </p:txBody>
      </p:sp>
      <p:sp>
        <p:nvSpPr>
          <p:cNvPr id="30" name="Text 25"/>
          <p:cNvSpPr/>
          <p:nvPr/>
        </p:nvSpPr>
        <p:spPr>
          <a:xfrm>
            <a:off x="6080760" y="39136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31" name="Shape 26"/>
          <p:cNvSpPr/>
          <p:nvPr/>
        </p:nvSpPr>
        <p:spPr>
          <a:xfrm>
            <a:off x="6675120" y="3941064"/>
            <a:ext cx="118872" cy="118872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27"/>
          <p:cNvSpPr/>
          <p:nvPr/>
        </p:nvSpPr>
        <p:spPr>
          <a:xfrm>
            <a:off x="6858000" y="3913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Illiquide</a:t>
            </a:r>
            <a:endParaRPr lang="en-US" sz="850" dirty="0"/>
          </a:p>
        </p:txBody>
      </p:sp>
      <p:sp>
        <p:nvSpPr>
          <p:cNvPr id="33" name="Text 28"/>
          <p:cNvSpPr/>
          <p:nvPr/>
        </p:nvSpPr>
        <p:spPr>
          <a:xfrm>
            <a:off x="8001000" y="39136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34" name="Shape 29"/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Text 30"/>
          <p:cNvSpPr/>
          <p:nvPr/>
        </p:nvSpPr>
        <p:spPr>
          <a:xfrm>
            <a:off x="502920" y="4681728"/>
            <a:ext cx="8001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estimées sur la base des éléments communiqués. À mettre à jour lors de chaque revue patrimoniale.</a:t>
            </a:r>
            <a:endParaRPr lang="en-US" sz="700" dirty="0"/>
          </a:p>
        </p:txBody>
      </p:sp>
      <p:sp>
        <p:nvSpPr>
          <p:cNvPr id="36" name="Text 31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FISCALITÉ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06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Fiscalité et budget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7160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TMI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502920" y="1627632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%]</a:t>
            </a:r>
            <a:endParaRPr lang="en-US" sz="6000" dirty="0"/>
          </a:p>
        </p:txBody>
      </p:sp>
      <p:sp>
        <p:nvSpPr>
          <p:cNvPr id="14" name="Shape 11"/>
          <p:cNvSpPr/>
          <p:nvPr/>
        </p:nvSpPr>
        <p:spPr>
          <a:xfrm>
            <a:off x="502920" y="2606040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2"/>
          <p:cNvSpPr/>
          <p:nvPr/>
        </p:nvSpPr>
        <p:spPr>
          <a:xfrm>
            <a:off x="502920" y="272491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[Tranche marginale applicable — noter CEHR si applicable]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3931920" y="1371600"/>
            <a:ext cx="10973" cy="333756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4"/>
          <p:cNvSpPr/>
          <p:nvPr/>
        </p:nvSpPr>
        <p:spPr>
          <a:xfrm>
            <a:off x="4114800" y="137160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 D'IMPÔTS [ANNÉE]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4114800" y="159105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4114800" y="2194560"/>
            <a:ext cx="196596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6217920" y="137160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DES REVENUS EN IMPÔTS</a:t>
            </a:r>
            <a:endParaRPr lang="en-US" sz="700" dirty="0"/>
          </a:p>
        </p:txBody>
      </p:sp>
      <p:sp>
        <p:nvSpPr>
          <p:cNvPr id="21" name="Text 18"/>
          <p:cNvSpPr/>
          <p:nvPr/>
        </p:nvSpPr>
        <p:spPr>
          <a:xfrm>
            <a:off x="6217920" y="159105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[X,XX %]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6217920" y="2194560"/>
            <a:ext cx="196596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0"/>
          <p:cNvSpPr/>
          <p:nvPr/>
        </p:nvSpPr>
        <p:spPr>
          <a:xfrm>
            <a:off x="4114800" y="256032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D'ENDETTEMENT</a:t>
            </a:r>
            <a:endParaRPr lang="en-US" sz="700" dirty="0"/>
          </a:p>
        </p:txBody>
      </p:sp>
      <p:sp>
        <p:nvSpPr>
          <p:cNvPr id="24" name="Text 21"/>
          <p:cNvSpPr/>
          <p:nvPr/>
        </p:nvSpPr>
        <p:spPr>
          <a:xfrm>
            <a:off x="4114800" y="277977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[X,XX %]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114800" y="3383280"/>
            <a:ext cx="196596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6217920" y="256032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AVANT TRANCHE SUP.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6217920" y="277977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6217920" y="3383280"/>
            <a:ext cx="196596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6"/>
          <p:cNvSpPr/>
          <p:nvPr/>
        </p:nvSpPr>
        <p:spPr>
          <a:xfrm>
            <a:off x="4114800" y="374904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DISPONIBLE FISCAL PER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4114800" y="396849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31" name="Text 28"/>
          <p:cNvSpPr/>
          <p:nvPr/>
        </p:nvSpPr>
        <p:spPr>
          <a:xfrm>
            <a:off x="6217920" y="374904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REVENUS NETS MENSUELS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6217920" y="396849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€]/mois</a:t>
            </a:r>
            <a:endParaRPr lang="en-US" sz="1800" dirty="0"/>
          </a:p>
        </p:txBody>
      </p:sp>
      <p:sp>
        <p:nvSpPr>
          <p:cNvPr id="33" name="Text 30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2">
            <a:extLst>
              <a:ext uri="{FF2B5EF4-FFF2-40B4-BE49-F238E27FC236}">
                <a16:creationId xmlns:a16="http://schemas.microsoft.com/office/drawing/2014/main" id="{0E6925D7-BF86-4798-00C2-7DA4B83F1F10}"/>
              </a:ext>
            </a:extLst>
          </p:cNvPr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4" name="Shape 0">
            <a:extLst>
              <a:ext uri="{FF2B5EF4-FFF2-40B4-BE49-F238E27FC236}">
                <a16:creationId xmlns:a16="http://schemas.microsoft.com/office/drawing/2014/main" id="{0D4A3E05-85C1-D1F5-9F75-3EA44378DD38}"/>
              </a:ext>
            </a:extLst>
          </p:cNvPr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8" name="Shape 1">
            <a:extLst>
              <a:ext uri="{FF2B5EF4-FFF2-40B4-BE49-F238E27FC236}">
                <a16:creationId xmlns:a16="http://schemas.microsoft.com/office/drawing/2014/main" id="{5F70B095-D39F-4EA1-33E6-40ECEDF3FC04}"/>
              </a:ext>
            </a:extLst>
          </p:cNvPr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32" name="Image 0" descr="preencoded.png">
            <a:extLst>
              <a:ext uri="{FF2B5EF4-FFF2-40B4-BE49-F238E27FC236}">
                <a16:creationId xmlns:a16="http://schemas.microsoft.com/office/drawing/2014/main" id="{38FAB918-3360-3212-90E1-A89EF06E06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136" name="Shape 3">
            <a:extLst>
              <a:ext uri="{FF2B5EF4-FFF2-40B4-BE49-F238E27FC236}">
                <a16:creationId xmlns:a16="http://schemas.microsoft.com/office/drawing/2014/main" id="{9A476FF6-4651-2FB7-DA21-B4372E30A410}"/>
              </a:ext>
            </a:extLst>
          </p:cNvPr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9" name="Text 4">
            <a:extLst>
              <a:ext uri="{FF2B5EF4-FFF2-40B4-BE49-F238E27FC236}">
                <a16:creationId xmlns:a16="http://schemas.microsoft.com/office/drawing/2014/main" id="{0CEADF81-E3DE-D562-33E0-C2C6762A2135}"/>
              </a:ext>
            </a:extLst>
          </p:cNvPr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SUCCESSION · DROITS ESTIMÉS</a:t>
            </a:r>
            <a:endParaRPr lang="en-US" sz="750" dirty="0"/>
          </a:p>
        </p:txBody>
      </p:sp>
      <p:sp>
        <p:nvSpPr>
          <p:cNvPr id="141" name="Text 5">
            <a:extLst>
              <a:ext uri="{FF2B5EF4-FFF2-40B4-BE49-F238E27FC236}">
                <a16:creationId xmlns:a16="http://schemas.microsoft.com/office/drawing/2014/main" id="{41D73E14-2473-94E7-B98A-E551ADC9B175}"/>
              </a:ext>
            </a:extLst>
          </p:cNvPr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8</a:t>
            </a:r>
            <a:endParaRPr lang="en-US" sz="700" dirty="0"/>
          </a:p>
        </p:txBody>
      </p:sp>
      <p:sp>
        <p:nvSpPr>
          <p:cNvPr id="143" name="Text 6">
            <a:extLst>
              <a:ext uri="{FF2B5EF4-FFF2-40B4-BE49-F238E27FC236}">
                <a16:creationId xmlns:a16="http://schemas.microsoft.com/office/drawing/2014/main" id="{AED9436E-91A0-8369-7760-A835861914F5}"/>
              </a:ext>
            </a:extLst>
          </p:cNvPr>
          <p:cNvSpPr/>
          <p:nvPr/>
        </p:nvSpPr>
        <p:spPr>
          <a:xfrm>
            <a:off x="502920" y="566928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Droits de succession estimés</a:t>
            </a:r>
            <a:endParaRPr lang="en-US" sz="2400" dirty="0"/>
          </a:p>
        </p:txBody>
      </p:sp>
      <p:sp>
        <p:nvSpPr>
          <p:cNvPr id="145" name="Shape 7">
            <a:extLst>
              <a:ext uri="{FF2B5EF4-FFF2-40B4-BE49-F238E27FC236}">
                <a16:creationId xmlns:a16="http://schemas.microsoft.com/office/drawing/2014/main" id="{A2A085BF-4B36-1E6B-7FAE-53824B6A0D42}"/>
              </a:ext>
            </a:extLst>
          </p:cNvPr>
          <p:cNvSpPr/>
          <p:nvPr/>
        </p:nvSpPr>
        <p:spPr>
          <a:xfrm>
            <a:off x="502920" y="108813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7" name="Shape 8">
            <a:extLst>
              <a:ext uri="{FF2B5EF4-FFF2-40B4-BE49-F238E27FC236}">
                <a16:creationId xmlns:a16="http://schemas.microsoft.com/office/drawing/2014/main" id="{1437053C-9B1D-377F-36DF-CD1110CD897C}"/>
              </a:ext>
            </a:extLst>
          </p:cNvPr>
          <p:cNvSpPr/>
          <p:nvPr/>
        </p:nvSpPr>
        <p:spPr>
          <a:xfrm>
            <a:off x="502920" y="1188720"/>
            <a:ext cx="2450592" cy="340128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9" name="Text 9">
            <a:extLst>
              <a:ext uri="{FF2B5EF4-FFF2-40B4-BE49-F238E27FC236}">
                <a16:creationId xmlns:a16="http://schemas.microsoft.com/office/drawing/2014/main" id="{F07770C3-A383-84AA-A931-ACB99E378E3E}"/>
              </a:ext>
            </a:extLst>
          </p:cNvPr>
          <p:cNvSpPr/>
          <p:nvPr/>
        </p:nvSpPr>
        <p:spPr>
          <a:xfrm>
            <a:off x="658368" y="1353312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1ER DÉCÈS</a:t>
            </a:r>
            <a:endParaRPr lang="en-US" sz="750" dirty="0"/>
          </a:p>
        </p:txBody>
      </p:sp>
      <p:sp>
        <p:nvSpPr>
          <p:cNvPr id="151" name="Text 10">
            <a:extLst>
              <a:ext uri="{FF2B5EF4-FFF2-40B4-BE49-F238E27FC236}">
                <a16:creationId xmlns:a16="http://schemas.microsoft.com/office/drawing/2014/main" id="{5EB555D2-6850-08A9-9931-F612A581275F}"/>
              </a:ext>
            </a:extLst>
          </p:cNvPr>
          <p:cNvSpPr/>
          <p:nvPr/>
        </p:nvSpPr>
        <p:spPr>
          <a:xfrm>
            <a:off x="658368" y="1609344"/>
            <a:ext cx="21396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PRÉDÉCÈS</a:t>
            </a:r>
            <a:endParaRPr lang="en-US" sz="950" dirty="0"/>
          </a:p>
          <a:p>
            <a:pPr marL="0" indent="0">
              <a:buNone/>
            </a:pPr>
            <a:r>
              <a:rPr lang="en-US" sz="950" i="1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MME S.B.</a:t>
            </a:r>
            <a:endParaRPr lang="en-US" sz="950" dirty="0"/>
          </a:p>
        </p:txBody>
      </p:sp>
      <p:sp>
        <p:nvSpPr>
          <p:cNvPr id="153" name="Shape 11">
            <a:extLst>
              <a:ext uri="{FF2B5EF4-FFF2-40B4-BE49-F238E27FC236}">
                <a16:creationId xmlns:a16="http://schemas.microsoft.com/office/drawing/2014/main" id="{01038039-CBAD-B59B-8068-C65C8868B4E8}"/>
              </a:ext>
            </a:extLst>
          </p:cNvPr>
          <p:cNvSpPr/>
          <p:nvPr/>
        </p:nvSpPr>
        <p:spPr>
          <a:xfrm>
            <a:off x="658368" y="2103120"/>
            <a:ext cx="1645920" cy="10973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5" name="Text 12">
            <a:extLst>
              <a:ext uri="{FF2B5EF4-FFF2-40B4-BE49-F238E27FC236}">
                <a16:creationId xmlns:a16="http://schemas.microsoft.com/office/drawing/2014/main" id="{93D743EC-33BC-160B-BE42-6D0F8EC4EC73}"/>
              </a:ext>
            </a:extLst>
          </p:cNvPr>
          <p:cNvSpPr/>
          <p:nvPr/>
        </p:nvSpPr>
        <p:spPr>
          <a:xfrm>
            <a:off x="658368" y="2212848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80" i="1" dirty="0">
                <a:solidFill>
                  <a:srgbClr val="4A556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135 042 €</a:t>
            </a:r>
            <a:endParaRPr lang="en-US" sz="4400" dirty="0"/>
          </a:p>
        </p:txBody>
      </p:sp>
      <p:sp>
        <p:nvSpPr>
          <p:cNvPr id="157" name="Text 13">
            <a:extLst>
              <a:ext uri="{FF2B5EF4-FFF2-40B4-BE49-F238E27FC236}">
                <a16:creationId xmlns:a16="http://schemas.microsoft.com/office/drawing/2014/main" id="{3F9B1DF1-2B7B-E327-D558-D00FB9DE0315}"/>
              </a:ext>
            </a:extLst>
          </p:cNvPr>
          <p:cNvSpPr/>
          <p:nvPr/>
        </p:nvSpPr>
        <p:spPr>
          <a:xfrm>
            <a:off x="658368" y="3246120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droits exigibles</a:t>
            </a:r>
            <a:endParaRPr lang="en-US" sz="800" dirty="0"/>
          </a:p>
        </p:txBody>
      </p:sp>
      <p:sp>
        <p:nvSpPr>
          <p:cNvPr id="159" name="Text 14">
            <a:extLst>
              <a:ext uri="{FF2B5EF4-FFF2-40B4-BE49-F238E27FC236}">
                <a16:creationId xmlns:a16="http://schemas.microsoft.com/office/drawing/2014/main" id="{B7F94E8C-0728-E667-18D8-E49659B18178}"/>
              </a:ext>
            </a:extLst>
          </p:cNvPr>
          <p:cNvSpPr/>
          <p:nvPr/>
        </p:nvSpPr>
        <p:spPr>
          <a:xfrm>
            <a:off x="658368" y="34930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enfant (×4)</a:t>
            </a:r>
            <a:endParaRPr lang="en-US" sz="850" dirty="0"/>
          </a:p>
        </p:txBody>
      </p:sp>
      <p:sp>
        <p:nvSpPr>
          <p:cNvPr id="161" name="Text 15">
            <a:extLst>
              <a:ext uri="{FF2B5EF4-FFF2-40B4-BE49-F238E27FC236}">
                <a16:creationId xmlns:a16="http://schemas.microsoft.com/office/drawing/2014/main" id="{B04634B6-3EC1-6C8E-DCBD-778E4E9F7A6F}"/>
              </a:ext>
            </a:extLst>
          </p:cNvPr>
          <p:cNvSpPr/>
          <p:nvPr/>
        </p:nvSpPr>
        <p:spPr>
          <a:xfrm>
            <a:off x="1828800" y="3493008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33 760 €</a:t>
            </a:r>
            <a:endParaRPr lang="en-US" sz="850" dirty="0"/>
          </a:p>
        </p:txBody>
      </p:sp>
      <p:sp>
        <p:nvSpPr>
          <p:cNvPr id="163" name="Text 18">
            <a:extLst>
              <a:ext uri="{FF2B5EF4-FFF2-40B4-BE49-F238E27FC236}">
                <a16:creationId xmlns:a16="http://schemas.microsoft.com/office/drawing/2014/main" id="{FB8A256A-ECB9-864A-AEB3-796B7B8A8A67}"/>
              </a:ext>
            </a:extLst>
          </p:cNvPr>
          <p:cNvSpPr/>
          <p:nvPr/>
        </p:nvSpPr>
        <p:spPr>
          <a:xfrm>
            <a:off x="658368" y="374904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Conjoint</a:t>
            </a:r>
            <a:endParaRPr lang="en-US" sz="850" dirty="0"/>
          </a:p>
        </p:txBody>
      </p:sp>
      <p:sp>
        <p:nvSpPr>
          <p:cNvPr id="165" name="Text 18">
            <a:extLst>
              <a:ext uri="{FF2B5EF4-FFF2-40B4-BE49-F238E27FC236}">
                <a16:creationId xmlns:a16="http://schemas.microsoft.com/office/drawing/2014/main" id="{474B0C80-BCFA-CF36-BDAE-9A452E3F3FFD}"/>
              </a:ext>
            </a:extLst>
          </p:cNvPr>
          <p:cNvSpPr/>
          <p:nvPr/>
        </p:nvSpPr>
        <p:spPr>
          <a:xfrm>
            <a:off x="658368" y="4005072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Capitaux décès</a:t>
            </a:r>
            <a:endParaRPr lang="en-US" sz="850" dirty="0"/>
          </a:p>
        </p:txBody>
      </p:sp>
      <p:sp>
        <p:nvSpPr>
          <p:cNvPr id="167" name="Text 19">
            <a:extLst>
              <a:ext uri="{FF2B5EF4-FFF2-40B4-BE49-F238E27FC236}">
                <a16:creationId xmlns:a16="http://schemas.microsoft.com/office/drawing/2014/main" id="{D08C26A5-EA98-A3FC-6921-E82295220E23}"/>
              </a:ext>
            </a:extLst>
          </p:cNvPr>
          <p:cNvSpPr/>
          <p:nvPr/>
        </p:nvSpPr>
        <p:spPr>
          <a:xfrm>
            <a:off x="1828800" y="3749040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EXONÉRÉ</a:t>
            </a:r>
            <a:endParaRPr lang="en-US" sz="850" dirty="0"/>
          </a:p>
        </p:txBody>
      </p:sp>
      <p:sp>
        <p:nvSpPr>
          <p:cNvPr id="169" name="Text 19">
            <a:extLst>
              <a:ext uri="{FF2B5EF4-FFF2-40B4-BE49-F238E27FC236}">
                <a16:creationId xmlns:a16="http://schemas.microsoft.com/office/drawing/2014/main" id="{5ADF227B-2398-D590-A662-C8014FC42395}"/>
              </a:ext>
            </a:extLst>
          </p:cNvPr>
          <p:cNvSpPr/>
          <p:nvPr/>
        </p:nvSpPr>
        <p:spPr>
          <a:xfrm>
            <a:off x="1828800" y="4005072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20 000 €</a:t>
            </a:r>
            <a:endParaRPr lang="en-US" sz="850" dirty="0"/>
          </a:p>
        </p:txBody>
      </p:sp>
      <p:sp>
        <p:nvSpPr>
          <p:cNvPr id="171" name="Shape 20">
            <a:extLst>
              <a:ext uri="{FF2B5EF4-FFF2-40B4-BE49-F238E27FC236}">
                <a16:creationId xmlns:a16="http://schemas.microsoft.com/office/drawing/2014/main" id="{B4FA201D-D7B6-5C3A-CB30-5EFDA89ECF73}"/>
              </a:ext>
            </a:extLst>
          </p:cNvPr>
          <p:cNvSpPr/>
          <p:nvPr/>
        </p:nvSpPr>
        <p:spPr>
          <a:xfrm>
            <a:off x="3163824" y="1188720"/>
            <a:ext cx="2450592" cy="340128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3" name="Text 21">
            <a:extLst>
              <a:ext uri="{FF2B5EF4-FFF2-40B4-BE49-F238E27FC236}">
                <a16:creationId xmlns:a16="http://schemas.microsoft.com/office/drawing/2014/main" id="{0E23C2D5-C4F0-D488-529C-E28221A15191}"/>
              </a:ext>
            </a:extLst>
          </p:cNvPr>
          <p:cNvSpPr/>
          <p:nvPr/>
        </p:nvSpPr>
        <p:spPr>
          <a:xfrm>
            <a:off x="3310128" y="1353312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2ÈME DÉCÈS</a:t>
            </a:r>
            <a:endParaRPr lang="en-US" sz="750" dirty="0"/>
          </a:p>
        </p:txBody>
      </p:sp>
      <p:sp>
        <p:nvSpPr>
          <p:cNvPr id="175" name="Text 22">
            <a:extLst>
              <a:ext uri="{FF2B5EF4-FFF2-40B4-BE49-F238E27FC236}">
                <a16:creationId xmlns:a16="http://schemas.microsoft.com/office/drawing/2014/main" id="{48EF1E30-8666-B7E8-C4E7-7B0742E9AD10}"/>
              </a:ext>
            </a:extLst>
          </p:cNvPr>
          <p:cNvSpPr/>
          <p:nvPr/>
        </p:nvSpPr>
        <p:spPr>
          <a:xfrm>
            <a:off x="3310128" y="1609344"/>
            <a:ext cx="21396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DÉCÈS</a:t>
            </a:r>
            <a:endParaRPr lang="en-US" sz="950" dirty="0"/>
          </a:p>
          <a:p>
            <a:pPr marL="0" indent="0">
              <a:buNone/>
            </a:pPr>
            <a:r>
              <a:rPr lang="en-US" sz="95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M. D.B.</a:t>
            </a:r>
            <a:endParaRPr lang="en-US" sz="950" dirty="0"/>
          </a:p>
        </p:txBody>
      </p:sp>
      <p:sp>
        <p:nvSpPr>
          <p:cNvPr id="177" name="Shape 23">
            <a:extLst>
              <a:ext uri="{FF2B5EF4-FFF2-40B4-BE49-F238E27FC236}">
                <a16:creationId xmlns:a16="http://schemas.microsoft.com/office/drawing/2014/main" id="{ED9B07F3-80C7-4972-A9C2-4E73DB2C7E67}"/>
              </a:ext>
            </a:extLst>
          </p:cNvPr>
          <p:cNvSpPr/>
          <p:nvPr/>
        </p:nvSpPr>
        <p:spPr>
          <a:xfrm>
            <a:off x="3310128" y="2103120"/>
            <a:ext cx="16459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9" name="Text 24">
            <a:extLst>
              <a:ext uri="{FF2B5EF4-FFF2-40B4-BE49-F238E27FC236}">
                <a16:creationId xmlns:a16="http://schemas.microsoft.com/office/drawing/2014/main" id="{605CB9C9-F72E-DBA4-48AF-545123FF008E}"/>
              </a:ext>
            </a:extLst>
          </p:cNvPr>
          <p:cNvSpPr/>
          <p:nvPr/>
        </p:nvSpPr>
        <p:spPr>
          <a:xfrm>
            <a:off x="3310128" y="2212848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80" i="1" dirty="0">
                <a:solidFill>
                  <a:srgbClr val="4A556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263 435 €</a:t>
            </a:r>
            <a:endParaRPr lang="en-US" sz="4400" dirty="0"/>
          </a:p>
        </p:txBody>
      </p:sp>
      <p:sp>
        <p:nvSpPr>
          <p:cNvPr id="181" name="Text 25">
            <a:extLst>
              <a:ext uri="{FF2B5EF4-FFF2-40B4-BE49-F238E27FC236}">
                <a16:creationId xmlns:a16="http://schemas.microsoft.com/office/drawing/2014/main" id="{F0C2C932-8C24-DF91-AC53-FAD1BDAD6E10}"/>
              </a:ext>
            </a:extLst>
          </p:cNvPr>
          <p:cNvSpPr/>
          <p:nvPr/>
        </p:nvSpPr>
        <p:spPr>
          <a:xfrm>
            <a:off x="3310128" y="3246120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droits exigibles</a:t>
            </a:r>
            <a:endParaRPr lang="en-US" sz="800" dirty="0"/>
          </a:p>
        </p:txBody>
      </p:sp>
      <p:sp>
        <p:nvSpPr>
          <p:cNvPr id="183" name="Text 26">
            <a:extLst>
              <a:ext uri="{FF2B5EF4-FFF2-40B4-BE49-F238E27FC236}">
                <a16:creationId xmlns:a16="http://schemas.microsoft.com/office/drawing/2014/main" id="{F99C2CC5-1E2F-B172-4A4E-29B64337DDC9}"/>
              </a:ext>
            </a:extLst>
          </p:cNvPr>
          <p:cNvSpPr/>
          <p:nvPr/>
        </p:nvSpPr>
        <p:spPr>
          <a:xfrm>
            <a:off x="3310128" y="34930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enfant (×4)</a:t>
            </a:r>
            <a:endParaRPr lang="en-US" sz="850" dirty="0"/>
          </a:p>
        </p:txBody>
      </p:sp>
      <p:sp>
        <p:nvSpPr>
          <p:cNvPr id="185" name="Text 26">
            <a:extLst>
              <a:ext uri="{FF2B5EF4-FFF2-40B4-BE49-F238E27FC236}">
                <a16:creationId xmlns:a16="http://schemas.microsoft.com/office/drawing/2014/main" id="{FE28EDC5-4226-7469-FA28-8DED4260171A}"/>
              </a:ext>
            </a:extLst>
          </p:cNvPr>
          <p:cNvSpPr/>
          <p:nvPr/>
        </p:nvSpPr>
        <p:spPr>
          <a:xfrm>
            <a:off x="3310128" y="374904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Capitaux décès</a:t>
            </a:r>
            <a:endParaRPr lang="en-US" sz="850" dirty="0"/>
          </a:p>
        </p:txBody>
      </p:sp>
      <p:sp>
        <p:nvSpPr>
          <p:cNvPr id="187" name="Text 27">
            <a:extLst>
              <a:ext uri="{FF2B5EF4-FFF2-40B4-BE49-F238E27FC236}">
                <a16:creationId xmlns:a16="http://schemas.microsoft.com/office/drawing/2014/main" id="{7C1E2B5A-C036-6F21-A6B9-617D863F66B0}"/>
              </a:ext>
            </a:extLst>
          </p:cNvPr>
          <p:cNvSpPr/>
          <p:nvPr/>
        </p:nvSpPr>
        <p:spPr>
          <a:xfrm>
            <a:off x="4480560" y="3493008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65 859 €</a:t>
            </a:r>
            <a:endParaRPr lang="en-US" sz="850" dirty="0"/>
          </a:p>
        </p:txBody>
      </p:sp>
      <p:sp>
        <p:nvSpPr>
          <p:cNvPr id="189" name="Text 27">
            <a:extLst>
              <a:ext uri="{FF2B5EF4-FFF2-40B4-BE49-F238E27FC236}">
                <a16:creationId xmlns:a16="http://schemas.microsoft.com/office/drawing/2014/main" id="{F87C8673-B6B2-8483-76D2-BA163D3DE5E7}"/>
              </a:ext>
            </a:extLst>
          </p:cNvPr>
          <p:cNvSpPr/>
          <p:nvPr/>
        </p:nvSpPr>
        <p:spPr>
          <a:xfrm>
            <a:off x="4480560" y="3749040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49 713 €</a:t>
            </a:r>
            <a:endParaRPr lang="en-US" sz="850" dirty="0"/>
          </a:p>
        </p:txBody>
      </p:sp>
      <p:sp>
        <p:nvSpPr>
          <p:cNvPr id="191" name="Shape 32">
            <a:extLst>
              <a:ext uri="{FF2B5EF4-FFF2-40B4-BE49-F238E27FC236}">
                <a16:creationId xmlns:a16="http://schemas.microsoft.com/office/drawing/2014/main" id="{0BB21621-5F2B-66F0-D9D9-F354921DD400}"/>
              </a:ext>
            </a:extLst>
          </p:cNvPr>
          <p:cNvSpPr/>
          <p:nvPr/>
        </p:nvSpPr>
        <p:spPr>
          <a:xfrm>
            <a:off x="5824728" y="1188720"/>
            <a:ext cx="2679192" cy="3401280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3" name="Text 33">
            <a:extLst>
              <a:ext uri="{FF2B5EF4-FFF2-40B4-BE49-F238E27FC236}">
                <a16:creationId xmlns:a16="http://schemas.microsoft.com/office/drawing/2014/main" id="{8FF8F0AC-33DE-0AAB-0F31-0851A0C2CF66}"/>
              </a:ext>
            </a:extLst>
          </p:cNvPr>
          <p:cNvSpPr/>
          <p:nvPr/>
        </p:nvSpPr>
        <p:spPr>
          <a:xfrm>
            <a:off x="5961888" y="1353312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TOTAL CUMULÉ</a:t>
            </a:r>
            <a:endParaRPr lang="en-US" sz="750" dirty="0"/>
          </a:p>
        </p:txBody>
      </p:sp>
      <p:sp>
        <p:nvSpPr>
          <p:cNvPr id="195" name="Text 34">
            <a:extLst>
              <a:ext uri="{FF2B5EF4-FFF2-40B4-BE49-F238E27FC236}">
                <a16:creationId xmlns:a16="http://schemas.microsoft.com/office/drawing/2014/main" id="{155CB308-308D-9009-A9FC-DC0494796AFF}"/>
              </a:ext>
            </a:extLst>
          </p:cNvPr>
          <p:cNvSpPr/>
          <p:nvPr/>
        </p:nvSpPr>
        <p:spPr>
          <a:xfrm>
            <a:off x="5961888" y="1609344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les deux décès</a:t>
            </a:r>
            <a:endParaRPr lang="en-US" sz="950" dirty="0"/>
          </a:p>
        </p:txBody>
      </p:sp>
      <p:sp>
        <p:nvSpPr>
          <p:cNvPr id="197" name="Text 34">
            <a:extLst>
              <a:ext uri="{FF2B5EF4-FFF2-40B4-BE49-F238E27FC236}">
                <a16:creationId xmlns:a16="http://schemas.microsoft.com/office/drawing/2014/main" id="{69518913-1019-53B5-87D0-9141FACCCD80}"/>
              </a:ext>
            </a:extLst>
          </p:cNvPr>
          <p:cNvSpPr/>
          <p:nvPr/>
        </p:nvSpPr>
        <p:spPr>
          <a:xfrm>
            <a:off x="5961888" y="4010000"/>
            <a:ext cx="2395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RETENUE</a:t>
            </a:r>
            <a:endParaRPr lang="en-US" sz="950" dirty="0"/>
          </a:p>
        </p:txBody>
      </p:sp>
      <p:sp>
        <p:nvSpPr>
          <p:cNvPr id="199" name="Shape 35">
            <a:extLst>
              <a:ext uri="{FF2B5EF4-FFF2-40B4-BE49-F238E27FC236}">
                <a16:creationId xmlns:a16="http://schemas.microsoft.com/office/drawing/2014/main" id="{091B8DC8-8CD6-C9E5-51CC-B83234AAD343}"/>
              </a:ext>
            </a:extLst>
          </p:cNvPr>
          <p:cNvSpPr/>
          <p:nvPr/>
        </p:nvSpPr>
        <p:spPr>
          <a:xfrm>
            <a:off x="5961888" y="1938528"/>
            <a:ext cx="1645920" cy="10973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1" name="Text 36">
            <a:extLst>
              <a:ext uri="{FF2B5EF4-FFF2-40B4-BE49-F238E27FC236}">
                <a16:creationId xmlns:a16="http://schemas.microsoft.com/office/drawing/2014/main" id="{E980EF5F-8C5C-B937-51A2-9C5FD95595DC}"/>
              </a:ext>
            </a:extLst>
          </p:cNvPr>
          <p:cNvSpPr/>
          <p:nvPr/>
        </p:nvSpPr>
        <p:spPr>
          <a:xfrm>
            <a:off x="5961888" y="2048256"/>
            <a:ext cx="23957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80" i="1" dirty="0">
                <a:solidFill>
                  <a:srgbClr val="4A556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398 477 €</a:t>
            </a:r>
            <a:endParaRPr lang="en-US" sz="4400" dirty="0"/>
          </a:p>
        </p:txBody>
      </p:sp>
      <p:sp>
        <p:nvSpPr>
          <p:cNvPr id="203" name="Shape 37">
            <a:extLst>
              <a:ext uri="{FF2B5EF4-FFF2-40B4-BE49-F238E27FC236}">
                <a16:creationId xmlns:a16="http://schemas.microsoft.com/office/drawing/2014/main" id="{3B69AAB0-831B-9B09-245B-C567E4230DF1}"/>
              </a:ext>
            </a:extLst>
          </p:cNvPr>
          <p:cNvSpPr/>
          <p:nvPr/>
        </p:nvSpPr>
        <p:spPr>
          <a:xfrm>
            <a:off x="5961888" y="3090672"/>
            <a:ext cx="2395728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5" name="Text 38">
            <a:extLst>
              <a:ext uri="{FF2B5EF4-FFF2-40B4-BE49-F238E27FC236}">
                <a16:creationId xmlns:a16="http://schemas.microsoft.com/office/drawing/2014/main" id="{426D36D8-E375-1F48-70EA-21D0B2D0DE39}"/>
              </a:ext>
            </a:extLst>
          </p:cNvPr>
          <p:cNvSpPr/>
          <p:nvPr/>
        </p:nvSpPr>
        <p:spPr>
          <a:xfrm>
            <a:off x="5961888" y="3170000"/>
            <a:ext cx="2395728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i="1" dirty="0">
                <a:solidFill>
                  <a:srgbClr val="4A556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45 %</a:t>
            </a:r>
            <a:endParaRPr lang="en-US" sz="6000" dirty="0"/>
          </a:p>
        </p:txBody>
      </p:sp>
      <p:sp>
        <p:nvSpPr>
          <p:cNvPr id="207" name="Text 39">
            <a:extLst>
              <a:ext uri="{FF2B5EF4-FFF2-40B4-BE49-F238E27FC236}">
                <a16:creationId xmlns:a16="http://schemas.microsoft.com/office/drawing/2014/main" id="{186F54A8-DA5A-C6EB-286E-E2C2F3B3C44D}"/>
              </a:ext>
            </a:extLst>
          </p:cNvPr>
          <p:cNvSpPr/>
          <p:nvPr/>
        </p:nvSpPr>
        <p:spPr>
          <a:xfrm>
            <a:off x="5961888" y="3660000"/>
            <a:ext cx="2395728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marginal max</a:t>
            </a:r>
            <a:endParaRPr lang="en-US" sz="800" dirty="0"/>
          </a:p>
          <a:p>
            <a:pPr marL="0" indent="0">
              <a:buNone/>
            </a:pPr>
            <a:r>
              <a:rPr lang="en-US" sz="8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ligne directe</a:t>
            </a:r>
            <a:endParaRPr lang="en-US" sz="800" dirty="0"/>
          </a:p>
        </p:txBody>
      </p:sp>
      <p:sp>
        <p:nvSpPr>
          <p:cNvPr id="209" name="Text 39">
            <a:extLst>
              <a:ext uri="{FF2B5EF4-FFF2-40B4-BE49-F238E27FC236}">
                <a16:creationId xmlns:a16="http://schemas.microsoft.com/office/drawing/2014/main" id="{F7A5D975-D626-708F-7302-B4356A40DB19}"/>
              </a:ext>
            </a:extLst>
          </p:cNvPr>
          <p:cNvSpPr/>
          <p:nvPr/>
        </p:nvSpPr>
        <p:spPr>
          <a:xfrm>
            <a:off x="5961888" y="4210000"/>
            <a:ext cx="2395728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 en usufruit (conjoint) — enfants en nue-propriété</a:t>
            </a:r>
            <a:endParaRPr lang="en-US" sz="800" dirty="0"/>
          </a:p>
        </p:txBody>
      </p:sp>
      <p:sp>
        <p:nvSpPr>
          <p:cNvPr id="211" name="Shape 40">
            <a:extLst>
              <a:ext uri="{FF2B5EF4-FFF2-40B4-BE49-F238E27FC236}">
                <a16:creationId xmlns:a16="http://schemas.microsoft.com/office/drawing/2014/main" id="{C242B829-B44B-4762-D943-88B519FE1608}"/>
              </a:ext>
            </a:extLst>
          </p:cNvPr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3" name="Text 42">
            <a:extLst>
              <a:ext uri="{FF2B5EF4-FFF2-40B4-BE49-F238E27FC236}">
                <a16:creationId xmlns:a16="http://schemas.microsoft.com/office/drawing/2014/main" id="{2CA3F8F0-BAD1-8493-BC8A-C6AB16A41C6E}"/>
              </a:ext>
            </a:extLst>
          </p:cNvPr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DIAGNOSTIC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09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Nos remarques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1673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[Accroche synthétique — 1 phrase résumant le diagnostic]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02920" y="1783080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667512" y="17830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1 — observation patrimoniale, fiscale ou successorale spécifique à ce client]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02920" y="2340864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Shape 13"/>
          <p:cNvSpPr/>
          <p:nvPr/>
        </p:nvSpPr>
        <p:spPr>
          <a:xfrm>
            <a:off x="502920" y="2395728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4"/>
          <p:cNvSpPr/>
          <p:nvPr/>
        </p:nvSpPr>
        <p:spPr>
          <a:xfrm>
            <a:off x="667512" y="2395728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2 — observation patrimoniale, fiscale ou successorale spécifique à ce client]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02920" y="295351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6"/>
          <p:cNvSpPr/>
          <p:nvPr/>
        </p:nvSpPr>
        <p:spPr>
          <a:xfrm>
            <a:off x="502920" y="3008376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667512" y="3008376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3 — observation patrimoniale, fiscale ou successorale spécifique à ce client]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02920" y="3566160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Shape 19"/>
          <p:cNvSpPr/>
          <p:nvPr/>
        </p:nvSpPr>
        <p:spPr>
          <a:xfrm>
            <a:off x="502920" y="3621024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0"/>
          <p:cNvSpPr/>
          <p:nvPr/>
        </p:nvSpPr>
        <p:spPr>
          <a:xfrm>
            <a:off x="667512" y="3621024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4 — observation patrimoniale, fiscale ou successorale spécifique à ce client]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02920" y="4178808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Shape 22"/>
          <p:cNvSpPr/>
          <p:nvPr/>
        </p:nvSpPr>
        <p:spPr>
          <a:xfrm>
            <a:off x="502920" y="4233672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667512" y="4233672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5 — observation patrimoniale, fiscale ou successorale spécifique à ce client]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502920" y="4800600"/>
            <a:ext cx="8001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remarques maximum recommandées — supprimer les lignes non utilisées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DIAGNOSTIC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10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0" y="475488"/>
            <a:ext cx="4251960" cy="44988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365760" y="71323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35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AUJOURD'HUI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65760" y="1143000"/>
            <a:ext cx="20117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530352" y="1143000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[Situation fiscale — TMI, charges, pression IR/PS]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65760" y="2167128"/>
            <a:ext cx="20117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530352" y="2167128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[Transmission — droits estimés au premier décès]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65760" y="3191256"/>
            <a:ext cx="20117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530352" y="3191256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[Revenus futurs — lacune ou manque identifié]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526280" y="71323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3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AVEC AFFILIOR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26280" y="1143000"/>
            <a:ext cx="20117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4681728" y="114300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[Optimisation IR/PS — dispositifs et enveloppes recommandés]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26280" y="2167128"/>
            <a:ext cx="20117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4681728" y="2167128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[Transmission anticipée — droits réduits de X €]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26280" y="3191256"/>
            <a:ext cx="20117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4681728" y="3191256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[Revenus complémentaires dès [ANNÉE] — X €/an]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8B1A1A">
              <a:alpha val="60000"/>
            </a:srgbClr>
          </a:solidFill>
          <a:ln w="12700">
            <a:solidFill>
              <a:srgbClr val="8B1A1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0" dirty="0">
                <a:solidFill>
                  <a:srgbClr val="24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02</a:t>
            </a:r>
            <a:endParaRPr lang="en-US" sz="16000" dirty="0"/>
          </a:p>
        </p:txBody>
      </p:sp>
      <p:sp>
        <p:nvSpPr>
          <p:cNvPr id="4" name="Shape 2"/>
          <p:cNvSpPr/>
          <p:nvPr/>
        </p:nvSpPr>
        <p:spPr>
          <a:xfrm>
            <a:off x="548640" y="2487168"/>
            <a:ext cx="1097280" cy="2286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548640" y="263347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STRATÉGIE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33375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15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Projets · Moyens · Impact · Synthèse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PROJETS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12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Vos projets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9"/>
          <p:cNvSpPr/>
          <p:nvPr/>
        </p:nvSpPr>
        <p:spPr>
          <a:xfrm>
            <a:off x="502920" y="1371600"/>
            <a:ext cx="2560320" cy="10973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0"/>
          <p:cNvSpPr/>
          <p:nvPr/>
        </p:nvSpPr>
        <p:spPr>
          <a:xfrm>
            <a:off x="502920" y="1463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[PROJET 1 — intitulé]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502920" y="1783080"/>
            <a:ext cx="2560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[Description du projet 1 — contexte, montant envisagé, horizon, implications patrimoniales]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02920" y="3273552"/>
            <a:ext cx="25603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502920" y="33649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HORIZON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502920" y="35661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[Court / Moyen / Long terme]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02920" y="39136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MONTANT ESTIMÉ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502920" y="4114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200400" y="1371600"/>
            <a:ext cx="2560320" cy="10973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8"/>
          <p:cNvSpPr/>
          <p:nvPr/>
        </p:nvSpPr>
        <p:spPr>
          <a:xfrm>
            <a:off x="3200400" y="1463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[PROJET 2 — intitulé]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3200400" y="1783080"/>
            <a:ext cx="2560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[Description du projet 2 — contexte, montant envisagé, horizon, implications patrimoniales]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3200400" y="3273552"/>
            <a:ext cx="25603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1"/>
          <p:cNvSpPr/>
          <p:nvPr/>
        </p:nvSpPr>
        <p:spPr>
          <a:xfrm>
            <a:off x="3200400" y="33649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HORIZON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3200400" y="35661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[Court / Moyen / Long terme]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200400" y="39136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MONTANT ESTIMÉ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3200400" y="4114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5897880" y="1371600"/>
            <a:ext cx="2560320" cy="10973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6"/>
          <p:cNvSpPr/>
          <p:nvPr/>
        </p:nvSpPr>
        <p:spPr>
          <a:xfrm>
            <a:off x="5897880" y="1463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[PROJET 3 — intitulé]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5897880" y="1783080"/>
            <a:ext cx="2560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[Description du projet 3 — contexte, montant envisagé, horizon, implications patrimoniales]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5897880" y="3273552"/>
            <a:ext cx="25603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29"/>
          <p:cNvSpPr/>
          <p:nvPr/>
        </p:nvSpPr>
        <p:spPr>
          <a:xfrm>
            <a:off x="5897880" y="33649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HORIZON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5897880" y="35661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[Court / Moyen / Long terme]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5897880" y="39136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MONTANT ESTIMÉ</a:t>
            </a:r>
            <a:endParaRPr lang="en-US" sz="750" dirty="0"/>
          </a:p>
        </p:txBody>
      </p:sp>
      <p:sp>
        <p:nvSpPr>
          <p:cNvPr id="35" name="Text 32"/>
          <p:cNvSpPr/>
          <p:nvPr/>
        </p:nvSpPr>
        <p:spPr>
          <a:xfrm>
            <a:off x="5897880" y="4114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502920" y="4800600"/>
            <a:ext cx="8001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 le nombre de colonnes au nombre de projets — supprimer les colonnes non utilisées</a:t>
            </a: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· MOYENS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13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Moyens de la stratégie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16736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[Phrase introductive]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02920" y="1783080"/>
            <a:ext cx="274320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576072" y="1783080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Enveloppe / Actif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46120" y="1783080"/>
            <a:ext cx="164592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3319272" y="178308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Origine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892040" y="1783080"/>
            <a:ext cx="164592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4965192" y="178308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 mobilisé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6537960" y="1783080"/>
            <a:ext cx="196596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6611112" y="1783080"/>
            <a:ext cx="1856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502920" y="2084832"/>
            <a:ext cx="274320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576072" y="2093976"/>
            <a:ext cx="26334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[Enveloppe / actif 1]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3246120" y="2084832"/>
            <a:ext cx="164592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1"/>
          <p:cNvSpPr/>
          <p:nvPr/>
        </p:nvSpPr>
        <p:spPr>
          <a:xfrm>
            <a:off x="3319272" y="2093976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[Existant / Nouveau]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892040" y="2084832"/>
            <a:ext cx="164592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4965192" y="2093976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6537960" y="2084832"/>
            <a:ext cx="19659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5"/>
          <p:cNvSpPr/>
          <p:nvPr/>
        </p:nvSpPr>
        <p:spPr>
          <a:xfrm>
            <a:off x="6611112" y="2093976"/>
            <a:ext cx="1856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[Commentaire]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02920" y="2395728"/>
            <a:ext cx="274320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7"/>
          <p:cNvSpPr/>
          <p:nvPr/>
        </p:nvSpPr>
        <p:spPr>
          <a:xfrm>
            <a:off x="576072" y="2404872"/>
            <a:ext cx="26334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[Enveloppe / actif 2]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3246120" y="2395728"/>
            <a:ext cx="164592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29"/>
          <p:cNvSpPr/>
          <p:nvPr/>
        </p:nvSpPr>
        <p:spPr>
          <a:xfrm>
            <a:off x="3319272" y="2404872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[Existant / Nouveau]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4892040" y="2395728"/>
            <a:ext cx="164592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1"/>
          <p:cNvSpPr/>
          <p:nvPr/>
        </p:nvSpPr>
        <p:spPr>
          <a:xfrm>
            <a:off x="4965192" y="2404872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6537960" y="2395728"/>
            <a:ext cx="19659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33"/>
          <p:cNvSpPr/>
          <p:nvPr/>
        </p:nvSpPr>
        <p:spPr>
          <a:xfrm>
            <a:off x="6611112" y="2404872"/>
            <a:ext cx="1856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[Commentaire]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02920" y="2706624"/>
            <a:ext cx="274320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5"/>
          <p:cNvSpPr/>
          <p:nvPr/>
        </p:nvSpPr>
        <p:spPr>
          <a:xfrm>
            <a:off x="576072" y="2715768"/>
            <a:ext cx="26334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[Enveloppe / actif 3]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3246120" y="2706624"/>
            <a:ext cx="164592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Text 37"/>
          <p:cNvSpPr/>
          <p:nvPr/>
        </p:nvSpPr>
        <p:spPr>
          <a:xfrm>
            <a:off x="3319272" y="2715768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[Existant / Nouveau]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4892040" y="2706624"/>
            <a:ext cx="164592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Text 39"/>
          <p:cNvSpPr/>
          <p:nvPr/>
        </p:nvSpPr>
        <p:spPr>
          <a:xfrm>
            <a:off x="4965192" y="2715768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6537960" y="2706624"/>
            <a:ext cx="19659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Text 41"/>
          <p:cNvSpPr/>
          <p:nvPr/>
        </p:nvSpPr>
        <p:spPr>
          <a:xfrm>
            <a:off x="6611112" y="2715768"/>
            <a:ext cx="1856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[Commentaire]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502920" y="3017520"/>
            <a:ext cx="274320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6" name="Text 43"/>
          <p:cNvSpPr/>
          <p:nvPr/>
        </p:nvSpPr>
        <p:spPr>
          <a:xfrm>
            <a:off x="576072" y="3026664"/>
            <a:ext cx="26334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[Enveloppe / actif 4]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3246120" y="3017520"/>
            <a:ext cx="164592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8" name="Text 45"/>
          <p:cNvSpPr/>
          <p:nvPr/>
        </p:nvSpPr>
        <p:spPr>
          <a:xfrm>
            <a:off x="3319272" y="3026664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[Existant / Nouveau]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4892040" y="3017520"/>
            <a:ext cx="164592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0" name="Text 47"/>
          <p:cNvSpPr/>
          <p:nvPr/>
        </p:nvSpPr>
        <p:spPr>
          <a:xfrm>
            <a:off x="4965192" y="3026664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51" name="Shape 48"/>
          <p:cNvSpPr/>
          <p:nvPr/>
        </p:nvSpPr>
        <p:spPr>
          <a:xfrm>
            <a:off x="6537960" y="3017520"/>
            <a:ext cx="19659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2" name="Text 49"/>
          <p:cNvSpPr/>
          <p:nvPr/>
        </p:nvSpPr>
        <p:spPr>
          <a:xfrm>
            <a:off x="6611112" y="3026664"/>
            <a:ext cx="1856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[Commentaire]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502920" y="3328416"/>
            <a:ext cx="274320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4" name="Text 51"/>
          <p:cNvSpPr/>
          <p:nvPr/>
        </p:nvSpPr>
        <p:spPr>
          <a:xfrm>
            <a:off x="576072" y="3337560"/>
            <a:ext cx="26334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[Capacité d'épargne mensuelle]</a:t>
            </a:r>
            <a:endParaRPr lang="en-US" sz="900" dirty="0"/>
          </a:p>
        </p:txBody>
      </p:sp>
      <p:sp>
        <p:nvSpPr>
          <p:cNvPr id="55" name="Shape 52"/>
          <p:cNvSpPr/>
          <p:nvPr/>
        </p:nvSpPr>
        <p:spPr>
          <a:xfrm>
            <a:off x="3246120" y="3328416"/>
            <a:ext cx="164592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6" name="Text 53"/>
          <p:cNvSpPr/>
          <p:nvPr/>
        </p:nvSpPr>
        <p:spPr>
          <a:xfrm>
            <a:off x="3319272" y="3337560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[Nouveau]</a:t>
            </a:r>
            <a:endParaRPr lang="en-US" sz="900" dirty="0"/>
          </a:p>
        </p:txBody>
      </p:sp>
      <p:sp>
        <p:nvSpPr>
          <p:cNvPr id="57" name="Shape 54"/>
          <p:cNvSpPr/>
          <p:nvPr/>
        </p:nvSpPr>
        <p:spPr>
          <a:xfrm>
            <a:off x="4892040" y="3328416"/>
            <a:ext cx="164592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8" name="Text 55"/>
          <p:cNvSpPr/>
          <p:nvPr/>
        </p:nvSpPr>
        <p:spPr>
          <a:xfrm>
            <a:off x="4965192" y="3337560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€]/mois</a:t>
            </a:r>
            <a:endParaRPr lang="en-US" sz="900" dirty="0"/>
          </a:p>
        </p:txBody>
      </p:sp>
      <p:sp>
        <p:nvSpPr>
          <p:cNvPr id="59" name="Shape 56"/>
          <p:cNvSpPr/>
          <p:nvPr/>
        </p:nvSpPr>
        <p:spPr>
          <a:xfrm>
            <a:off x="6537960" y="3328416"/>
            <a:ext cx="19659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0" name="Text 57"/>
          <p:cNvSpPr/>
          <p:nvPr/>
        </p:nvSpPr>
        <p:spPr>
          <a:xfrm>
            <a:off x="6611112" y="3337560"/>
            <a:ext cx="1856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[Commentaire]</a:t>
            </a:r>
            <a:endParaRPr lang="en-US" sz="900" dirty="0"/>
          </a:p>
        </p:txBody>
      </p:sp>
      <p:sp>
        <p:nvSpPr>
          <p:cNvPr id="61" name="Shape 58"/>
          <p:cNvSpPr/>
          <p:nvPr/>
        </p:nvSpPr>
        <p:spPr>
          <a:xfrm>
            <a:off x="502920" y="3639312"/>
            <a:ext cx="8001000" cy="29260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2" name="Text 59"/>
          <p:cNvSpPr/>
          <p:nvPr/>
        </p:nvSpPr>
        <p:spPr>
          <a:xfrm>
            <a:off x="576072" y="364845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DES MOYENS MOBILISÉS</a:t>
            </a:r>
            <a:endParaRPr lang="en-US" sz="850" dirty="0"/>
          </a:p>
        </p:txBody>
      </p:sp>
      <p:sp>
        <p:nvSpPr>
          <p:cNvPr id="63" name="Text 60"/>
          <p:cNvSpPr/>
          <p:nvPr/>
        </p:nvSpPr>
        <p:spPr>
          <a:xfrm>
            <a:off x="5303520" y="364845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502920" y="4078224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5" name="Text 62"/>
          <p:cNvSpPr/>
          <p:nvPr/>
        </p:nvSpPr>
        <p:spPr>
          <a:xfrm>
            <a:off x="502920" y="4169664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[Note complémentaire si besoin]</a:t>
            </a:r>
            <a:endParaRPr lang="en-US" sz="1000" dirty="0"/>
          </a:p>
        </p:txBody>
      </p:sp>
      <p:sp>
        <p:nvSpPr>
          <p:cNvPr id="66" name="Text 63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· IMPACT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14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L'impact de la stratégie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16736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[Phrase d'ancrage]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02920" y="171907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502920" y="178308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DROITS DE SUCCESSION ÉVITÉS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502920" y="1993392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502920" y="2798064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[X €] sans stratégie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3108960" y="1783080"/>
            <a:ext cx="10973" cy="128016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3200400" y="178308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REVENU COMPLÉMENTAIRE ANNUEL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3200400" y="1993392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€/an]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3200400" y="2798064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partir de [ANNÉE]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806440" y="1783080"/>
            <a:ext cx="10973" cy="128016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5897880" y="178308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ÉCONOMIE FISCALE SUR [X] ANS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5897880" y="1993392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3400" dirty="0"/>
          </a:p>
        </p:txBody>
      </p:sp>
      <p:sp>
        <p:nvSpPr>
          <p:cNvPr id="24" name="Text 21"/>
          <p:cNvSpPr/>
          <p:nvPr/>
        </p:nvSpPr>
        <p:spPr>
          <a:xfrm>
            <a:off x="5897880" y="2798064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+ PS + frais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02920" y="312724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502920" y="32461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4A556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SANS STRATÉGIE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4343400" y="32461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AVEC LA STRATÉGIE AFFILIOR</a:t>
            </a:r>
            <a:endParaRPr lang="en-US" sz="750" dirty="0"/>
          </a:p>
        </p:txBody>
      </p:sp>
      <p:sp>
        <p:nvSpPr>
          <p:cNvPr id="28" name="Shape 25"/>
          <p:cNvSpPr/>
          <p:nvPr/>
        </p:nvSpPr>
        <p:spPr>
          <a:xfrm>
            <a:off x="4160520" y="3200400"/>
            <a:ext cx="10973" cy="1572768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hape 26"/>
          <p:cNvSpPr/>
          <p:nvPr/>
        </p:nvSpPr>
        <p:spPr>
          <a:xfrm>
            <a:off x="502920" y="3474720"/>
            <a:ext cx="20117" cy="384048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7"/>
          <p:cNvSpPr/>
          <p:nvPr/>
        </p:nvSpPr>
        <p:spPr>
          <a:xfrm>
            <a:off x="658368" y="3474720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[Situation fiscale actuelle]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502920" y="3977640"/>
            <a:ext cx="20117" cy="384048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29"/>
          <p:cNvSpPr/>
          <p:nvPr/>
        </p:nvSpPr>
        <p:spPr>
          <a:xfrm>
            <a:off x="658368" y="3977640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[Transmission]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02920" y="4480560"/>
            <a:ext cx="20117" cy="384048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1"/>
          <p:cNvSpPr/>
          <p:nvPr/>
        </p:nvSpPr>
        <p:spPr>
          <a:xfrm>
            <a:off x="658368" y="4480560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[Retraite]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4343400" y="3474720"/>
            <a:ext cx="20117" cy="38404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33"/>
          <p:cNvSpPr/>
          <p:nvPr/>
        </p:nvSpPr>
        <p:spPr>
          <a:xfrm>
            <a:off x="4498848" y="3474720"/>
            <a:ext cx="3913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[Fiscalité — économie de X €/an grâce à [dispositif retenu]]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4343400" y="3977640"/>
            <a:ext cx="20117" cy="38404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5"/>
          <p:cNvSpPr/>
          <p:nvPr/>
        </p:nvSpPr>
        <p:spPr>
          <a:xfrm>
            <a:off x="4498848" y="3977640"/>
            <a:ext cx="3913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[Transmission — droits réduits de X € grâce à l'anticipation]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4343400" y="4480560"/>
            <a:ext cx="20117" cy="38404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Text 37"/>
          <p:cNvSpPr/>
          <p:nvPr/>
        </p:nvSpPr>
        <p:spPr>
          <a:xfrm>
            <a:off x="4498848" y="4480560"/>
            <a:ext cx="3913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[Revenus complémentaires — X €/mois dès [ANNÉE]]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· SYNTHÈSE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Synthèse de la stratégie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16736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[Phrase de synthèse]</a:t>
            </a:r>
            <a:endParaRPr lang="en-US" sz="1100" dirty="0"/>
          </a:p>
        </p:txBody>
      </p:sp>
      <p:sp>
        <p:nvSpPr>
          <p:cNvPr id="111" name="Text Objectif 111"/>
          <p:cNvSpPr/>
          <p:nvPr/>
        </p:nvSpPr>
        <p:spPr>
          <a:xfrm>
            <a:off x="502920" y="1737360"/>
            <a:ext cx="256032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[Objectif de l’axe — formulation client]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02920" y="2286000"/>
            <a:ext cx="256032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502920" y="269748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2880" indent="-182880">
              <a:buFont typeface="Arial"/>
              <a:buChar char="•"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1 — répond à l'objectif exprimé]</a:t>
            </a:r>
          </a:p>
          <a:p>
            <a:pPr marL="182880" indent="-182880">
              <a:buFont typeface="Arial"/>
              <a:buChar char="•"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2 — répond à l'objectif exprimé]</a:t>
            </a:r>
          </a:p>
        </p:txBody>
      </p:sp>
      <p:sp>
        <p:nvSpPr>
          <p:cNvPr id="17" name="Shape 14"/>
          <p:cNvSpPr/>
          <p:nvPr/>
        </p:nvSpPr>
        <p:spPr>
          <a:xfrm>
            <a:off x="502920" y="3931920"/>
            <a:ext cx="25603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502920" y="40050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[Nom de la solution]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502920" y="42245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[Montant]</a:t>
            </a:r>
            <a:endParaRPr lang="en-US" sz="1000" dirty="0"/>
          </a:p>
        </p:txBody>
      </p:sp>
      <p:sp>
        <p:nvSpPr>
          <p:cNvPr id="101" name="Text Risque 1"/>
          <p:cNvSpPr/>
          <p:nvPr/>
        </p:nvSpPr>
        <p:spPr>
          <a:xfrm>
            <a:off x="502920" y="4515000"/>
            <a:ext cx="2560320" cy="2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[Profil de risque et rendement cible]</a:t>
            </a:r>
            <a:endParaRPr lang="en-US" sz="900" dirty="0"/>
          </a:p>
        </p:txBody>
      </p:sp>
      <p:sp>
        <p:nvSpPr>
          <p:cNvPr id="112" name="Text Objectif 112"/>
          <p:cNvSpPr/>
          <p:nvPr/>
        </p:nvSpPr>
        <p:spPr>
          <a:xfrm>
            <a:off x="3200400" y="1737360"/>
            <a:ext cx="256032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[Objectif de l’axe — formulation client]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3200400" y="2286000"/>
            <a:ext cx="256032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0"/>
          <p:cNvSpPr/>
          <p:nvPr/>
        </p:nvSpPr>
        <p:spPr>
          <a:xfrm>
            <a:off x="3200400" y="269748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2880" indent="-182880">
              <a:buFont typeface="Arial"/>
              <a:buChar char="•"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1 — répond à l'objectif exprimé]</a:t>
            </a:r>
          </a:p>
          <a:p>
            <a:pPr marL="182880" indent="-182880">
              <a:buFont typeface="Arial"/>
              <a:buChar char="•"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2 — répond à l'objectif exprimé]</a:t>
            </a:r>
          </a:p>
        </p:txBody>
      </p:sp>
      <p:sp>
        <p:nvSpPr>
          <p:cNvPr id="24" name="Shape 21"/>
          <p:cNvSpPr/>
          <p:nvPr/>
        </p:nvSpPr>
        <p:spPr>
          <a:xfrm>
            <a:off x="3200400" y="3931920"/>
            <a:ext cx="25603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22"/>
          <p:cNvSpPr/>
          <p:nvPr/>
        </p:nvSpPr>
        <p:spPr>
          <a:xfrm>
            <a:off x="3200400" y="40050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[Nom de la solution]</a:t>
            </a:r>
            <a:endParaRPr lang="en-US" sz="750" dirty="0"/>
          </a:p>
        </p:txBody>
      </p:sp>
      <p:sp>
        <p:nvSpPr>
          <p:cNvPr id="26" name="Text 23"/>
          <p:cNvSpPr/>
          <p:nvPr/>
        </p:nvSpPr>
        <p:spPr>
          <a:xfrm>
            <a:off x="3200400" y="42245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[Montant]</a:t>
            </a:r>
            <a:endParaRPr lang="en-US" sz="1000" dirty="0"/>
          </a:p>
        </p:txBody>
      </p:sp>
      <p:sp>
        <p:nvSpPr>
          <p:cNvPr id="102" name="Text Risque 2"/>
          <p:cNvSpPr/>
          <p:nvPr/>
        </p:nvSpPr>
        <p:spPr>
          <a:xfrm>
            <a:off x="3200400" y="4515000"/>
            <a:ext cx="2560320" cy="2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[Profil de risque et rendement cible]</a:t>
            </a:r>
            <a:endParaRPr lang="en-US" sz="900" dirty="0"/>
          </a:p>
        </p:txBody>
      </p:sp>
      <p:sp>
        <p:nvSpPr>
          <p:cNvPr id="113" name="Text Objectif 113"/>
          <p:cNvSpPr/>
          <p:nvPr/>
        </p:nvSpPr>
        <p:spPr>
          <a:xfrm>
            <a:off x="5897880" y="1737360"/>
            <a:ext cx="256032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[Objectif de l’axe — formulation client]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897880" y="2286000"/>
            <a:ext cx="256032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7"/>
          <p:cNvSpPr/>
          <p:nvPr/>
        </p:nvSpPr>
        <p:spPr>
          <a:xfrm>
            <a:off x="5897880" y="269748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2880" indent="-182880">
              <a:buFont typeface="Arial"/>
              <a:buChar char="•"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1 — répond à l'objectif exprimé]</a:t>
            </a:r>
          </a:p>
          <a:p>
            <a:pPr marL="182880" indent="-182880">
              <a:buFont typeface="Arial"/>
              <a:buChar char="•"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2 — répond à l'objectif exprimé]</a:t>
            </a:r>
          </a:p>
        </p:txBody>
      </p:sp>
      <p:sp>
        <p:nvSpPr>
          <p:cNvPr id="31" name="Shape 28"/>
          <p:cNvSpPr/>
          <p:nvPr/>
        </p:nvSpPr>
        <p:spPr>
          <a:xfrm>
            <a:off x="5897880" y="3931920"/>
            <a:ext cx="25603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29"/>
          <p:cNvSpPr/>
          <p:nvPr/>
        </p:nvSpPr>
        <p:spPr>
          <a:xfrm>
            <a:off x="5897880" y="40050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[Nom de la solution]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5897880" y="42245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[Montant]</a:t>
            </a:r>
            <a:endParaRPr lang="en-US" sz="1000" dirty="0"/>
          </a:p>
        </p:txBody>
      </p:sp>
      <p:sp>
        <p:nvSpPr>
          <p:cNvPr id="103" name="Text Risque 3"/>
          <p:cNvSpPr/>
          <p:nvPr/>
        </p:nvSpPr>
        <p:spPr>
          <a:xfrm>
            <a:off x="5897880" y="4515000"/>
            <a:ext cx="2560320" cy="2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[Profil de risque et rendement cible]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· AVANT / APRÈS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16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02920" y="566928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L'impact de la stratégie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502920" y="108813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502920" y="1188720"/>
            <a:ext cx="3794760" cy="329184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658368" y="12070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 ACTUELLE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658368" y="162763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Droits de succession estimés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58368" y="18836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58368" y="2249424"/>
            <a:ext cx="329184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658368" y="230428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Pression fiscale annuelle (IR + PS)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658368" y="25603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658368" y="2926080"/>
            <a:ext cx="329184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6"/>
          <p:cNvSpPr/>
          <p:nvPr/>
        </p:nvSpPr>
        <p:spPr>
          <a:xfrm>
            <a:off x="658368" y="298094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transmissible net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658368" y="323697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58368" y="3602736"/>
            <a:ext cx="329184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658368" y="365760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Revenus complémentaires disponibles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658368" y="391363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4617720" y="1188720"/>
            <a:ext cx="3886200" cy="329184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22"/>
          <p:cNvSpPr/>
          <p:nvPr/>
        </p:nvSpPr>
        <p:spPr>
          <a:xfrm>
            <a:off x="4773168" y="12070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APRÈS STRATÉGIE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4773168" y="162763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Droits de succession optimisés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4773168" y="188366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7168896" y="19019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économie de [X €]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4773168" y="2249424"/>
            <a:ext cx="3401568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7"/>
          <p:cNvSpPr/>
          <p:nvPr/>
        </p:nvSpPr>
        <p:spPr>
          <a:xfrm>
            <a:off x="4773168" y="230428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Pression fiscale optimisée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4773168" y="256032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7168896" y="257860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[X €] / an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773168" y="2926080"/>
            <a:ext cx="3401568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1"/>
          <p:cNvSpPr/>
          <p:nvPr/>
        </p:nvSpPr>
        <p:spPr>
          <a:xfrm>
            <a:off x="4773168" y="298094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transmissible optimisé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4773168" y="323697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7168896" y="325526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[X €]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4773168" y="3602736"/>
            <a:ext cx="3401568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5"/>
          <p:cNvSpPr/>
          <p:nvPr/>
        </p:nvSpPr>
        <p:spPr>
          <a:xfrm>
            <a:off x="4773168" y="365760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Revenus complémentaires cibles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4773168" y="391363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 / mois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7168896" y="39319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dès [ANNÉE]</a:t>
            </a:r>
            <a:endParaRPr lang="en-US" sz="850" dirty="0"/>
          </a:p>
        </p:txBody>
      </p:sp>
      <p:sp>
        <p:nvSpPr>
          <p:cNvPr id="41" name="Shape 38"/>
          <p:cNvSpPr/>
          <p:nvPr/>
        </p:nvSpPr>
        <p:spPr>
          <a:xfrm>
            <a:off x="4370832" y="1188720"/>
            <a:ext cx="10973" cy="356616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Text 39"/>
          <p:cNvSpPr/>
          <p:nvPr/>
        </p:nvSpPr>
        <p:spPr>
          <a:xfrm>
            <a:off x="4169664" y="2834640"/>
            <a:ext cx="402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→</a:t>
            </a:r>
            <a:endParaRPr lang="en-US" sz="2200" dirty="0"/>
          </a:p>
        </p:txBody>
      </p:sp>
      <p:sp>
        <p:nvSpPr>
          <p:cNvPr id="43" name="Shape 40"/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Text 41"/>
          <p:cNvSpPr/>
          <p:nvPr/>
        </p:nvSpPr>
        <p:spPr>
          <a:xfrm>
            <a:off x="502920" y="4681728"/>
            <a:ext cx="8001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Projections établies sur la base des éléments communiqués. Ces estimations conditionnelles ne sauraient constituer un engagement.</a:t>
            </a:r>
            <a:endParaRPr lang="en-US" sz="700" dirty="0"/>
          </a:p>
        </p:txBody>
      </p:sp>
      <p:sp>
        <p:nvSpPr>
          <p:cNvPr id="45" name="Text 42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ACCOMPAGNEMENT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16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accompagnement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5331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PROCESSUS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502920" y="1572768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658368" y="1572768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 de votre profil de risque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02920" y="2084832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658368" y="208483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Sélection indépendante des meilleures solutions par appel d'offres multi-partenaires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02920" y="2596896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658368" y="2596896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Négociation des conditions tarifaires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02920" y="3108960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658368" y="310896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Centralisation des documents de mise en place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2920" y="3621024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658368" y="3621024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des allocations d'actifs et de la performance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02920" y="4133088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1"/>
          <p:cNvSpPr/>
          <p:nvPr/>
        </p:nvSpPr>
        <p:spPr>
          <a:xfrm>
            <a:off x="658368" y="4133088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Rédaction sur mesure de la clause bénéficiaire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279392" y="1353312"/>
            <a:ext cx="10973" cy="338328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4434840" y="135331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ENGAGEMENTS SPÉCIFIQUES À CE DOSSIER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4434840" y="1572768"/>
            <a:ext cx="22860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5"/>
          <p:cNvSpPr/>
          <p:nvPr/>
        </p:nvSpPr>
        <p:spPr>
          <a:xfrm>
            <a:off x="4590288" y="1572768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[Engagement 1]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4590288" y="1847088"/>
            <a:ext cx="3913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[Détail — comment, fréquence, interlocuteur]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4434840" y="2487168"/>
            <a:ext cx="41605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Shape 28"/>
          <p:cNvSpPr/>
          <p:nvPr/>
        </p:nvSpPr>
        <p:spPr>
          <a:xfrm>
            <a:off x="4434840" y="2560320"/>
            <a:ext cx="22860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29"/>
          <p:cNvSpPr/>
          <p:nvPr/>
        </p:nvSpPr>
        <p:spPr>
          <a:xfrm>
            <a:off x="4590288" y="2560320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[Engagement 2]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4590288" y="2834640"/>
            <a:ext cx="3913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[Détail — comment, fréquence, interlocuteur]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4434840" y="3474720"/>
            <a:ext cx="41605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Shape 32"/>
          <p:cNvSpPr/>
          <p:nvPr/>
        </p:nvSpPr>
        <p:spPr>
          <a:xfrm>
            <a:off x="4434840" y="3547872"/>
            <a:ext cx="22860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33"/>
          <p:cNvSpPr/>
          <p:nvPr/>
        </p:nvSpPr>
        <p:spPr>
          <a:xfrm>
            <a:off x="4590288" y="3547872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[Engagement 3]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4590288" y="3822192"/>
            <a:ext cx="3913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[Détail — comment, fréquence, interlocuteur]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02920" y="4800600"/>
            <a:ext cx="8001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gauche : contenu fixe Affilior. Section droite : personnaliser selon le dossier.</a:t>
            </a:r>
            <a:endParaRPr lang="en-US" sz="750" dirty="0"/>
          </a:p>
        </p:txBody>
      </p:sp>
      <p:sp>
        <p:nvSpPr>
          <p:cNvPr id="39" name="Text 36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PROCHAINES ÉTAPES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19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02920" y="566928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Les prochaines étapes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502920" y="108813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502920" y="2326234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9"/>
          <p:cNvSpPr/>
          <p:nvPr/>
        </p:nvSpPr>
        <p:spPr>
          <a:xfrm>
            <a:off x="502920" y="1188720"/>
            <a:ext cx="1920240" cy="237744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0"/>
          <p:cNvSpPr/>
          <p:nvPr/>
        </p:nvSpPr>
        <p:spPr>
          <a:xfrm>
            <a:off x="576072" y="118872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PHASE 1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1527048" y="11887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[M+1]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502920" y="146304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[Audit &amp; validation]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02920" y="175564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1]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502920" y="193852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2]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497434" y="2212848"/>
            <a:ext cx="10973" cy="27432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6"/>
          <p:cNvSpPr/>
          <p:nvPr/>
        </p:nvSpPr>
        <p:spPr>
          <a:xfrm>
            <a:off x="411480" y="2240280"/>
            <a:ext cx="182880" cy="182880"/>
          </a:xfrm>
          <a:prstGeom prst="ellipse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502920" y="247802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[Client + Affilior]</a:t>
            </a:r>
            <a:endParaRPr lang="en-US" sz="750" dirty="0"/>
          </a:p>
        </p:txBody>
      </p:sp>
      <p:sp>
        <p:nvSpPr>
          <p:cNvPr id="21" name="Shape 18"/>
          <p:cNvSpPr/>
          <p:nvPr/>
        </p:nvSpPr>
        <p:spPr>
          <a:xfrm>
            <a:off x="2209800" y="2651760"/>
            <a:ext cx="1920240" cy="237744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2282952" y="26517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PHASE 2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3233928" y="265176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[M+3]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2209800" y="29260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[Mise en place juridique]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2209800" y="321868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1]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2209800" y="340156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2]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3164434" y="2350008"/>
            <a:ext cx="10973" cy="265176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Shape 25"/>
          <p:cNvSpPr/>
          <p:nvPr/>
        </p:nvSpPr>
        <p:spPr>
          <a:xfrm>
            <a:off x="3078480" y="2240280"/>
            <a:ext cx="182880" cy="182880"/>
          </a:xfrm>
          <a:prstGeom prst="ellipse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6"/>
          <p:cNvSpPr/>
          <p:nvPr/>
        </p:nvSpPr>
        <p:spPr>
          <a:xfrm>
            <a:off x="2209800" y="373075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[Notaire + Affilior]</a:t>
            </a:r>
            <a:endParaRPr lang="en-US" sz="750" dirty="0"/>
          </a:p>
        </p:txBody>
      </p:sp>
      <p:sp>
        <p:nvSpPr>
          <p:cNvPr id="30" name="Shape 27"/>
          <p:cNvSpPr/>
          <p:nvPr/>
        </p:nvSpPr>
        <p:spPr>
          <a:xfrm>
            <a:off x="4876800" y="1188720"/>
            <a:ext cx="1920240" cy="237744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Text 28"/>
          <p:cNvSpPr/>
          <p:nvPr/>
        </p:nvSpPr>
        <p:spPr>
          <a:xfrm>
            <a:off x="4949952" y="118872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PHASE 3</a:t>
            </a:r>
            <a:endParaRPr lang="en-US" sz="750" dirty="0"/>
          </a:p>
        </p:txBody>
      </p:sp>
      <p:sp>
        <p:nvSpPr>
          <p:cNvPr id="32" name="Text 29"/>
          <p:cNvSpPr/>
          <p:nvPr/>
        </p:nvSpPr>
        <p:spPr>
          <a:xfrm>
            <a:off x="5900928" y="11887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[M+6]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4876800" y="146304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[Déploiement financier]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4876800" y="175564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1]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4876800" y="193852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2]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5831434" y="2212848"/>
            <a:ext cx="10973" cy="27432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Shape 34"/>
          <p:cNvSpPr/>
          <p:nvPr/>
        </p:nvSpPr>
        <p:spPr>
          <a:xfrm>
            <a:off x="5745480" y="2240280"/>
            <a:ext cx="182880" cy="182880"/>
          </a:xfrm>
          <a:prstGeom prst="ellipse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5"/>
          <p:cNvSpPr/>
          <p:nvPr/>
        </p:nvSpPr>
        <p:spPr>
          <a:xfrm>
            <a:off x="4876800" y="247802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[Affilior]</a:t>
            </a:r>
            <a:endParaRPr lang="en-US" sz="750" dirty="0"/>
          </a:p>
        </p:txBody>
      </p:sp>
      <p:sp>
        <p:nvSpPr>
          <p:cNvPr id="39" name="Shape 36"/>
          <p:cNvSpPr/>
          <p:nvPr/>
        </p:nvSpPr>
        <p:spPr>
          <a:xfrm>
            <a:off x="6583680" y="2651760"/>
            <a:ext cx="1920240" cy="237744"/>
          </a:xfrm>
          <a:prstGeom prst="rect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Text 37"/>
          <p:cNvSpPr/>
          <p:nvPr/>
        </p:nvSpPr>
        <p:spPr>
          <a:xfrm>
            <a:off x="6656832" y="26517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PHASE 4</a:t>
            </a:r>
            <a:endParaRPr lang="en-US" sz="750" dirty="0"/>
          </a:p>
        </p:txBody>
      </p:sp>
      <p:sp>
        <p:nvSpPr>
          <p:cNvPr id="41" name="Text 38"/>
          <p:cNvSpPr/>
          <p:nvPr/>
        </p:nvSpPr>
        <p:spPr>
          <a:xfrm>
            <a:off x="7607808" y="265176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[M+12]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6583680" y="29260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[Revue annuelle]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6583680" y="321868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1]</a:t>
            </a:r>
            <a:endParaRPr lang="en-US" sz="850" dirty="0"/>
          </a:p>
        </p:txBody>
      </p:sp>
      <p:sp>
        <p:nvSpPr>
          <p:cNvPr id="44" name="Text 41"/>
          <p:cNvSpPr/>
          <p:nvPr/>
        </p:nvSpPr>
        <p:spPr>
          <a:xfrm>
            <a:off x="6583680" y="340156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2]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8498434" y="2350008"/>
            <a:ext cx="10973" cy="265176"/>
          </a:xfrm>
          <a:prstGeom prst="rect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6" name="Shape 43"/>
          <p:cNvSpPr/>
          <p:nvPr/>
        </p:nvSpPr>
        <p:spPr>
          <a:xfrm>
            <a:off x="8412480" y="2240280"/>
            <a:ext cx="182880" cy="182880"/>
          </a:xfrm>
          <a:prstGeom prst="ellipse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7" name="Text 44"/>
          <p:cNvSpPr/>
          <p:nvPr/>
        </p:nvSpPr>
        <p:spPr>
          <a:xfrm>
            <a:off x="6583680" y="373075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[Client + Affilior]</a:t>
            </a:r>
            <a:endParaRPr lang="en-US" sz="750" dirty="0"/>
          </a:p>
        </p:txBody>
      </p:sp>
      <p:sp>
        <p:nvSpPr>
          <p:cNvPr id="48" name="Shape 45"/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9" name="Text 46"/>
          <p:cNvSpPr/>
          <p:nvPr/>
        </p:nvSpPr>
        <p:spPr>
          <a:xfrm>
            <a:off x="502920" y="4718304"/>
            <a:ext cx="8001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kern="0" spc="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 F F I L I O R</a:t>
            </a:r>
            <a:endParaRPr lang="en-US" sz="1000" dirty="0"/>
          </a:p>
        </p:txBody>
      </p:sp>
      <p:sp>
        <p:nvSpPr>
          <p:cNvPr id="50" name="Text 47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ANNEXE · BARÈME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18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Annexe — Barème détaillé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25880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TARIF EN LIGNE DIRECTE (ENFANTS, PARENTS)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502920" y="1536192"/>
            <a:ext cx="292608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576072" y="1536192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 de part nette taxable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429000" y="1536192"/>
            <a:ext cx="77724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3502152" y="1536192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02920" y="1819656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576072" y="1828800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N'excédant pas 8 072 €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3429000" y="1819656"/>
            <a:ext cx="7772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3502152" y="1828800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5 %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02920" y="2112264"/>
            <a:ext cx="29260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576072" y="2121408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8 072 € à 12 109 €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3429000" y="2112264"/>
            <a:ext cx="77724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1"/>
          <p:cNvSpPr/>
          <p:nvPr/>
        </p:nvSpPr>
        <p:spPr>
          <a:xfrm>
            <a:off x="3502152" y="2121408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10 %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02920" y="2404872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576072" y="2414016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12 109 € à 15 932 €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3429000" y="2404872"/>
            <a:ext cx="7772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5"/>
          <p:cNvSpPr/>
          <p:nvPr/>
        </p:nvSpPr>
        <p:spPr>
          <a:xfrm>
            <a:off x="3502152" y="2414016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15 %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02920" y="2697480"/>
            <a:ext cx="29260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7"/>
          <p:cNvSpPr/>
          <p:nvPr/>
        </p:nvSpPr>
        <p:spPr>
          <a:xfrm>
            <a:off x="576072" y="2706624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15 932 € à 552 324 €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3429000" y="2697480"/>
            <a:ext cx="77724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29"/>
          <p:cNvSpPr/>
          <p:nvPr/>
        </p:nvSpPr>
        <p:spPr>
          <a:xfrm>
            <a:off x="3502152" y="2706624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20 %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502920" y="2990088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1"/>
          <p:cNvSpPr/>
          <p:nvPr/>
        </p:nvSpPr>
        <p:spPr>
          <a:xfrm>
            <a:off x="576072" y="2999232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552 324 € à 902 838 €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3429000" y="2990088"/>
            <a:ext cx="7772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33"/>
          <p:cNvSpPr/>
          <p:nvPr/>
        </p:nvSpPr>
        <p:spPr>
          <a:xfrm>
            <a:off x="3502152" y="2999232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30 %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02920" y="3282696"/>
            <a:ext cx="29260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5"/>
          <p:cNvSpPr/>
          <p:nvPr/>
        </p:nvSpPr>
        <p:spPr>
          <a:xfrm>
            <a:off x="576072" y="3291840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902 838 € à 1 805 677 €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3429000" y="3282696"/>
            <a:ext cx="77724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Text 37"/>
          <p:cNvSpPr/>
          <p:nvPr/>
        </p:nvSpPr>
        <p:spPr>
          <a:xfrm>
            <a:off x="3502152" y="3291840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40 %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502920" y="3575304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Text 39"/>
          <p:cNvSpPr/>
          <p:nvPr/>
        </p:nvSpPr>
        <p:spPr>
          <a:xfrm>
            <a:off x="576072" y="3584448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Au-delà de 1 805 677 €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3429000" y="3575304"/>
            <a:ext cx="7772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Text 41"/>
          <p:cNvSpPr/>
          <p:nvPr/>
        </p:nvSpPr>
        <p:spPr>
          <a:xfrm>
            <a:off x="3502152" y="3584448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45 %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4315968" y="1325880"/>
            <a:ext cx="10973" cy="32004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6" name="Text 43"/>
          <p:cNvSpPr/>
          <p:nvPr/>
        </p:nvSpPr>
        <p:spPr>
          <a:xfrm>
            <a:off x="4462272" y="132588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ABATTEMENTS PAR BÉNÉFICIAIRE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4462272" y="15361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BÉNÉFICIAIRE</a:t>
            </a:r>
            <a:endParaRPr lang="en-US" sz="750" dirty="0"/>
          </a:p>
        </p:txBody>
      </p:sp>
      <p:sp>
        <p:nvSpPr>
          <p:cNvPr id="48" name="Text 45"/>
          <p:cNvSpPr/>
          <p:nvPr/>
        </p:nvSpPr>
        <p:spPr>
          <a:xfrm>
            <a:off x="6510528" y="153619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ABATTEMENT</a:t>
            </a:r>
            <a:endParaRPr lang="en-US" sz="750" dirty="0"/>
          </a:p>
        </p:txBody>
      </p:sp>
      <p:sp>
        <p:nvSpPr>
          <p:cNvPr id="49" name="Shape 46"/>
          <p:cNvSpPr/>
          <p:nvPr/>
        </p:nvSpPr>
        <p:spPr>
          <a:xfrm>
            <a:off x="4462272" y="1819656"/>
            <a:ext cx="20116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0" name="Shape 47"/>
          <p:cNvSpPr/>
          <p:nvPr/>
        </p:nvSpPr>
        <p:spPr>
          <a:xfrm>
            <a:off x="6528816" y="1819656"/>
            <a:ext cx="15087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1" name="Text 48"/>
          <p:cNvSpPr/>
          <p:nvPr/>
        </p:nvSpPr>
        <p:spPr>
          <a:xfrm>
            <a:off x="4535424" y="1828800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Conjoint / Partenaire PACS</a:t>
            </a:r>
            <a:endParaRPr lang="en-US" sz="850" dirty="0"/>
          </a:p>
        </p:txBody>
      </p:sp>
      <p:sp>
        <p:nvSpPr>
          <p:cNvPr id="52" name="Text 49"/>
          <p:cNvSpPr/>
          <p:nvPr/>
        </p:nvSpPr>
        <p:spPr>
          <a:xfrm>
            <a:off x="6601968" y="1828800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EXONÉRÉ</a:t>
            </a:r>
            <a:endParaRPr lang="en-US" sz="850" dirty="0"/>
          </a:p>
        </p:txBody>
      </p:sp>
      <p:sp>
        <p:nvSpPr>
          <p:cNvPr id="53" name="Shape 50"/>
          <p:cNvSpPr/>
          <p:nvPr/>
        </p:nvSpPr>
        <p:spPr>
          <a:xfrm>
            <a:off x="4462272" y="2130552"/>
            <a:ext cx="20116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4" name="Shape 51"/>
          <p:cNvSpPr/>
          <p:nvPr/>
        </p:nvSpPr>
        <p:spPr>
          <a:xfrm>
            <a:off x="6528816" y="2130552"/>
            <a:ext cx="15087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5" name="Text 52"/>
          <p:cNvSpPr/>
          <p:nvPr/>
        </p:nvSpPr>
        <p:spPr>
          <a:xfrm>
            <a:off x="4535424" y="2139696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Enfant (par parent)</a:t>
            </a:r>
            <a:endParaRPr lang="en-US" sz="850" dirty="0"/>
          </a:p>
        </p:txBody>
      </p:sp>
      <p:sp>
        <p:nvSpPr>
          <p:cNvPr id="56" name="Text 53"/>
          <p:cNvSpPr/>
          <p:nvPr/>
        </p:nvSpPr>
        <p:spPr>
          <a:xfrm>
            <a:off x="6601968" y="2139696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100 000 €</a:t>
            </a:r>
            <a:endParaRPr lang="en-US" sz="850" dirty="0"/>
          </a:p>
        </p:txBody>
      </p:sp>
      <p:sp>
        <p:nvSpPr>
          <p:cNvPr id="57" name="Shape 54"/>
          <p:cNvSpPr/>
          <p:nvPr/>
        </p:nvSpPr>
        <p:spPr>
          <a:xfrm>
            <a:off x="4462272" y="2441448"/>
            <a:ext cx="20116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8" name="Shape 55"/>
          <p:cNvSpPr/>
          <p:nvPr/>
        </p:nvSpPr>
        <p:spPr>
          <a:xfrm>
            <a:off x="6528816" y="2441448"/>
            <a:ext cx="15087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9" name="Text 56"/>
          <p:cNvSpPr/>
          <p:nvPr/>
        </p:nvSpPr>
        <p:spPr>
          <a:xfrm>
            <a:off x="4535424" y="2450592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Petit-enfant</a:t>
            </a:r>
            <a:endParaRPr lang="en-US" sz="850" dirty="0"/>
          </a:p>
        </p:txBody>
      </p:sp>
      <p:sp>
        <p:nvSpPr>
          <p:cNvPr id="60" name="Text 57"/>
          <p:cNvSpPr/>
          <p:nvPr/>
        </p:nvSpPr>
        <p:spPr>
          <a:xfrm>
            <a:off x="6601968" y="2450592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1 594 €</a:t>
            </a:r>
            <a:endParaRPr lang="en-US" sz="850" dirty="0"/>
          </a:p>
        </p:txBody>
      </p:sp>
      <p:sp>
        <p:nvSpPr>
          <p:cNvPr id="61" name="Shape 58"/>
          <p:cNvSpPr/>
          <p:nvPr/>
        </p:nvSpPr>
        <p:spPr>
          <a:xfrm>
            <a:off x="4462272" y="2752344"/>
            <a:ext cx="20116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2" name="Shape 59"/>
          <p:cNvSpPr/>
          <p:nvPr/>
        </p:nvSpPr>
        <p:spPr>
          <a:xfrm>
            <a:off x="6528816" y="2752344"/>
            <a:ext cx="15087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3" name="Text 60"/>
          <p:cNvSpPr/>
          <p:nvPr/>
        </p:nvSpPr>
        <p:spPr>
          <a:xfrm>
            <a:off x="4535424" y="2761488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Arrière-petit-enfant</a:t>
            </a:r>
            <a:endParaRPr lang="en-US" sz="850" dirty="0"/>
          </a:p>
        </p:txBody>
      </p:sp>
      <p:sp>
        <p:nvSpPr>
          <p:cNvPr id="64" name="Text 61"/>
          <p:cNvSpPr/>
          <p:nvPr/>
        </p:nvSpPr>
        <p:spPr>
          <a:xfrm>
            <a:off x="6601968" y="2761488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1 594 €</a:t>
            </a:r>
            <a:endParaRPr lang="en-US" sz="850" dirty="0"/>
          </a:p>
        </p:txBody>
      </p:sp>
      <p:sp>
        <p:nvSpPr>
          <p:cNvPr id="65" name="Shape 62"/>
          <p:cNvSpPr/>
          <p:nvPr/>
        </p:nvSpPr>
        <p:spPr>
          <a:xfrm>
            <a:off x="4462272" y="3063240"/>
            <a:ext cx="20116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6" name="Shape 63"/>
          <p:cNvSpPr/>
          <p:nvPr/>
        </p:nvSpPr>
        <p:spPr>
          <a:xfrm>
            <a:off x="6528816" y="3063240"/>
            <a:ext cx="15087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7" name="Text 64"/>
          <p:cNvSpPr/>
          <p:nvPr/>
        </p:nvSpPr>
        <p:spPr>
          <a:xfrm>
            <a:off x="4535424" y="3072384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Frère ou sœur</a:t>
            </a:r>
            <a:endParaRPr lang="en-US" sz="850" dirty="0"/>
          </a:p>
        </p:txBody>
      </p:sp>
      <p:sp>
        <p:nvSpPr>
          <p:cNvPr id="68" name="Text 65"/>
          <p:cNvSpPr/>
          <p:nvPr/>
        </p:nvSpPr>
        <p:spPr>
          <a:xfrm>
            <a:off x="6601968" y="3072384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15 932 €</a:t>
            </a:r>
            <a:endParaRPr lang="en-US" sz="850" dirty="0"/>
          </a:p>
        </p:txBody>
      </p:sp>
      <p:sp>
        <p:nvSpPr>
          <p:cNvPr id="69" name="Shape 66"/>
          <p:cNvSpPr/>
          <p:nvPr/>
        </p:nvSpPr>
        <p:spPr>
          <a:xfrm>
            <a:off x="4462272" y="3374136"/>
            <a:ext cx="20116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0" name="Shape 67"/>
          <p:cNvSpPr/>
          <p:nvPr/>
        </p:nvSpPr>
        <p:spPr>
          <a:xfrm>
            <a:off x="6528816" y="3374136"/>
            <a:ext cx="15087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1" name="Text 68"/>
          <p:cNvSpPr/>
          <p:nvPr/>
        </p:nvSpPr>
        <p:spPr>
          <a:xfrm>
            <a:off x="4535424" y="3383280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Neveu / Nièce</a:t>
            </a:r>
            <a:endParaRPr lang="en-US" sz="850" dirty="0"/>
          </a:p>
        </p:txBody>
      </p:sp>
      <p:sp>
        <p:nvSpPr>
          <p:cNvPr id="72" name="Text 69"/>
          <p:cNvSpPr/>
          <p:nvPr/>
        </p:nvSpPr>
        <p:spPr>
          <a:xfrm>
            <a:off x="6601968" y="3383280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7 967 €</a:t>
            </a:r>
            <a:endParaRPr lang="en-US" sz="850" dirty="0"/>
          </a:p>
        </p:txBody>
      </p:sp>
      <p:sp>
        <p:nvSpPr>
          <p:cNvPr id="73" name="Shape 70"/>
          <p:cNvSpPr/>
          <p:nvPr/>
        </p:nvSpPr>
        <p:spPr>
          <a:xfrm>
            <a:off x="4462272" y="3685032"/>
            <a:ext cx="20116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4" name="Shape 71"/>
          <p:cNvSpPr/>
          <p:nvPr/>
        </p:nvSpPr>
        <p:spPr>
          <a:xfrm>
            <a:off x="6528816" y="3685032"/>
            <a:ext cx="15087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5" name="Text 72"/>
          <p:cNvSpPr/>
          <p:nvPr/>
        </p:nvSpPr>
        <p:spPr>
          <a:xfrm>
            <a:off x="4535424" y="3694176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Autre (non parent)</a:t>
            </a:r>
            <a:endParaRPr lang="en-US" sz="850" dirty="0"/>
          </a:p>
        </p:txBody>
      </p:sp>
      <p:sp>
        <p:nvSpPr>
          <p:cNvPr id="76" name="Text 73"/>
          <p:cNvSpPr/>
          <p:nvPr/>
        </p:nvSpPr>
        <p:spPr>
          <a:xfrm>
            <a:off x="6601968" y="3694176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1 594 €</a:t>
            </a:r>
            <a:endParaRPr lang="en-US" sz="850" dirty="0"/>
          </a:p>
        </p:txBody>
      </p:sp>
      <p:sp>
        <p:nvSpPr>
          <p:cNvPr id="77" name="Shape 74"/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8" name="Text 75"/>
          <p:cNvSpPr/>
          <p:nvPr/>
        </p:nvSpPr>
        <p:spPr>
          <a:xfrm>
            <a:off x="502920" y="4690872"/>
            <a:ext cx="8001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Abattements renouvelables tous les 15 ans par donateur/successeur. Source : BOFIP — bofip.impots.gouv.fr</a:t>
            </a:r>
            <a:endParaRPr lang="en-US" sz="750" dirty="0"/>
          </a:p>
        </p:txBody>
      </p:sp>
      <p:sp>
        <p:nvSpPr>
          <p:cNvPr id="79" name="Text 76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96f3f382-ceb1-40cb-99f5-e72dad3ad468" xsi:nil="true"/>
    <lcf76f155ced4ddcb4097134ff3c332f xmlns="20af6729-ca02-41fe-ad33-8052e43e59c7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413E88BE41E9B4697EEB1383CCFCEE9" ma:contentTypeVersion="15" ma:contentTypeDescription="Crée un document." ma:contentTypeScope="" ma:versionID="fdc6ab2ac34b5193386aa592c794ff43">
  <xsd:schema xmlns:xsd="http://www.w3.org/2001/XMLSchema" xmlns:xs="http://www.w3.org/2001/XMLSchema" xmlns:p="http://schemas.microsoft.com/office/2006/metadata/properties" xmlns:ns2="20af6729-ca02-41fe-ad33-8052e43e59c7" xmlns:ns3="96f3f382-ceb1-40cb-99f5-e72dad3ad468" targetNamespace="http://schemas.microsoft.com/office/2006/metadata/properties" ma:root="true" ma:fieldsID="deac9eb5af6cc4882cd6ba5d54d79817" ns2:_="" ns3:_="">
    <xsd:import namespace="20af6729-ca02-41fe-ad33-8052e43e59c7"/>
    <xsd:import namespace="96f3f382-ceb1-40cb-99f5-e72dad3ad46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Location" minOccurs="0"/>
                <xsd:element ref="ns2:MediaLengthInSecond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0af6729-ca02-41fe-ad33-8052e43e59c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Balises d’images" ma:readOnly="false" ma:fieldId="{5cf76f15-5ced-4ddc-b409-7134ff3c332f}" ma:taxonomyMulti="true" ma:sspId="aa5910e2-05a9-40dc-8adb-0ff760bd223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6f3f382-ceb1-40cb-99f5-e72dad3ad468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a0be584f-2fe4-4807-82a2-8b95f00e20f2}" ma:internalName="TaxCatchAll" ma:showField="CatchAllData" ma:web="96f3f382-ceb1-40cb-99f5-e72dad3ad46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D2500C3-0BF9-4160-9EFB-6F363BE89EA2}">
  <ds:schemaRefs>
    <ds:schemaRef ds:uri="http://schemas.microsoft.com/office/2006/metadata/properties"/>
    <ds:schemaRef ds:uri="http://schemas.microsoft.com/office/infopath/2007/PartnerControls"/>
    <ds:schemaRef ds:uri="96f3f382-ceb1-40cb-99f5-e72dad3ad468"/>
    <ds:schemaRef ds:uri="20af6729-ca02-41fe-ad33-8052e43e59c7"/>
  </ds:schemaRefs>
</ds:datastoreItem>
</file>

<file path=customXml/itemProps2.xml><?xml version="1.0" encoding="utf-8"?>
<ds:datastoreItem xmlns:ds="http://schemas.openxmlformats.org/officeDocument/2006/customXml" ds:itemID="{BE50BBAE-E30E-4E78-9619-46B24882798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0af6729-ca02-41fe-ad33-8052e43e59c7"/>
    <ds:schemaRef ds:uri="96f3f382-ceb1-40cb-99f5-e72dad3ad46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F079F69C-2C23-423F-AFA6-0DA966A4C7C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2294</Words>
  <Application>Microsoft Office PowerPoint</Application>
  <PresentationFormat>Affichage à l'écran (16:9)</PresentationFormat>
  <Paragraphs>442</Paragraphs>
  <Slides>19</Slides>
  <Notes>19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19</vt:i4>
      </vt:variant>
    </vt:vector>
  </HeadingPairs>
  <TitlesOfParts>
    <vt:vector size="23" baseType="lpstr">
      <vt:lpstr>Arial</vt:lpstr>
      <vt:lpstr>Calibri</vt:lpstr>
      <vt:lpstr>Garamond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Marc Amiel</cp:lastModifiedBy>
  <cp:revision>3</cp:revision>
  <dcterms:created xsi:type="dcterms:W3CDTF">2026-08-01T09:13:54Z</dcterms:created>
  <dcterms:modified xsi:type="dcterms:W3CDTF">2026-08-28T12:16:41Z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0x010100E413E88BE41E9B4697EEB1383CCFCEE9</vt:lpwstr>
  </property>
</Properties>
</file>