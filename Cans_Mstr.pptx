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2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1C-4D6E-B23E-20B5810BB680}"/>
              </c:ext>
            </c:extLst>
          </c:dPt>
          <c:dPt>
            <c:idx val="1"/>
            <c:bubble3D val="0"/>
            <c:spPr>
              <a:solidFill>
                <a:srgbClr val="8B1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1C-4D6E-B23E-20B5810BB680}"/>
              </c:ext>
            </c:extLst>
          </c:dPt>
          <c:dPt>
            <c:idx val="2"/>
            <c:bubble3D val="0"/>
            <c:spPr>
              <a:solidFill>
                <a:srgbClr val="A09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1C-4D6E-B23E-20B5810BB680}"/>
              </c:ext>
            </c:extLst>
          </c:dPt>
          <c:dPt>
            <c:idx val="3"/>
            <c:bubble3D val="0"/>
            <c:spPr>
              <a:solidFill>
                <a:srgbClr val="CFC8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1C-4D6E-B23E-20B5810BB68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1C-4D6E-B23E-20B5810BB68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1C-4D6E-B23E-20B5810BB68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1C-4D6E-B23E-20B5810BB68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1C-4D6E-B23E-20B5810BB68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Immobilier</c:v>
                </c:pt>
                <c:pt idx="1">
                  <c:v>Financier</c:v>
                </c:pt>
                <c:pt idx="2">
                  <c:v>Retraite</c:v>
                </c:pt>
                <c:pt idx="3">
                  <c:v>Liquidités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1C-4D6E-B23E-20B5810BB6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Liquidité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FC8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90-4DF6-A584-4BDB3A9AE02A}"/>
              </c:ext>
            </c:extLst>
          </c:dPt>
          <c:dPt>
            <c:idx val="1"/>
            <c:bubble3D val="0"/>
            <c:spPr>
              <a:solidFill>
                <a:srgbClr val="1C2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90-4DF6-A584-4BDB3A9AE02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F90-4DF6-A584-4BDB3A9AE02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F90-4DF6-A584-4BDB3A9AE02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Liquide</c:v>
                </c:pt>
                <c:pt idx="1">
                  <c:v>Illiquide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90-4DF6-A584-4BDB3A9AE0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02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75104"/>
            <a:ext cx="192024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4128" y="3236976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91440" y="3328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 spc="150" dirty="0">
                <a:solidFill>
                  <a:srgbClr val="CFC8B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Gestion Privée</a:t>
            </a:r>
            <a:endParaRPr lang="en-US" sz="850" dirty="0"/>
          </a:p>
        </p:txBody>
      </p:sp>
      <p:sp>
        <p:nvSpPr>
          <p:cNvPr id="17" name="Text 2"/>
          <p:cNvSpPr/>
          <p:nvPr/>
        </p:nvSpPr>
        <p:spPr>
          <a:xfrm>
            <a:off x="91440" y="3538416"/>
            <a:ext cx="25603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kern="0" spc="150" dirty="0">
                <a:solidFill>
                  <a:srgbClr val="CFC8B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Gestion de fortune · Family office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926080" y="118872"/>
            <a:ext cx="5715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035040" y="1737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[MOIS ANNÉE]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108960" y="1298448"/>
            <a:ext cx="20117" cy="1417320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337560" y="118872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[Prénom Nom]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3337560" y="2304288"/>
            <a:ext cx="502920" cy="228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337560" y="25146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Stratégie patrimoniale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37560" y="32186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·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520440" y="32186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[Mot-clé objectif 1 · Mot-clé objectif 2 · …]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37560" y="4160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CFC8B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Document confidentiel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743200" y="4974336"/>
            <a:ext cx="64008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108960" y="5001768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document est confidentiel et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SOMMAIRE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Sommaire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4173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5E0D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078992" y="14538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Audit patrimonial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78992" y="17647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Votre situation · Patrimoine · Fiscalité · Droits de succession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498080" y="1527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 — 08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2130552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02920" y="2240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5E0D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078992" y="2276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78992" y="2587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Nos remarques · Notre diagnostic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49808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09 — 10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2953512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02920" y="3063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5E0D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078992" y="30998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Votre stratégie Affilior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341071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Projets · Moyens · Impact · Synthèse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498080" y="3172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 — 15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3776472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02920" y="3886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5E0D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1078992" y="39227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Accompagnement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78992" y="42336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Notre accompagnement · Prochaines étapes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498080" y="3995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 — 17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8B1A1A">
              <a:alpha val="60000"/>
            </a:srgbClr>
          </a:solidFill>
          <a:ln w="12700">
            <a:solidFill>
              <a:srgbClr val="8B1A1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dirty="0">
                <a:solidFill>
                  <a:srgbClr val="24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1097280" cy="228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63347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3F0E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AUDIT PATRIMONIAL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Situation · Patrimoine · Fiscalité · Droits de succession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SITUATION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5943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Votre situation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371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ÂGE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2920" y="16093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ans — ou X et X ans si couple]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1956816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02920" y="2029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SITUATION PROFESSIONNELLE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2920" y="2267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[Profession · Employeur · Statut]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2615184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02920" y="26883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SITUATION FAMILIALE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292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[Marié(e) / Pacsé(e) / Célibataire] sous le régime de [régime matrimonial]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3273552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02920" y="33467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ENFANTS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0292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enfants âgés de X, X et X ans]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393192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502920" y="4005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RÉSIDENCE PRINCIPALE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02920" y="4242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[Propriétaire / Locataire] à [Ville]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0" y="594360"/>
            <a:ext cx="10973" cy="429768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4709160" y="1371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REVENU ANNUEL NET DÉCLARÉ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709160" y="16093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 en [ANNÉE]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709160" y="1956816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709160" y="2029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ÉPARGNE MENSUELLE CAPACITÉ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709160" y="2267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€]/mois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709160" y="2615184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709160" y="26883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SITUATION PARTICULIÈRE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70916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[AGA, BSPCE, stock-options, gérance, etc.]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PATRIMOINE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05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Votre patrimoine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Shape 67"/>
          <p:cNvSpPr/>
          <p:nvPr/>
        </p:nvSpPr>
        <p:spPr>
          <a:xfrm>
            <a:off x="5989320" y="1371600"/>
            <a:ext cx="10973" cy="338328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8"/>
          <p:cNvSpPr/>
          <p:nvPr/>
        </p:nvSpPr>
        <p:spPr>
          <a:xfrm>
            <a:off x="6144768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RÉPARTITION VISUELLE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6144768" y="16093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mettre à jour selon les montants — adapter les largeurs proportionnellement.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6144768" y="20848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6144768" y="2286000"/>
            <a:ext cx="1028700" cy="2560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2"/>
          <p:cNvSpPr/>
          <p:nvPr/>
        </p:nvSpPr>
        <p:spPr>
          <a:xfrm>
            <a:off x="72466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6144768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 financiers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6144768" y="2971800"/>
            <a:ext cx="80010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5"/>
          <p:cNvSpPr/>
          <p:nvPr/>
        </p:nvSpPr>
        <p:spPr>
          <a:xfrm>
            <a:off x="7018020" y="2971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6144768" y="34564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Épargne entreprise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6144768" y="3657600"/>
            <a:ext cx="274320" cy="256032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78"/>
          <p:cNvSpPr/>
          <p:nvPr/>
        </p:nvSpPr>
        <p:spPr>
          <a:xfrm>
            <a:off x="6492240" y="3657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12 %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6144768" y="41422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6144768" y="4343400"/>
            <a:ext cx="182880" cy="256032"/>
          </a:xfrm>
          <a:prstGeom prst="rect">
            <a:avLst/>
          </a:prstGeom>
          <a:solidFill>
            <a:srgbClr val="A09080"/>
          </a:solidFill>
          <a:ln w="12700">
            <a:solidFill>
              <a:srgbClr val="A09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1"/>
          <p:cNvSpPr/>
          <p:nvPr/>
        </p:nvSpPr>
        <p:spPr>
          <a:xfrm>
            <a:off x="6400800" y="4343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900" dirty="0"/>
          </a:p>
        </p:txBody>
      </p:sp>
      <p:sp>
        <p:nvSpPr>
          <p:cNvPr id="85" name="Text 82"/>
          <p:cNvSpPr/>
          <p:nvPr/>
        </p:nvSpPr>
        <p:spPr>
          <a:xfrm>
            <a:off x="6144768" y="47548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— valeurs à personnaliser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  <p:sp>
        <p:nvSpPr>
          <p:cNvPr id="88" name="Shape 8">
            <a:extLst>
              <a:ext uri="{FF2B5EF4-FFF2-40B4-BE49-F238E27FC236}">
                <a16:creationId xmlns:a16="http://schemas.microsoft.com/office/drawing/2014/main" id="{A7BF4CE1-7DE6-D9E9-BB09-74698E5EECD1}"/>
              </a:ext>
            </a:extLst>
          </p:cNvPr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90" name="Table 86">
            <a:extLst>
              <a:ext uri="{FF2B5EF4-FFF2-40B4-BE49-F238E27FC236}">
                <a16:creationId xmlns:a16="http://schemas.microsoft.com/office/drawing/2014/main" id="{46A68E02-24B7-A096-7122-839418A02BCC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207008"/>
          <a:ext cx="5486400" cy="3561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 marL="45720" marR="45720" marT="9144" marB="9144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Propriétaire</a:t>
                      </a:r>
                    </a:p>
                  </a:txBody>
                  <a:tcPr marL="45720" marR="45720" marT="9144" marB="9144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Détention</a:t>
                      </a:r>
                    </a:p>
                  </a:txBody>
                  <a:tcPr marL="45720" marR="45720" marT="9144" marB="9144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Montant</a:t>
                      </a:r>
                    </a:p>
                  </a:txBody>
                  <a:tcPr marL="45720" marR="45720" marT="9144" marB="9144"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1]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2]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3]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4]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5]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6]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7]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8]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9]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[Actif 10]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[Communauté / M. / Mme]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[PP / USF / NP / —]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A5568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F3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9144" marB="9144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[X €]</a:t>
                      </a:r>
                    </a:p>
                  </a:txBody>
                  <a:tcPr marL="45720" marR="45720" marT="9144" marB="9144"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PATRIMOINE · ALLOCATION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5669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Répartition du patrimoine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088136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617720" y="1188720"/>
            <a:ext cx="10973" cy="347472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261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 CLASSE D'ACTIFS</a:t>
            </a:r>
            <a:endParaRPr lang="en-US" sz="7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274320" y="1389888"/>
          <a:ext cx="42062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3941064"/>
            <a:ext cx="118872" cy="1188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685800" y="3913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828800" y="39136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%]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423160" y="3941064"/>
            <a:ext cx="118872" cy="1188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2606040" y="3913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749040" y="39136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%]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920" y="4178808"/>
            <a:ext cx="118872" cy="118872"/>
          </a:xfrm>
          <a:prstGeom prst="rect">
            <a:avLst/>
          </a:prstGeom>
          <a:solidFill>
            <a:srgbClr val="A09080"/>
          </a:solidFill>
          <a:ln w="12700">
            <a:solidFill>
              <a:srgbClr val="A09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85800" y="41513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828800" y="4151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%]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2423160" y="4178808"/>
            <a:ext cx="118872" cy="118872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2606040" y="41513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Liquidités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749040" y="4151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%]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754880" y="1261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 LIQUIDITÉ</a:t>
            </a:r>
            <a:endParaRPr lang="en-US" sz="75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4617720" y="1389888"/>
          <a:ext cx="39319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Shape 23"/>
          <p:cNvSpPr/>
          <p:nvPr/>
        </p:nvSpPr>
        <p:spPr>
          <a:xfrm>
            <a:off x="4754880" y="3941064"/>
            <a:ext cx="118872" cy="118872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937760" y="3913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080760" y="39136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%]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6675120" y="3941064"/>
            <a:ext cx="118872" cy="1188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6858000" y="3913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Illiquide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8001000" y="39136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%]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502920" y="4645152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502920" y="4681728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estimées sur la base des éléments communiqués. À mettre à jour lors de chaque revue patrimoniale.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FISCALITÉ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06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Fiscalité et budget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6276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%]</a:t>
            </a:r>
            <a:endParaRPr lang="en-US" sz="6000" dirty="0"/>
          </a:p>
        </p:txBody>
      </p:sp>
      <p:sp>
        <p:nvSpPr>
          <p:cNvPr id="14" name="Shape 11"/>
          <p:cNvSpPr/>
          <p:nvPr/>
        </p:nvSpPr>
        <p:spPr>
          <a:xfrm>
            <a:off x="502920" y="2606040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0292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[Tranche marginale applicable — noter CEHR si applicable]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931920" y="1371600"/>
            <a:ext cx="10973" cy="333756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114800" y="13716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D'IMPÔTS [ANNÉE]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114800" y="15910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196596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217920" y="13716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DES REVENUS EN IMPÔTS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17920" y="15910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[X,XX %]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217920" y="2194560"/>
            <a:ext cx="196596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114800" y="25603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D'ENDETTEMENT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114800" y="2779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[X,XX %]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114800" y="3383280"/>
            <a:ext cx="196596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6217920" y="25603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AVANT TRANCHE SUP.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217920" y="2779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217920" y="3383280"/>
            <a:ext cx="196596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4114800" y="37490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FISCAL PER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114800" y="39684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217920" y="37490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NETS MENSUELS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217920" y="39684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€]/mois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2">
            <a:extLst>
              <a:ext uri="{FF2B5EF4-FFF2-40B4-BE49-F238E27FC236}">
                <a16:creationId xmlns:a16="http://schemas.microsoft.com/office/drawing/2014/main" id="{0E6925D7-BF86-4798-00C2-7DA4B83F1F10}"/>
              </a:ext>
            </a:extLst>
          </p:cNvPr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Shape 0">
            <a:extLst>
              <a:ext uri="{FF2B5EF4-FFF2-40B4-BE49-F238E27FC236}">
                <a16:creationId xmlns:a16="http://schemas.microsoft.com/office/drawing/2014/main" id="{0D4A3E05-85C1-D1F5-9F75-3EA44378DD38}"/>
              </a:ext>
            </a:extLst>
          </p:cNvPr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Shape 1">
            <a:extLst>
              <a:ext uri="{FF2B5EF4-FFF2-40B4-BE49-F238E27FC236}">
                <a16:creationId xmlns:a16="http://schemas.microsoft.com/office/drawing/2014/main" id="{5F70B095-D39F-4EA1-33E6-40ECEDF3FC04}"/>
              </a:ext>
            </a:extLst>
          </p:cNvPr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2" name="Image 0" descr="preencoded.png">
            <a:extLst>
              <a:ext uri="{FF2B5EF4-FFF2-40B4-BE49-F238E27FC236}">
                <a16:creationId xmlns:a16="http://schemas.microsoft.com/office/drawing/2014/main" id="{38FAB918-3360-3212-90E1-A89EF06E0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136" name="Shape 3">
            <a:extLst>
              <a:ext uri="{FF2B5EF4-FFF2-40B4-BE49-F238E27FC236}">
                <a16:creationId xmlns:a16="http://schemas.microsoft.com/office/drawing/2014/main" id="{9A476FF6-4651-2FB7-DA21-B4372E30A410}"/>
              </a:ext>
            </a:extLst>
          </p:cNvPr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" name="Text 4">
            <a:extLst>
              <a:ext uri="{FF2B5EF4-FFF2-40B4-BE49-F238E27FC236}">
                <a16:creationId xmlns:a16="http://schemas.microsoft.com/office/drawing/2014/main" id="{0CEADF81-E3DE-D562-33E0-C2C6762A2135}"/>
              </a:ext>
            </a:extLst>
          </p:cNvPr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SUCCESSION · DROITS ESTIMÉS</a:t>
            </a:r>
            <a:endParaRPr lang="en-US" sz="750" dirty="0"/>
          </a:p>
        </p:txBody>
      </p:sp>
      <p:sp>
        <p:nvSpPr>
          <p:cNvPr id="141" name="Text 5">
            <a:extLst>
              <a:ext uri="{FF2B5EF4-FFF2-40B4-BE49-F238E27FC236}">
                <a16:creationId xmlns:a16="http://schemas.microsoft.com/office/drawing/2014/main" id="{41D73E14-2473-94E7-B98A-E551ADC9B175}"/>
              </a:ext>
            </a:extLst>
          </p:cNvPr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07</a:t>
            </a:r>
            <a:endParaRPr lang="en-US" sz="700" dirty="0"/>
          </a:p>
        </p:txBody>
      </p:sp>
      <p:sp>
        <p:nvSpPr>
          <p:cNvPr id="143" name="Text 6">
            <a:extLst>
              <a:ext uri="{FF2B5EF4-FFF2-40B4-BE49-F238E27FC236}">
                <a16:creationId xmlns:a16="http://schemas.microsoft.com/office/drawing/2014/main" id="{AED9436E-91A0-8369-7760-A835861914F5}"/>
              </a:ext>
            </a:extLst>
          </p:cNvPr>
          <p:cNvSpPr/>
          <p:nvPr/>
        </p:nvSpPr>
        <p:spPr>
          <a:xfrm>
            <a:off x="502920" y="5669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Droits de succession estimés</a:t>
            </a:r>
            <a:endParaRPr lang="en-US" sz="2400" dirty="0"/>
          </a:p>
        </p:txBody>
      </p:sp>
      <p:sp>
        <p:nvSpPr>
          <p:cNvPr id="145" name="Shape 7">
            <a:extLst>
              <a:ext uri="{FF2B5EF4-FFF2-40B4-BE49-F238E27FC236}">
                <a16:creationId xmlns:a16="http://schemas.microsoft.com/office/drawing/2014/main" id="{A2A085BF-4B36-1E6B-7FAE-53824B6A0D42}"/>
              </a:ext>
            </a:extLst>
          </p:cNvPr>
          <p:cNvSpPr/>
          <p:nvPr/>
        </p:nvSpPr>
        <p:spPr>
          <a:xfrm>
            <a:off x="502920" y="1088136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" name="Shape 8">
            <a:extLst>
              <a:ext uri="{FF2B5EF4-FFF2-40B4-BE49-F238E27FC236}">
                <a16:creationId xmlns:a16="http://schemas.microsoft.com/office/drawing/2014/main" id="{1437053C-9B1D-377F-36DF-CD1110CD897C}"/>
              </a:ext>
            </a:extLst>
          </p:cNvPr>
          <p:cNvSpPr/>
          <p:nvPr/>
        </p:nvSpPr>
        <p:spPr>
          <a:xfrm>
            <a:off x="502920" y="1188720"/>
            <a:ext cx="2450592" cy="340128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" name="Text 9">
            <a:extLst>
              <a:ext uri="{FF2B5EF4-FFF2-40B4-BE49-F238E27FC236}">
                <a16:creationId xmlns:a16="http://schemas.microsoft.com/office/drawing/2014/main" id="{F07770C3-A383-84AA-A931-ACB99E378E3E}"/>
              </a:ext>
            </a:extLst>
          </p:cNvPr>
          <p:cNvSpPr/>
          <p:nvPr/>
        </p:nvSpPr>
        <p:spPr>
          <a:xfrm>
            <a:off x="658368" y="13533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E5E0D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1ER DÉCÈS</a:t>
            </a:r>
            <a:endParaRPr lang="en-US" sz="750" dirty="0"/>
          </a:p>
        </p:txBody>
      </p:sp>
      <p:sp>
        <p:nvSpPr>
          <p:cNvPr id="151" name="Text 10">
            <a:extLst>
              <a:ext uri="{FF2B5EF4-FFF2-40B4-BE49-F238E27FC236}">
                <a16:creationId xmlns:a16="http://schemas.microsoft.com/office/drawing/2014/main" id="{5EB555D2-6850-08A9-9931-F612A581275F}"/>
              </a:ext>
            </a:extLst>
          </p:cNvPr>
          <p:cNvSpPr/>
          <p:nvPr/>
        </p:nvSpPr>
        <p:spPr>
          <a:xfrm>
            <a:off x="658368" y="1609344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PRÉDÉCÈS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[Mme/M. X.]</a:t>
            </a:r>
            <a:endParaRPr lang="en-US" sz="950" dirty="0"/>
          </a:p>
        </p:txBody>
      </p:sp>
      <p:sp>
        <p:nvSpPr>
          <p:cNvPr id="153" name="Shape 11">
            <a:extLst>
              <a:ext uri="{FF2B5EF4-FFF2-40B4-BE49-F238E27FC236}">
                <a16:creationId xmlns:a16="http://schemas.microsoft.com/office/drawing/2014/main" id="{01038039-CBAD-B59B-8068-C65C8868B4E8}"/>
              </a:ext>
            </a:extLst>
          </p:cNvPr>
          <p:cNvSpPr/>
          <p:nvPr/>
        </p:nvSpPr>
        <p:spPr>
          <a:xfrm>
            <a:off x="658368" y="2103120"/>
            <a:ext cx="1645920" cy="10973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" name="Text 12">
            <a:extLst>
              <a:ext uri="{FF2B5EF4-FFF2-40B4-BE49-F238E27FC236}">
                <a16:creationId xmlns:a16="http://schemas.microsoft.com/office/drawing/2014/main" id="{93D743EC-33BC-160B-BE42-6D0F8EC4EC73}"/>
              </a:ext>
            </a:extLst>
          </p:cNvPr>
          <p:cNvSpPr/>
          <p:nvPr/>
        </p:nvSpPr>
        <p:spPr>
          <a:xfrm>
            <a:off x="658368" y="221284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80" i="1" dirty="0">
                <a:solidFill>
                  <a:srgbClr val="4A556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4400" dirty="0"/>
          </a:p>
        </p:txBody>
      </p:sp>
      <p:sp>
        <p:nvSpPr>
          <p:cNvPr id="157" name="Text 13">
            <a:extLst>
              <a:ext uri="{FF2B5EF4-FFF2-40B4-BE49-F238E27FC236}">
                <a16:creationId xmlns:a16="http://schemas.microsoft.com/office/drawing/2014/main" id="{3F9B1DF1-2B7B-E327-D558-D00FB9DE0315}"/>
              </a:ext>
            </a:extLst>
          </p:cNvPr>
          <p:cNvSpPr/>
          <p:nvPr/>
        </p:nvSpPr>
        <p:spPr>
          <a:xfrm>
            <a:off x="658368" y="32461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droits exigibles</a:t>
            </a:r>
            <a:endParaRPr lang="en-US" sz="800" dirty="0"/>
          </a:p>
        </p:txBody>
      </p:sp>
      <p:sp>
        <p:nvSpPr>
          <p:cNvPr id="159" name="Text 14">
            <a:extLst>
              <a:ext uri="{FF2B5EF4-FFF2-40B4-BE49-F238E27FC236}">
                <a16:creationId xmlns:a16="http://schemas.microsoft.com/office/drawing/2014/main" id="{B7F94E8C-0728-E667-18D8-E49659B18178}"/>
              </a:ext>
            </a:extLst>
          </p:cNvPr>
          <p:cNvSpPr/>
          <p:nvPr/>
        </p:nvSpPr>
        <p:spPr>
          <a:xfrm>
            <a:off x="658368" y="3493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enfant (×N)</a:t>
            </a:r>
            <a:endParaRPr lang="en-US" sz="850" dirty="0"/>
          </a:p>
        </p:txBody>
      </p:sp>
      <p:sp>
        <p:nvSpPr>
          <p:cNvPr id="161" name="Text 15">
            <a:extLst>
              <a:ext uri="{FF2B5EF4-FFF2-40B4-BE49-F238E27FC236}">
                <a16:creationId xmlns:a16="http://schemas.microsoft.com/office/drawing/2014/main" id="{B04634B6-3EC1-6C8E-DCBD-778E4E9F7A6F}"/>
              </a:ext>
            </a:extLst>
          </p:cNvPr>
          <p:cNvSpPr/>
          <p:nvPr/>
        </p:nvSpPr>
        <p:spPr>
          <a:xfrm>
            <a:off x="1828800" y="34930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850" dirty="0"/>
          </a:p>
        </p:txBody>
      </p:sp>
      <p:sp>
        <p:nvSpPr>
          <p:cNvPr id="163" name="Text 18">
            <a:extLst>
              <a:ext uri="{FF2B5EF4-FFF2-40B4-BE49-F238E27FC236}">
                <a16:creationId xmlns:a16="http://schemas.microsoft.com/office/drawing/2014/main" id="{FB8A256A-ECB9-864A-AEB3-796B7B8A8A67}"/>
              </a:ext>
            </a:extLst>
          </p:cNvPr>
          <p:cNvSpPr/>
          <p:nvPr/>
        </p:nvSpPr>
        <p:spPr>
          <a:xfrm>
            <a:off x="658368" y="3749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Conjoint</a:t>
            </a:r>
            <a:endParaRPr lang="en-US" sz="850" dirty="0"/>
          </a:p>
        </p:txBody>
      </p:sp>
      <p:sp>
        <p:nvSpPr>
          <p:cNvPr id="165" name="Text 18">
            <a:extLst>
              <a:ext uri="{FF2B5EF4-FFF2-40B4-BE49-F238E27FC236}">
                <a16:creationId xmlns:a16="http://schemas.microsoft.com/office/drawing/2014/main" id="{474B0C80-BCFA-CF36-BDAE-9A452E3F3FFD}"/>
              </a:ext>
            </a:extLst>
          </p:cNvPr>
          <p:cNvSpPr/>
          <p:nvPr/>
        </p:nvSpPr>
        <p:spPr>
          <a:xfrm>
            <a:off x="658368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Capitaux décès</a:t>
            </a:r>
            <a:endParaRPr lang="en-US" sz="850" dirty="0"/>
          </a:p>
        </p:txBody>
      </p:sp>
      <p:sp>
        <p:nvSpPr>
          <p:cNvPr id="167" name="Text 19">
            <a:extLst>
              <a:ext uri="{FF2B5EF4-FFF2-40B4-BE49-F238E27FC236}">
                <a16:creationId xmlns:a16="http://schemas.microsoft.com/office/drawing/2014/main" id="{D08C26A5-EA98-A3FC-6921-E82295220E23}"/>
              </a:ext>
            </a:extLst>
          </p:cNvPr>
          <p:cNvSpPr/>
          <p:nvPr/>
        </p:nvSpPr>
        <p:spPr>
          <a:xfrm>
            <a:off x="1828800" y="374904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EXONÉRÉ</a:t>
            </a:r>
            <a:endParaRPr lang="en-US" sz="850" dirty="0"/>
          </a:p>
        </p:txBody>
      </p:sp>
      <p:sp>
        <p:nvSpPr>
          <p:cNvPr id="169" name="Text 19">
            <a:extLst>
              <a:ext uri="{FF2B5EF4-FFF2-40B4-BE49-F238E27FC236}">
                <a16:creationId xmlns:a16="http://schemas.microsoft.com/office/drawing/2014/main" id="{5ADF227B-2398-D590-A662-C8014FC42395}"/>
              </a:ext>
            </a:extLst>
          </p:cNvPr>
          <p:cNvSpPr/>
          <p:nvPr/>
        </p:nvSpPr>
        <p:spPr>
          <a:xfrm>
            <a:off x="1828800" y="400507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850" dirty="0"/>
          </a:p>
        </p:txBody>
      </p:sp>
      <p:sp>
        <p:nvSpPr>
          <p:cNvPr id="171" name="Shape 20">
            <a:extLst>
              <a:ext uri="{FF2B5EF4-FFF2-40B4-BE49-F238E27FC236}">
                <a16:creationId xmlns:a16="http://schemas.microsoft.com/office/drawing/2014/main" id="{B4FA201D-D7B6-5C3A-CB30-5EFDA89ECF73}"/>
              </a:ext>
            </a:extLst>
          </p:cNvPr>
          <p:cNvSpPr/>
          <p:nvPr/>
        </p:nvSpPr>
        <p:spPr>
          <a:xfrm>
            <a:off x="3163824" y="1188720"/>
            <a:ext cx="2450592" cy="3401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3" name="Text 21">
            <a:extLst>
              <a:ext uri="{FF2B5EF4-FFF2-40B4-BE49-F238E27FC236}">
                <a16:creationId xmlns:a16="http://schemas.microsoft.com/office/drawing/2014/main" id="{0E23C2D5-C4F0-D488-529C-E28221A15191}"/>
              </a:ext>
            </a:extLst>
          </p:cNvPr>
          <p:cNvSpPr/>
          <p:nvPr/>
        </p:nvSpPr>
        <p:spPr>
          <a:xfrm>
            <a:off x="3310128" y="13533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F3F0E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2ÈME DÉCÈS</a:t>
            </a:r>
            <a:endParaRPr lang="en-US" sz="750" dirty="0"/>
          </a:p>
        </p:txBody>
      </p:sp>
      <p:sp>
        <p:nvSpPr>
          <p:cNvPr id="175" name="Text 22">
            <a:extLst>
              <a:ext uri="{FF2B5EF4-FFF2-40B4-BE49-F238E27FC236}">
                <a16:creationId xmlns:a16="http://schemas.microsoft.com/office/drawing/2014/main" id="{48EF1E30-8666-B7E8-C4E7-7B0742E9AD10}"/>
              </a:ext>
            </a:extLst>
          </p:cNvPr>
          <p:cNvSpPr/>
          <p:nvPr/>
        </p:nvSpPr>
        <p:spPr>
          <a:xfrm>
            <a:off x="3310128" y="1609344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3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DÉCÈS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F3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[Mme/M. Y.]</a:t>
            </a:r>
            <a:endParaRPr lang="en-US" sz="950" dirty="0"/>
          </a:p>
        </p:txBody>
      </p:sp>
      <p:sp>
        <p:nvSpPr>
          <p:cNvPr id="177" name="Shape 23">
            <a:extLst>
              <a:ext uri="{FF2B5EF4-FFF2-40B4-BE49-F238E27FC236}">
                <a16:creationId xmlns:a16="http://schemas.microsoft.com/office/drawing/2014/main" id="{ED9B07F3-80C7-4972-A9C2-4E73DB2C7E67}"/>
              </a:ext>
            </a:extLst>
          </p:cNvPr>
          <p:cNvSpPr/>
          <p:nvPr/>
        </p:nvSpPr>
        <p:spPr>
          <a:xfrm>
            <a:off x="3310128" y="2103120"/>
            <a:ext cx="164592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" name="Text 24">
            <a:extLst>
              <a:ext uri="{FF2B5EF4-FFF2-40B4-BE49-F238E27FC236}">
                <a16:creationId xmlns:a16="http://schemas.microsoft.com/office/drawing/2014/main" id="{605CB9C9-F72E-DBA4-48AF-545123FF008E}"/>
              </a:ext>
            </a:extLst>
          </p:cNvPr>
          <p:cNvSpPr/>
          <p:nvPr/>
        </p:nvSpPr>
        <p:spPr>
          <a:xfrm>
            <a:off x="3310128" y="221284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80" i="1" dirty="0">
                <a:solidFill>
                  <a:srgbClr val="4A556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4400" dirty="0"/>
          </a:p>
        </p:txBody>
      </p:sp>
      <p:sp>
        <p:nvSpPr>
          <p:cNvPr id="181" name="Text 25">
            <a:extLst>
              <a:ext uri="{FF2B5EF4-FFF2-40B4-BE49-F238E27FC236}">
                <a16:creationId xmlns:a16="http://schemas.microsoft.com/office/drawing/2014/main" id="{F0C2C932-8C24-DF91-AC53-FAD1BDAD6E10}"/>
              </a:ext>
            </a:extLst>
          </p:cNvPr>
          <p:cNvSpPr/>
          <p:nvPr/>
        </p:nvSpPr>
        <p:spPr>
          <a:xfrm>
            <a:off x="3310128" y="32461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3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droits exigibles</a:t>
            </a:r>
            <a:endParaRPr lang="en-US" sz="800" dirty="0"/>
          </a:p>
        </p:txBody>
      </p:sp>
      <p:sp>
        <p:nvSpPr>
          <p:cNvPr id="183" name="Text 26">
            <a:extLst>
              <a:ext uri="{FF2B5EF4-FFF2-40B4-BE49-F238E27FC236}">
                <a16:creationId xmlns:a16="http://schemas.microsoft.com/office/drawing/2014/main" id="{F99C2CC5-1E2F-B172-4A4E-29B64337DDC9}"/>
              </a:ext>
            </a:extLst>
          </p:cNvPr>
          <p:cNvSpPr/>
          <p:nvPr/>
        </p:nvSpPr>
        <p:spPr>
          <a:xfrm>
            <a:off x="3310128" y="3493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enfant (×N)</a:t>
            </a:r>
            <a:endParaRPr lang="en-US" sz="850" dirty="0"/>
          </a:p>
        </p:txBody>
      </p:sp>
      <p:sp>
        <p:nvSpPr>
          <p:cNvPr id="185" name="Text 26">
            <a:extLst>
              <a:ext uri="{FF2B5EF4-FFF2-40B4-BE49-F238E27FC236}">
                <a16:creationId xmlns:a16="http://schemas.microsoft.com/office/drawing/2014/main" id="{FE28EDC5-4226-7469-FA28-8DED4260171A}"/>
              </a:ext>
            </a:extLst>
          </p:cNvPr>
          <p:cNvSpPr/>
          <p:nvPr/>
        </p:nvSpPr>
        <p:spPr>
          <a:xfrm>
            <a:off x="3310128" y="3749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Capitaux décès</a:t>
            </a:r>
            <a:endParaRPr lang="en-US" sz="850" dirty="0"/>
          </a:p>
        </p:txBody>
      </p:sp>
      <p:sp>
        <p:nvSpPr>
          <p:cNvPr id="187" name="Text 27">
            <a:extLst>
              <a:ext uri="{FF2B5EF4-FFF2-40B4-BE49-F238E27FC236}">
                <a16:creationId xmlns:a16="http://schemas.microsoft.com/office/drawing/2014/main" id="{7C1E2B5A-C036-6F21-A6B9-617D863F66B0}"/>
              </a:ext>
            </a:extLst>
          </p:cNvPr>
          <p:cNvSpPr/>
          <p:nvPr/>
        </p:nvSpPr>
        <p:spPr>
          <a:xfrm>
            <a:off x="4480560" y="34930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850" dirty="0"/>
          </a:p>
        </p:txBody>
      </p:sp>
      <p:sp>
        <p:nvSpPr>
          <p:cNvPr id="189" name="Text 27">
            <a:extLst>
              <a:ext uri="{FF2B5EF4-FFF2-40B4-BE49-F238E27FC236}">
                <a16:creationId xmlns:a16="http://schemas.microsoft.com/office/drawing/2014/main" id="{F87C8673-B6B2-8483-76D2-BA163D3DE5E7}"/>
              </a:ext>
            </a:extLst>
          </p:cNvPr>
          <p:cNvSpPr/>
          <p:nvPr/>
        </p:nvSpPr>
        <p:spPr>
          <a:xfrm>
            <a:off x="4480560" y="374904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850" dirty="0"/>
          </a:p>
        </p:txBody>
      </p:sp>
      <p:sp>
        <p:nvSpPr>
          <p:cNvPr id="191" name="Shape 32">
            <a:extLst>
              <a:ext uri="{FF2B5EF4-FFF2-40B4-BE49-F238E27FC236}">
                <a16:creationId xmlns:a16="http://schemas.microsoft.com/office/drawing/2014/main" id="{0BB21621-5F2B-66F0-D9D9-F354921DD400}"/>
              </a:ext>
            </a:extLst>
          </p:cNvPr>
          <p:cNvSpPr/>
          <p:nvPr/>
        </p:nvSpPr>
        <p:spPr>
          <a:xfrm>
            <a:off x="5824728" y="1188720"/>
            <a:ext cx="2679192" cy="3401280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Text 33">
            <a:extLst>
              <a:ext uri="{FF2B5EF4-FFF2-40B4-BE49-F238E27FC236}">
                <a16:creationId xmlns:a16="http://schemas.microsoft.com/office/drawing/2014/main" id="{8FF8F0AC-33DE-0AAB-0F31-0851A0C2CF66}"/>
              </a:ext>
            </a:extLst>
          </p:cNvPr>
          <p:cNvSpPr/>
          <p:nvPr/>
        </p:nvSpPr>
        <p:spPr>
          <a:xfrm>
            <a:off x="5961888" y="135331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TOTAL CUMULÉ</a:t>
            </a:r>
            <a:endParaRPr lang="en-US" sz="750" dirty="0"/>
          </a:p>
        </p:txBody>
      </p:sp>
      <p:sp>
        <p:nvSpPr>
          <p:cNvPr id="195" name="Text 34">
            <a:extLst>
              <a:ext uri="{FF2B5EF4-FFF2-40B4-BE49-F238E27FC236}">
                <a16:creationId xmlns:a16="http://schemas.microsoft.com/office/drawing/2014/main" id="{155CB308-308D-9009-A9FC-DC0494796AFF}"/>
              </a:ext>
            </a:extLst>
          </p:cNvPr>
          <p:cNvSpPr/>
          <p:nvPr/>
        </p:nvSpPr>
        <p:spPr>
          <a:xfrm>
            <a:off x="5961888" y="16093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deux décès</a:t>
            </a:r>
            <a:endParaRPr lang="en-US" sz="950" dirty="0"/>
          </a:p>
        </p:txBody>
      </p:sp>
      <p:sp>
        <p:nvSpPr>
          <p:cNvPr id="197" name="Text 34">
            <a:extLst>
              <a:ext uri="{FF2B5EF4-FFF2-40B4-BE49-F238E27FC236}">
                <a16:creationId xmlns:a16="http://schemas.microsoft.com/office/drawing/2014/main" id="{69518913-1019-53B5-87D0-9141FACCCD80}"/>
              </a:ext>
            </a:extLst>
          </p:cNvPr>
          <p:cNvSpPr/>
          <p:nvPr/>
        </p:nvSpPr>
        <p:spPr>
          <a:xfrm>
            <a:off x="5961888" y="401000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RETENUE</a:t>
            </a:r>
            <a:endParaRPr lang="en-US" sz="950" dirty="0"/>
          </a:p>
        </p:txBody>
      </p:sp>
      <p:sp>
        <p:nvSpPr>
          <p:cNvPr id="199" name="Shape 35">
            <a:extLst>
              <a:ext uri="{FF2B5EF4-FFF2-40B4-BE49-F238E27FC236}">
                <a16:creationId xmlns:a16="http://schemas.microsoft.com/office/drawing/2014/main" id="{091B8DC8-8CD6-C9E5-51CC-B83234AAD343}"/>
              </a:ext>
            </a:extLst>
          </p:cNvPr>
          <p:cNvSpPr/>
          <p:nvPr/>
        </p:nvSpPr>
        <p:spPr>
          <a:xfrm>
            <a:off x="5961888" y="1938528"/>
            <a:ext cx="1645920" cy="10973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Text 36">
            <a:extLst>
              <a:ext uri="{FF2B5EF4-FFF2-40B4-BE49-F238E27FC236}">
                <a16:creationId xmlns:a16="http://schemas.microsoft.com/office/drawing/2014/main" id="{E980EF5F-8C5C-B937-51A2-9C5FD95595DC}"/>
              </a:ext>
            </a:extLst>
          </p:cNvPr>
          <p:cNvSpPr/>
          <p:nvPr/>
        </p:nvSpPr>
        <p:spPr>
          <a:xfrm>
            <a:off x="5961888" y="2048256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80" i="1" dirty="0">
                <a:solidFill>
                  <a:srgbClr val="4A556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4400" dirty="0"/>
          </a:p>
        </p:txBody>
      </p:sp>
      <p:sp>
        <p:nvSpPr>
          <p:cNvPr id="203" name="Shape 37">
            <a:extLst>
              <a:ext uri="{FF2B5EF4-FFF2-40B4-BE49-F238E27FC236}">
                <a16:creationId xmlns:a16="http://schemas.microsoft.com/office/drawing/2014/main" id="{3B69AAB0-831B-9B09-245B-C567E4230DF1}"/>
              </a:ext>
            </a:extLst>
          </p:cNvPr>
          <p:cNvSpPr/>
          <p:nvPr/>
        </p:nvSpPr>
        <p:spPr>
          <a:xfrm>
            <a:off x="5961888" y="3090672"/>
            <a:ext cx="2395728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5" name="Text 38">
            <a:extLst>
              <a:ext uri="{FF2B5EF4-FFF2-40B4-BE49-F238E27FC236}">
                <a16:creationId xmlns:a16="http://schemas.microsoft.com/office/drawing/2014/main" id="{426D36D8-E375-1F48-70EA-21D0B2D0DE39}"/>
              </a:ext>
            </a:extLst>
          </p:cNvPr>
          <p:cNvSpPr/>
          <p:nvPr/>
        </p:nvSpPr>
        <p:spPr>
          <a:xfrm>
            <a:off x="5961888" y="3170000"/>
            <a:ext cx="2395728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i="1" dirty="0">
                <a:solidFill>
                  <a:srgbClr val="4A556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%]</a:t>
            </a:r>
            <a:endParaRPr lang="en-US" sz="6000" dirty="0"/>
          </a:p>
        </p:txBody>
      </p:sp>
      <p:sp>
        <p:nvSpPr>
          <p:cNvPr id="207" name="Text 39">
            <a:extLst>
              <a:ext uri="{FF2B5EF4-FFF2-40B4-BE49-F238E27FC236}">
                <a16:creationId xmlns:a16="http://schemas.microsoft.com/office/drawing/2014/main" id="{186F54A8-DA5A-C6EB-286E-E2C2F3B3C44D}"/>
              </a:ext>
            </a:extLst>
          </p:cNvPr>
          <p:cNvSpPr/>
          <p:nvPr/>
        </p:nvSpPr>
        <p:spPr>
          <a:xfrm>
            <a:off x="5961888" y="3660000"/>
            <a:ext cx="239572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marginal max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directe</a:t>
            </a:r>
            <a:endParaRPr lang="en-US" sz="800" dirty="0"/>
          </a:p>
        </p:txBody>
      </p:sp>
      <p:sp>
        <p:nvSpPr>
          <p:cNvPr id="209" name="Text 39">
            <a:extLst>
              <a:ext uri="{FF2B5EF4-FFF2-40B4-BE49-F238E27FC236}">
                <a16:creationId xmlns:a16="http://schemas.microsoft.com/office/drawing/2014/main" id="{F7A5D975-D626-708F-7302-B4356A40DB19}"/>
              </a:ext>
            </a:extLst>
          </p:cNvPr>
          <p:cNvSpPr/>
          <p:nvPr/>
        </p:nvSpPr>
        <p:spPr>
          <a:xfrm>
            <a:off x="5961888" y="4210000"/>
            <a:ext cx="239572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[Hypothèse retenue — ex. 100 % usufruit conjoint, enfants nue-propriété]</a:t>
            </a:r>
            <a:endParaRPr lang="en-US" sz="800" dirty="0"/>
          </a:p>
        </p:txBody>
      </p:sp>
      <p:sp>
        <p:nvSpPr>
          <p:cNvPr id="211" name="Shape 40">
            <a:extLst>
              <a:ext uri="{FF2B5EF4-FFF2-40B4-BE49-F238E27FC236}">
                <a16:creationId xmlns:a16="http://schemas.microsoft.com/office/drawing/2014/main" id="{C242B829-B44B-4762-D943-88B519FE1608}"/>
              </a:ext>
            </a:extLst>
          </p:cNvPr>
          <p:cNvSpPr/>
          <p:nvPr/>
        </p:nvSpPr>
        <p:spPr>
          <a:xfrm>
            <a:off x="502920" y="4645152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3" name="Text 42">
            <a:extLst>
              <a:ext uri="{FF2B5EF4-FFF2-40B4-BE49-F238E27FC236}">
                <a16:creationId xmlns:a16="http://schemas.microsoft.com/office/drawing/2014/main" id="{2CA3F8F0-BAD1-8493-BC8A-C6AB16A41C6E}"/>
              </a:ext>
            </a:extLst>
          </p:cNvPr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Août 2026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09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Nos remarques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3167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[Accroche synthétique — 1 phrase résumant le diagnostic]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1783080"/>
            <a:ext cx="22860" cy="4754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67512" y="17830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[Remarque 1 — observation patrimoniale, fiscale ou successorale spécifique à ce client]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2340864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502920" y="2395728"/>
            <a:ext cx="22860" cy="4754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67512" y="239572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[Remarque 2 — observation patrimoniale, fiscale ou successorale spécifique à ce client]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2953512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502920" y="3008376"/>
            <a:ext cx="22860" cy="4754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67512" y="300837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[Remarque 3 — observation patrimoniale, fiscale ou successorale spécifique à ce client]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3566160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502920" y="3621024"/>
            <a:ext cx="22860" cy="4754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67512" y="362102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[Remarque 4 — observation patrimoniale, fiscale ou successorale spécifique à ce client]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02920" y="4178808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502920" y="4233672"/>
            <a:ext cx="22860" cy="4754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667512" y="423367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[Remarque 5 — observation patrimoniale, fiscale ou successorale spécifique à ce client]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02920" y="4800600"/>
            <a:ext cx="8001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remarques maximum recommandées — supprimer les lignes non utilisées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"/>
            <a:ext cx="4251960" cy="44988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713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5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AUJOURD'HUI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20117" cy="7498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30352" y="114300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[Situation fiscale — TMI, charges, pression IR/PS]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167128"/>
            <a:ext cx="20117" cy="7498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30352" y="216712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[Transmission — droits estimés au premier décès]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191256"/>
            <a:ext cx="20117" cy="7498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30352" y="319125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[Revenus futurs — lacune ou manque identifié]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26280" y="713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AVEC AFFILIOR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26280" y="1143000"/>
            <a:ext cx="20117" cy="7498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81728" y="114300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[Optimisation IR/PS — dispositifs et enveloppes recommandés]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2167128"/>
            <a:ext cx="20117" cy="7498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81728" y="2167128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[Transmission anticipée — droits réduits de X €]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26280" y="3191256"/>
            <a:ext cx="20117" cy="7498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681728" y="319125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[Revenus complémentaires dès [ANNÉE] — X €/an]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8B1A1A">
              <a:alpha val="60000"/>
            </a:srgbClr>
          </a:solidFill>
          <a:ln w="12700">
            <a:solidFill>
              <a:srgbClr val="8B1A1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dirty="0">
                <a:solidFill>
                  <a:srgbClr val="24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1097280" cy="228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63347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3F0E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VOTRE STRATÉGIE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Projets · Moyens · Impact · Synthèse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PROJETS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Vos projets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02920" y="1371600"/>
            <a:ext cx="2560320" cy="10973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[PROJET 1 — intitulé]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920" y="178308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[Description du projet 1 — contexte, montant envisagé, horizon, implications patrimoniales]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273552"/>
            <a:ext cx="256032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02920" y="3364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HORIZON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[Court / Moyen / Long terme]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3913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MONTANT ESTIMÉ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292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0" y="1371600"/>
            <a:ext cx="2560320" cy="10973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20040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[PROJET 2 — intitulé]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200400" y="178308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[Description du projet 2 — contexte, montant envisagé, horizon, implications patrimoniales]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200400" y="3273552"/>
            <a:ext cx="256032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3200400" y="3364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HORIZON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[Court / Moyen / Long terme]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00400" y="3913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MONTANT ESTIMÉ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20040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97880" y="1371600"/>
            <a:ext cx="2560320" cy="10973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589788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[PROJET 3 — intitulé]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897880" y="178308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[Description du projet 3 — contexte, montant envisagé, horizon, implications patrimoniales]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897880" y="3273552"/>
            <a:ext cx="256032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5897880" y="3364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HORIZON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89788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[Court / Moyen / Long terme]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897880" y="3913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MONTANT ESTIMÉ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89788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02920" y="4800600"/>
            <a:ext cx="8001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 nombre de colonnes au nombre de projets — supprimer les colonnes non utilisées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STRATÉGIE · MOYENS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Moyens de la stratégie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3167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[Phrase introductive]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1783080"/>
            <a:ext cx="2743200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76072" y="17830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/ Actif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46120" y="1783080"/>
            <a:ext cx="1645920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319272" y="17830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92040" y="1783080"/>
            <a:ext cx="1645920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965192" y="17830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mobilisé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537960" y="1783080"/>
            <a:ext cx="1965960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611112" y="17830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02920" y="2084832"/>
            <a:ext cx="274320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76072" y="2093976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[Enveloppe / actif 1]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46120" y="2084832"/>
            <a:ext cx="164592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3319272" y="20939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[Existant / Nouveau]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892040" y="2084832"/>
            <a:ext cx="164592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965192" y="20939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537960" y="2084832"/>
            <a:ext cx="196596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6611112" y="2093976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[Commentaire]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02920" y="2395728"/>
            <a:ext cx="274320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576072" y="2404872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[Enveloppe / actif 2]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395728"/>
            <a:ext cx="164592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3319272" y="2404872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[Existant / Nouveau]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892040" y="2395728"/>
            <a:ext cx="164592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4965192" y="2404872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537960" y="2395728"/>
            <a:ext cx="196596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6611112" y="2404872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[Commentaire]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02920" y="2706624"/>
            <a:ext cx="274320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576072" y="2715768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[Enveloppe / actif 3]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246120" y="2706624"/>
            <a:ext cx="164592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3319272" y="2715768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[Existant / Nouveau]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892040" y="2706624"/>
            <a:ext cx="164592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4965192" y="2715768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537960" y="2706624"/>
            <a:ext cx="196596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6611112" y="2715768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[Commentaire]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02920" y="3017520"/>
            <a:ext cx="274320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576072" y="3026664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[Enveloppe / actif 4]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246120" y="3017520"/>
            <a:ext cx="164592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5"/>
          <p:cNvSpPr/>
          <p:nvPr/>
        </p:nvSpPr>
        <p:spPr>
          <a:xfrm>
            <a:off x="3319272" y="3026664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[Existant / Nouveau]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892040" y="3017520"/>
            <a:ext cx="164592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7"/>
          <p:cNvSpPr/>
          <p:nvPr/>
        </p:nvSpPr>
        <p:spPr>
          <a:xfrm>
            <a:off x="4965192" y="3026664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537960" y="3017520"/>
            <a:ext cx="196596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9"/>
          <p:cNvSpPr/>
          <p:nvPr/>
        </p:nvSpPr>
        <p:spPr>
          <a:xfrm>
            <a:off x="6611112" y="3026664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[Commentaire]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02920" y="3328416"/>
            <a:ext cx="274320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1"/>
          <p:cNvSpPr/>
          <p:nvPr/>
        </p:nvSpPr>
        <p:spPr>
          <a:xfrm>
            <a:off x="576072" y="3337560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[Capacité d'épargne mensuelle]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3246120" y="3328416"/>
            <a:ext cx="164592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3"/>
          <p:cNvSpPr/>
          <p:nvPr/>
        </p:nvSpPr>
        <p:spPr>
          <a:xfrm>
            <a:off x="3319272" y="3337560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[Nouveau]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4892040" y="3328416"/>
            <a:ext cx="164592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5"/>
          <p:cNvSpPr/>
          <p:nvPr/>
        </p:nvSpPr>
        <p:spPr>
          <a:xfrm>
            <a:off x="4965192" y="3337560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€]/mois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6537960" y="3328416"/>
            <a:ext cx="196596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7"/>
          <p:cNvSpPr/>
          <p:nvPr/>
        </p:nvSpPr>
        <p:spPr>
          <a:xfrm>
            <a:off x="6611112" y="3337560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[Commentaire]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502920" y="3639312"/>
            <a:ext cx="8001000" cy="29260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59"/>
          <p:cNvSpPr/>
          <p:nvPr/>
        </p:nvSpPr>
        <p:spPr>
          <a:xfrm>
            <a:off x="576072" y="3648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MOYENS MOBILISÉS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5303520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€]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502920" y="4078224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2"/>
          <p:cNvSpPr/>
          <p:nvPr/>
        </p:nvSpPr>
        <p:spPr>
          <a:xfrm>
            <a:off x="502920" y="416966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[Note complémentaire si besoin]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STRATÉGIE · IMPACT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L'impact de la stratégie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31673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[Phrase d'ancrage]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171907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0292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DROITS DE SUCCESSION ÉVITÉS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2920" y="199339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502920" y="2798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[X €] sans stratégie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108960" y="1783080"/>
            <a:ext cx="10973" cy="128016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320040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REVENU COMPLÉMENTAIRE ANNUEL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200400" y="199339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€/an]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3200400" y="2798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[ANNÉE]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06440" y="1783080"/>
            <a:ext cx="10973" cy="128016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89788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ÉCONOMIE FISCALE SUR [X] ANS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897880" y="199339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5897880" y="2798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+ PS + frais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2920" y="312724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0292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4A556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SANS STRATÉGIE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343400" y="32461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AVEC LA STRATÉGIE AFFILIOR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160520" y="3200400"/>
            <a:ext cx="10973" cy="1572768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502920" y="3474720"/>
            <a:ext cx="20117" cy="384048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658368" y="3474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[Situation fiscale actuelle]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02920" y="3977640"/>
            <a:ext cx="20117" cy="384048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658368" y="39776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[Transmission]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02920" y="4480560"/>
            <a:ext cx="20117" cy="384048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658368" y="44805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[Retraite]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343400" y="3474720"/>
            <a:ext cx="20117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4498848" y="34747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[Fiscalité — économie de X €/an grâce à [dispositif retenu]]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343400" y="3977640"/>
            <a:ext cx="20117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4498848" y="397764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[Transmission — droits réduits de X € grâce à l'anticipation]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343400" y="4480560"/>
            <a:ext cx="20117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4498848" y="448056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[Revenus complémentaires — X €/mois dès [ANNÉE]]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STRATÉGIE · SYNTHÈSE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Synthèse de la stratégie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3167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[Phrase de synthèse]</a:t>
            </a:r>
            <a:endParaRPr lang="en-US" sz="1100" dirty="0"/>
          </a:p>
        </p:txBody>
      </p:sp>
      <p:sp>
        <p:nvSpPr>
          <p:cNvPr id="400" name="Card"/>
          <p:cNvSpPr/>
          <p:nvPr/>
        </p:nvSpPr>
        <p:spPr>
          <a:xfrm>
            <a:off x="484632" y="1654961"/>
            <a:ext cx="2560320" cy="2873045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/>
          <p:nvPr/>
        </p:nvSpPr>
        <p:spPr>
          <a:xfrm>
            <a:off x="484632" y="1756207"/>
            <a:ext cx="2560320" cy="18288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endParaRPr lang="en-US" sz="700" spc="250" dirty="0">
              <a:solidFill>
                <a:srgbClr val="A09080"/>
              </a:solidFill>
              <a:latin typeface="Garamond" pitchFamily="34" charset="0"/>
              <a:ea typeface="Garamond" pitchFamily="34" charset="-122"/>
              <a:cs typeface="Garamond" pitchFamily="34" charset="-120"/>
            </a:endParaRPr>
          </a:p>
        </p:txBody>
      </p:sp>
      <p:sp>
        <p:nvSpPr>
          <p:cNvPr id="402" name="Objectif"/>
          <p:cNvSpPr/>
          <p:nvPr/>
        </p:nvSpPr>
        <p:spPr>
          <a:xfrm>
            <a:off x="484632" y="1986207"/>
            <a:ext cx="2560320" cy="70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3F0E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[Objectif de l’axe — formulation client]</a:t>
            </a:r>
          </a:p>
        </p:txBody>
      </p:sp>
      <p:sp>
        <p:nvSpPr>
          <p:cNvPr id="403" name="AccentRule"/>
          <p:cNvSpPr/>
          <p:nvPr/>
        </p:nvSpPr>
        <p:spPr>
          <a:xfrm>
            <a:off x="484632" y="2756207"/>
            <a:ext cx="640080" cy="20117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6" name="Benefices"/>
          <p:cNvSpPr/>
          <p:nvPr/>
        </p:nvSpPr>
        <p:spPr>
          <a:xfrm>
            <a:off x="484632" y="2886207"/>
            <a:ext cx="2560320" cy="80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146304" indent="-146304">
              <a:buClr>
                <a:srgbClr val="8B1A1A"/>
              </a:buClr>
              <a:buFont typeface="Arial"/>
              <a:buChar char="•"/>
            </a:pPr>
            <a:r>
              <a:rPr lang="en-US" sz="1000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[Bénéfice 1]</a:t>
            </a:r>
          </a:p>
          <a:p>
            <a:pPr marL="146304" indent="-146304">
              <a:buClr>
                <a:srgbClr val="8B1A1A"/>
              </a:buClr>
              <a:buFont typeface="Arial"/>
              <a:buChar char="•"/>
            </a:pPr>
            <a:r>
              <a:rPr lang="en-US" sz="1000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[Bénéfice 2]</a:t>
            </a:r>
          </a:p>
        </p:txBody>
      </p:sp>
      <p:sp>
        <p:nvSpPr>
          <p:cNvPr id="407" name="MetaRule"/>
          <p:cNvSpPr/>
          <p:nvPr/>
        </p:nvSpPr>
        <p:spPr>
          <a:xfrm>
            <a:off x="484632" y="3846207"/>
            <a:ext cx="2560320" cy="10973"/>
          </a:xfrm>
          <a:prstGeom prst="rect">
            <a:avLst/>
          </a:prstGeom>
          <a:solidFill>
            <a:srgbClr val="A09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8" name="Solution"/>
          <p:cNvSpPr/>
          <p:nvPr/>
        </p:nvSpPr>
        <p:spPr>
          <a:xfrm>
            <a:off x="484632" y="3956207"/>
            <a:ext cx="2560320" cy="42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r>
              <a:rPr lang="en-US" sz="850" spc="150" dirty="0">
                <a:solidFill>
                  <a:srgbClr val="F3F0E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[Solution]</a:t>
            </a:r>
          </a:p>
        </p:txBody>
      </p:sp>
      <p:sp>
        <p:nvSpPr>
          <p:cNvPr id="409" name="Risque"/>
          <p:cNvSpPr/>
          <p:nvPr/>
        </p:nvSpPr>
        <p:spPr>
          <a:xfrm>
            <a:off x="484632" y="4316207"/>
            <a:ext cx="2560320" cy="22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[Profil de risque · rendement cible]</a:t>
            </a:r>
          </a:p>
        </p:txBody>
      </p:sp>
      <p:sp>
        <p:nvSpPr>
          <p:cNvPr id="420" name="Card"/>
          <p:cNvSpPr/>
          <p:nvPr/>
        </p:nvSpPr>
        <p:spPr>
          <a:xfrm>
            <a:off x="3182112" y="1654961"/>
            <a:ext cx="2560320" cy="2873045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1" name="Eyebrow"/>
          <p:cNvSpPr/>
          <p:nvPr/>
        </p:nvSpPr>
        <p:spPr>
          <a:xfrm>
            <a:off x="3182112" y="1756207"/>
            <a:ext cx="2560320" cy="18288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endParaRPr lang="en-US" sz="700" spc="250" dirty="0">
              <a:solidFill>
                <a:srgbClr val="C4B5A5"/>
              </a:solidFill>
              <a:latin typeface="Garamond" pitchFamily="34" charset="0"/>
              <a:ea typeface="Garamond" pitchFamily="34" charset="-122"/>
              <a:cs typeface="Garamond" pitchFamily="34" charset="-120"/>
            </a:endParaRPr>
          </a:p>
        </p:txBody>
      </p:sp>
      <p:sp>
        <p:nvSpPr>
          <p:cNvPr id="422" name="Objectif"/>
          <p:cNvSpPr/>
          <p:nvPr/>
        </p:nvSpPr>
        <p:spPr>
          <a:xfrm>
            <a:off x="3182112" y="1986207"/>
            <a:ext cx="2560320" cy="70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3F0E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[Objectif de l’axe — formulation client]</a:t>
            </a:r>
          </a:p>
        </p:txBody>
      </p:sp>
      <p:sp>
        <p:nvSpPr>
          <p:cNvPr id="423" name="AccentRule"/>
          <p:cNvSpPr/>
          <p:nvPr/>
        </p:nvSpPr>
        <p:spPr>
          <a:xfrm>
            <a:off x="3182112" y="2756207"/>
            <a:ext cx="640080" cy="20117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6" name="Benefices"/>
          <p:cNvSpPr/>
          <p:nvPr/>
        </p:nvSpPr>
        <p:spPr>
          <a:xfrm>
            <a:off x="3182112" y="2886207"/>
            <a:ext cx="2560320" cy="80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146304" indent="-146304">
              <a:buClr>
                <a:srgbClr val="E5E0D8"/>
              </a:buClr>
              <a:buFont typeface="Arial"/>
              <a:buChar char="•"/>
            </a:pPr>
            <a:r>
              <a:rPr lang="en-US" sz="10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[Bénéfice 1]</a:t>
            </a:r>
          </a:p>
          <a:p>
            <a:pPr marL="146304" indent="-146304">
              <a:buClr>
                <a:srgbClr val="E5E0D8"/>
              </a:buClr>
              <a:buFont typeface="Arial"/>
              <a:buChar char="•"/>
            </a:pPr>
            <a:r>
              <a:rPr lang="en-US" sz="10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[Bénéfice 2]</a:t>
            </a:r>
          </a:p>
        </p:txBody>
      </p:sp>
      <p:sp>
        <p:nvSpPr>
          <p:cNvPr id="427" name="MetaRule"/>
          <p:cNvSpPr/>
          <p:nvPr/>
        </p:nvSpPr>
        <p:spPr>
          <a:xfrm>
            <a:off x="3182112" y="3846207"/>
            <a:ext cx="2560320" cy="10973"/>
          </a:xfrm>
          <a:prstGeom prst="rect">
            <a:avLst/>
          </a:prstGeom>
          <a:solidFill>
            <a:srgbClr val="C4B5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8" name="Solution"/>
          <p:cNvSpPr/>
          <p:nvPr/>
        </p:nvSpPr>
        <p:spPr>
          <a:xfrm>
            <a:off x="3182112" y="3956207"/>
            <a:ext cx="2560320" cy="42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r>
              <a:rPr lang="en-US" sz="850" spc="150" dirty="0">
                <a:solidFill>
                  <a:srgbClr val="F3F0E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[Solution]</a:t>
            </a:r>
          </a:p>
        </p:txBody>
      </p:sp>
      <p:sp>
        <p:nvSpPr>
          <p:cNvPr id="429" name="Risque"/>
          <p:cNvSpPr/>
          <p:nvPr/>
        </p:nvSpPr>
        <p:spPr>
          <a:xfrm>
            <a:off x="3182112" y="4316207"/>
            <a:ext cx="2560320" cy="22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[Profil de risque · rendement cible]</a:t>
            </a:r>
          </a:p>
        </p:txBody>
      </p:sp>
      <p:sp>
        <p:nvSpPr>
          <p:cNvPr id="440" name="Card"/>
          <p:cNvSpPr/>
          <p:nvPr/>
        </p:nvSpPr>
        <p:spPr>
          <a:xfrm>
            <a:off x="5879592" y="1654961"/>
            <a:ext cx="2560320" cy="2873045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441" name="Eyebrow"/>
          <p:cNvSpPr/>
          <p:nvPr/>
        </p:nvSpPr>
        <p:spPr>
          <a:xfrm>
            <a:off x="5879592" y="1756207"/>
            <a:ext cx="2560320" cy="18288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endParaRPr lang="en-US" sz="700" spc="250" dirty="0">
              <a:solidFill>
                <a:srgbClr val="A09080"/>
              </a:solidFill>
              <a:latin typeface="Garamond" pitchFamily="34" charset="0"/>
              <a:ea typeface="Garamond" pitchFamily="34" charset="-122"/>
              <a:cs typeface="Garamond" pitchFamily="34" charset="-120"/>
            </a:endParaRPr>
          </a:p>
        </p:txBody>
      </p:sp>
      <p:sp>
        <p:nvSpPr>
          <p:cNvPr id="442" name="Objectif"/>
          <p:cNvSpPr/>
          <p:nvPr/>
        </p:nvSpPr>
        <p:spPr>
          <a:xfrm>
            <a:off x="5879592" y="1986207"/>
            <a:ext cx="2560320" cy="70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[Objectif de l’axe — formulation client]</a:t>
            </a:r>
          </a:p>
        </p:txBody>
      </p:sp>
      <p:sp>
        <p:nvSpPr>
          <p:cNvPr id="443" name="AccentRule"/>
          <p:cNvSpPr/>
          <p:nvPr/>
        </p:nvSpPr>
        <p:spPr>
          <a:xfrm>
            <a:off x="5879592" y="2756207"/>
            <a:ext cx="640080" cy="20117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6" name="Benefices"/>
          <p:cNvSpPr/>
          <p:nvPr/>
        </p:nvSpPr>
        <p:spPr>
          <a:xfrm>
            <a:off x="5879592" y="2886207"/>
            <a:ext cx="2560320" cy="80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146304" indent="-146304">
              <a:buClr>
                <a:srgbClr val="8B1A1A"/>
              </a:buClr>
              <a:buFont typeface="Arial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[Bénéfice 1]</a:t>
            </a:r>
          </a:p>
          <a:p>
            <a:pPr marL="146304" indent="-146304">
              <a:buClr>
                <a:srgbClr val="8B1A1A"/>
              </a:buClr>
              <a:buFont typeface="Arial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[Bénéfice 2]</a:t>
            </a:r>
          </a:p>
        </p:txBody>
      </p:sp>
      <p:sp>
        <p:nvSpPr>
          <p:cNvPr id="447" name="MetaRule"/>
          <p:cNvSpPr/>
          <p:nvPr/>
        </p:nvSpPr>
        <p:spPr>
          <a:xfrm>
            <a:off x="5879592" y="3846207"/>
            <a:ext cx="2560320" cy="10973"/>
          </a:xfrm>
          <a:prstGeom prst="rect">
            <a:avLst/>
          </a:prstGeom>
          <a:solidFill>
            <a:srgbClr val="A09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8" name="Solution"/>
          <p:cNvSpPr/>
          <p:nvPr/>
        </p:nvSpPr>
        <p:spPr>
          <a:xfrm>
            <a:off x="5879592" y="3956207"/>
            <a:ext cx="2560320" cy="42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r>
              <a:rPr lang="en-US" sz="850" spc="15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[Solution]</a:t>
            </a:r>
          </a:p>
        </p:txBody>
      </p:sp>
      <p:sp>
        <p:nvSpPr>
          <p:cNvPr id="449" name="Risque"/>
          <p:cNvSpPr/>
          <p:nvPr/>
        </p:nvSpPr>
        <p:spPr>
          <a:xfrm>
            <a:off x="5879592" y="4316207"/>
            <a:ext cx="2560320" cy="22000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[Profil de risque · rendement cible]</a:t>
            </a:r>
          </a:p>
        </p:txBody>
      </p:sp>
      <p:sp>
        <p:nvSpPr>
          <p:cNvPr id="34" name="Text 31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STRATÉGIE · AVANT / APRÈS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5669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L'impact de la stratégie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088136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02920" y="1188720"/>
            <a:ext cx="3794760" cy="3291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58368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SITUATION ACTUELLE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8368" y="16276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 succession estimés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8368" y="1883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58368" y="2249424"/>
            <a:ext cx="329184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58368" y="23042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fiscale annuelle (IR + PS)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8368" y="25603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58368" y="2926080"/>
            <a:ext cx="329184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58368" y="29809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transmissible net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8368" y="32369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58368" y="3602736"/>
            <a:ext cx="329184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complémentaires disponibles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8368" y="39136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617720" y="1188720"/>
            <a:ext cx="3886200" cy="32918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773168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APRÈS STRATÉGIE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73168" y="16276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 succession optimisés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73168" y="18836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168896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de [X €]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73168" y="2249424"/>
            <a:ext cx="3401568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773168" y="23042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fiscale optimisée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73168" y="2560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168896" y="2578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[X €] / an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73168" y="2926080"/>
            <a:ext cx="3401568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4773168" y="29809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transmissible optimisé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73168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7168896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[X €]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773168" y="3602736"/>
            <a:ext cx="3401568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4773168" y="3657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complémentaires cibles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773168" y="39136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[X €] / mois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168896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[ANNÉE]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370832" y="1188720"/>
            <a:ext cx="10973" cy="356616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4169664" y="283464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502920" y="4645152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502920" y="4681728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établies sur la base des éléments communiqués. Ces estimations conditionnelles ne sauraient constituer un engagement.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ACCOMPAGNEMENT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Notre accompagnement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353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NOTRE PROCESSUS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02920" y="1572768"/>
            <a:ext cx="2286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58368" y="1572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 votre profil de risque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084832"/>
            <a:ext cx="2286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58368" y="20848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indépendante des meilleures solutions par appel d'offres multi-partenaires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2596896"/>
            <a:ext cx="2286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58368" y="2596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Négociation des conditions tarifaires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108960"/>
            <a:ext cx="2286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58368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des documents de mise en place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621024"/>
            <a:ext cx="2286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58368" y="36210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allocations d'actifs et de la performance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4133088"/>
            <a:ext cx="2286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58368" y="41330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sur mesure de la clause bénéficiaire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79392" y="1353312"/>
            <a:ext cx="10973" cy="338328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434840" y="1353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ENGAGEMENTS SPÉCIFIQUES À CE DOSSIER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434840" y="1572768"/>
            <a:ext cx="22860" cy="7498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590288" y="157276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[Engagement 1]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90288" y="1847088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[Détail — comment, fréquence, interlocuteur]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434840" y="2487168"/>
            <a:ext cx="416052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4434840" y="2560320"/>
            <a:ext cx="22860" cy="7498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4590288" y="25603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[Engagement 2]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90288" y="283464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[Détail — comment, fréquence, interlocuteur]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434840" y="3474720"/>
            <a:ext cx="416052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4434840" y="3547872"/>
            <a:ext cx="22860" cy="7498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4590288" y="35478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[Engagement 3]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90288" y="3822192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[Détail — comment, fréquence, interlocuteur]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02920" y="4800600"/>
            <a:ext cx="8001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gauche : contenu fixe Affilior. Section droite : personnaliser selon le dossier.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PROCHAINES ÉTAPES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5669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Les prochaines étapes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088136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02920" y="2326234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02920" y="1188720"/>
            <a:ext cx="1920240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76072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PHASE 1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527048" y="1188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[M+1]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292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[Audit &amp; validation]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1755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2920" y="1938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97434" y="2212848"/>
            <a:ext cx="10973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11480" y="2240280"/>
            <a:ext cx="182880" cy="1828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0292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+ Affilior]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209800" y="2651760"/>
            <a:ext cx="1920240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2282952" y="2651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PHASE 2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233928" y="26517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[M+3]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209800" y="2926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[Mise en place juridique]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209800" y="3218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209800" y="3401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164434" y="2350008"/>
            <a:ext cx="10973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3078480" y="2240280"/>
            <a:ext cx="182880" cy="182880"/>
          </a:xfrm>
          <a:prstGeom prst="ellipse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2209800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[Notaire + Affilior]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876800" y="1188720"/>
            <a:ext cx="1920240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4949952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PHASE 3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900928" y="1188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[M+6]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7680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[Déploiement financier]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76800" y="1755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76800" y="1938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831434" y="2212848"/>
            <a:ext cx="10973" cy="274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5745480" y="2240280"/>
            <a:ext cx="182880" cy="182880"/>
          </a:xfrm>
          <a:prstGeom prst="ellipse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487680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[Affilior]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6583680" y="2651760"/>
            <a:ext cx="1920240" cy="237744"/>
          </a:xfrm>
          <a:prstGeom prst="rect">
            <a:avLst/>
          </a:prstGeom>
          <a:solidFill>
            <a:srgbClr val="A09080"/>
          </a:solidFill>
          <a:ln w="12700">
            <a:solidFill>
              <a:srgbClr val="A09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6656832" y="2651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PHASE 4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7607808" y="26517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[M+12]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583680" y="2926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5B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[Revue annuelle]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583680" y="3218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583680" y="3401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8498434" y="2350008"/>
            <a:ext cx="10973" cy="265176"/>
          </a:xfrm>
          <a:prstGeom prst="rect">
            <a:avLst/>
          </a:prstGeom>
          <a:solidFill>
            <a:srgbClr val="A09080"/>
          </a:solidFill>
          <a:ln w="12700">
            <a:solidFill>
              <a:srgbClr val="A09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3"/>
          <p:cNvSpPr/>
          <p:nvPr/>
        </p:nvSpPr>
        <p:spPr>
          <a:xfrm>
            <a:off x="8412480" y="2240280"/>
            <a:ext cx="182880" cy="182880"/>
          </a:xfrm>
          <a:prstGeom prst="ellipse">
            <a:avLst/>
          </a:prstGeom>
          <a:solidFill>
            <a:srgbClr val="A09080"/>
          </a:solidFill>
          <a:ln w="12700">
            <a:solidFill>
              <a:srgbClr val="A09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6583680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+ Affilior]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920" y="464515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6"/>
          <p:cNvSpPr/>
          <p:nvPr/>
        </p:nvSpPr>
        <p:spPr>
          <a:xfrm>
            <a:off x="502920" y="4718304"/>
            <a:ext cx="8001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F F I L I O R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ANNEXE · BARÈME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092440" y="2194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90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594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Annexe — Barème détaillé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3258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TARIF EN LIGNE DIRECTE (ENFANTS, PARENTS)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02920" y="1536192"/>
            <a:ext cx="2926080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76072" y="153619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de part nette taxable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29000" y="1536192"/>
            <a:ext cx="777240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502152" y="153619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02920" y="1819656"/>
            <a:ext cx="292608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76072" y="1828800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N'excédant pas 8 072 €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429000" y="1819656"/>
            <a:ext cx="77724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502152" y="1828800"/>
            <a:ext cx="667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2112264"/>
            <a:ext cx="292608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76072" y="2121408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8 072 € à 12 109 €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29000" y="2112264"/>
            <a:ext cx="77724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3502152" y="2121408"/>
            <a:ext cx="667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2920" y="2404872"/>
            <a:ext cx="292608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76072" y="2414016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12 109 € à 15 932 €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429000" y="2404872"/>
            <a:ext cx="77724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502152" y="2414016"/>
            <a:ext cx="667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02920" y="2697480"/>
            <a:ext cx="292608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576072" y="2706624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15 932 € à 552 324 €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429000" y="2697480"/>
            <a:ext cx="77724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3502152" y="2706624"/>
            <a:ext cx="667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02920" y="2990088"/>
            <a:ext cx="292608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576072" y="2999232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552 324 € à 902 838 €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429000" y="2990088"/>
            <a:ext cx="77724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3502152" y="2999232"/>
            <a:ext cx="667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02920" y="3282696"/>
            <a:ext cx="292608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576072" y="3291840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902 838 € à 1 805 677 €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429000" y="3282696"/>
            <a:ext cx="77724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3502152" y="3291840"/>
            <a:ext cx="667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2920" y="3575304"/>
            <a:ext cx="292608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576072" y="3584448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1 805 677 €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429000" y="3575304"/>
            <a:ext cx="77724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3502152" y="3584448"/>
            <a:ext cx="667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315968" y="1325880"/>
            <a:ext cx="10973" cy="32004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4462272" y="1325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ABATTEMENTS PAR BÉNÉFICIAIRE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4462272" y="1536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BÉNÉFICIAIRE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510528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ABATTEMENT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4462272" y="1819656"/>
            <a:ext cx="201168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7"/>
          <p:cNvSpPr/>
          <p:nvPr/>
        </p:nvSpPr>
        <p:spPr>
          <a:xfrm>
            <a:off x="6528816" y="1819656"/>
            <a:ext cx="150876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8"/>
          <p:cNvSpPr/>
          <p:nvPr/>
        </p:nvSpPr>
        <p:spPr>
          <a:xfrm>
            <a:off x="4535424" y="1828800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Conjoint / Partenaire PACS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601968" y="18288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EXONÉRÉ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462272" y="2130552"/>
            <a:ext cx="201168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1"/>
          <p:cNvSpPr/>
          <p:nvPr/>
        </p:nvSpPr>
        <p:spPr>
          <a:xfrm>
            <a:off x="6528816" y="2130552"/>
            <a:ext cx="150876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2"/>
          <p:cNvSpPr/>
          <p:nvPr/>
        </p:nvSpPr>
        <p:spPr>
          <a:xfrm>
            <a:off x="4535424" y="2139696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 (par parent)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601968" y="2139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100 000 €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4462272" y="2441448"/>
            <a:ext cx="201168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Shape 55"/>
          <p:cNvSpPr/>
          <p:nvPr/>
        </p:nvSpPr>
        <p:spPr>
          <a:xfrm>
            <a:off x="6528816" y="2441448"/>
            <a:ext cx="150876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6"/>
          <p:cNvSpPr/>
          <p:nvPr/>
        </p:nvSpPr>
        <p:spPr>
          <a:xfrm>
            <a:off x="4535424" y="2450592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Petit-enfant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6601968" y="24505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1 594 €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4462272" y="2752344"/>
            <a:ext cx="201168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59"/>
          <p:cNvSpPr/>
          <p:nvPr/>
        </p:nvSpPr>
        <p:spPr>
          <a:xfrm>
            <a:off x="6528816" y="2752344"/>
            <a:ext cx="150876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0"/>
          <p:cNvSpPr/>
          <p:nvPr/>
        </p:nvSpPr>
        <p:spPr>
          <a:xfrm>
            <a:off x="4535424" y="2761488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Arrière-petit-enfant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6601968" y="276148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1 594 €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4462272" y="3063240"/>
            <a:ext cx="201168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3"/>
          <p:cNvSpPr/>
          <p:nvPr/>
        </p:nvSpPr>
        <p:spPr>
          <a:xfrm>
            <a:off x="6528816" y="3063240"/>
            <a:ext cx="150876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4"/>
          <p:cNvSpPr/>
          <p:nvPr/>
        </p:nvSpPr>
        <p:spPr>
          <a:xfrm>
            <a:off x="4535424" y="3072384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Frère ou sœur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6601968" y="307238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15 932 €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4462272" y="3374136"/>
            <a:ext cx="201168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Shape 67"/>
          <p:cNvSpPr/>
          <p:nvPr/>
        </p:nvSpPr>
        <p:spPr>
          <a:xfrm>
            <a:off x="6528816" y="3374136"/>
            <a:ext cx="1508760" cy="301752"/>
          </a:xfrm>
          <a:prstGeom prst="rect">
            <a:avLst/>
          </a:prstGeom>
          <a:solidFill>
            <a:srgbClr val="F3F0EB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8"/>
          <p:cNvSpPr/>
          <p:nvPr/>
        </p:nvSpPr>
        <p:spPr>
          <a:xfrm>
            <a:off x="4535424" y="3383280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Neveu / Nièce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6601968" y="338328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7 967 €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4462272" y="3685032"/>
            <a:ext cx="201168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71"/>
          <p:cNvSpPr/>
          <p:nvPr/>
        </p:nvSpPr>
        <p:spPr>
          <a:xfrm>
            <a:off x="6528816" y="3685032"/>
            <a:ext cx="1508760" cy="301752"/>
          </a:xfrm>
          <a:prstGeom prst="rect">
            <a:avLst/>
          </a:prstGeom>
          <a:solidFill>
            <a:srgbClr val="F7F5F1"/>
          </a:solidFill>
          <a:ln w="381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2"/>
          <p:cNvSpPr/>
          <p:nvPr/>
        </p:nvSpPr>
        <p:spPr>
          <a:xfrm>
            <a:off x="4535424" y="3694176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 (non parent)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6601968" y="369417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1 594 €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502920" y="4645152"/>
            <a:ext cx="8001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5"/>
          <p:cNvSpPr/>
          <p:nvPr/>
        </p:nvSpPr>
        <p:spPr>
          <a:xfrm>
            <a:off x="502920" y="4690872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Abattements renouvelables tous les 15 ans par donateur/successeur. Source : BOFIP — bofip.impots.gouv.fr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f3f382-ceb1-40cb-99f5-e72dad3ad468" xsi:nil="true"/>
    <lcf76f155ced4ddcb4097134ff3c332f xmlns="20af6729-ca02-41fe-ad33-8052e43e59c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13E88BE41E9B4697EEB1383CCFCEE9" ma:contentTypeVersion="15" ma:contentTypeDescription="Crée un document." ma:contentTypeScope="" ma:versionID="fdc6ab2ac34b5193386aa592c794ff43">
  <xsd:schema xmlns:xsd="http://www.w3.org/2001/XMLSchema" xmlns:xs="http://www.w3.org/2001/XMLSchema" xmlns:p="http://schemas.microsoft.com/office/2006/metadata/properties" xmlns:ns2="20af6729-ca02-41fe-ad33-8052e43e59c7" xmlns:ns3="96f3f382-ceb1-40cb-99f5-e72dad3ad468" targetNamespace="http://schemas.microsoft.com/office/2006/metadata/properties" ma:root="true" ma:fieldsID="deac9eb5af6cc4882cd6ba5d54d79817" ns2:_="" ns3:_="">
    <xsd:import namespace="20af6729-ca02-41fe-ad33-8052e43e59c7"/>
    <xsd:import namespace="96f3f382-ceb1-40cb-99f5-e72dad3ad4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f6729-ca02-41fe-ad33-8052e43e5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aa5910e2-05a9-40dc-8adb-0ff760bd22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f3f382-ceb1-40cb-99f5-e72dad3ad4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0be584f-2fe4-4807-82a2-8b95f00e20f2}" ma:internalName="TaxCatchAll" ma:showField="CatchAllData" ma:web="96f3f382-ceb1-40cb-99f5-e72dad3ad4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2500C3-0BF9-4160-9EFB-6F363BE89EA2}">
  <ds:schemaRefs>
    <ds:schemaRef ds:uri="http://schemas.microsoft.com/office/2006/metadata/properties"/>
    <ds:schemaRef ds:uri="http://schemas.microsoft.com/office/infopath/2007/PartnerControls"/>
    <ds:schemaRef ds:uri="96f3f382-ceb1-40cb-99f5-e72dad3ad468"/>
    <ds:schemaRef ds:uri="20af6729-ca02-41fe-ad33-8052e43e59c7"/>
  </ds:schemaRefs>
</ds:datastoreItem>
</file>

<file path=customXml/itemProps2.xml><?xml version="1.0" encoding="utf-8"?>
<ds:datastoreItem xmlns:ds="http://schemas.openxmlformats.org/officeDocument/2006/customXml" ds:itemID="{F079F69C-2C23-423F-AFA6-0DA966A4C7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50BBAE-E30E-4E78-9619-46B248827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af6729-ca02-41fe-ad33-8052e43e59c7"/>
    <ds:schemaRef ds:uri="96f3f382-ceb1-40cb-99f5-e72dad3ad4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2112</Words>
  <Application>Microsoft Office PowerPoint</Application>
  <PresentationFormat>Affichage à l'écran (16:9)</PresentationFormat>
  <Paragraphs>428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Garamond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 Amiel</cp:lastModifiedBy>
  <cp:revision>2</cp:revision>
  <dcterms:created xsi:type="dcterms:W3CDTF">2026-08-01T09:13:54Z</dcterms:created>
  <dcterms:modified xsi:type="dcterms:W3CDTF">2026-08-28T14:13:57Z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0x010100E413E88BE41E9B4697EEB1383CCFCEE9</vt:lpwstr>
  </property>
</Properties>
</file>