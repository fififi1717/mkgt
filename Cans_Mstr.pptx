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customXml" Target="../customXml/item1.xml"/><Relationship Id="rId27" Type="http://schemas.openxmlformats.org/officeDocument/2006/relationships/customXml" Target="../customXml/item2.xml"/><Relationship Id="rId28" Type="http://schemas.openxmlformats.org/officeDocument/2006/relationships/customXml" Target="../customXml/item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spc="150" kern="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50" kern="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ÂGE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0292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ans — ou X et X ans si couple]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PROFESSIONNELLE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0292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[Profession · Employeur · Statut]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FAMILIALE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[Marié(e) / Pacsé(e) / Célibataire] sous le régime de [régime matrimonial]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3273552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" y="334670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ENFANTS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02920" y="3584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enfants âgés de X, X et X ans]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393192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40050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RÉSIDENCE PRINCIPALE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02920" y="4242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[Propriétaire / Locataire] à [Ville]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0" y="594360"/>
            <a:ext cx="10973" cy="42976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ANNUEL NET DÉCLARÉ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70916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 en [ANNÉE]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70916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0916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ÉPARGNE MENSUELLE CAPACITÉ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70916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70916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0916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PARTICULIÈRE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470916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[AGA, BSPCE, stock-options, gérance, etc.]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371600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" y="13716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429000" y="1371600"/>
            <a:ext cx="14630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02152" y="137160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estimée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92040" y="1371600"/>
            <a:ext cx="82296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65192" y="137160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du total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02920" y="167335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6072" y="168249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Résidence principale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29000" y="1673352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02152" y="1682496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892040" y="1673352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65192" y="1682496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02920" y="197510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6072" y="19842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Résidence secondaire / investissement immobilier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429000" y="1975104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1984248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892040" y="1975104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65192" y="1984248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02920" y="22768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76072" y="22860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Assurance-vie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429000" y="2276856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02152" y="228600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892040" y="2276856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965192" y="2286000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02920" y="2578608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76072" y="258775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429000" y="2578608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502152" y="2587752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4892040" y="2578608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965192" y="2587752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02920" y="2880360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76072" y="288950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 (PEE / PERCO)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3429000" y="2880360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502152" y="2889504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4892040" y="2880360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965192" y="2889504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02920" y="3182112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76072" y="319125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3429000" y="3182112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502152" y="3191256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4892040" y="3182112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965192" y="3191256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502920" y="348386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76072" y="34930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Compte-titres / autres placements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3429000" y="3483864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3502152" y="3493008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4892040" y="3483864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4965192" y="3493008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502920" y="378561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576072" y="379476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actifs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3429000" y="3785616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3502152" y="379476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64" name="Shape 61"/>
          <p:cNvSpPr/>
          <p:nvPr/>
        </p:nvSpPr>
        <p:spPr>
          <a:xfrm>
            <a:off x="4892040" y="3785616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4965192" y="3794760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502920" y="4087368"/>
            <a:ext cx="5212080" cy="31089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576072" y="4096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3493008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4974336" y="4096512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900" dirty="0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274320" y="1389888"/>
          <a:ext cx="42062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 descr=""/>
          <p:cNvGraphicFramePr/>
          <p:nvPr/>
        </p:nvGraphicFramePr>
        <p:xfrm>
          <a:off x="4617720" y="1389888"/>
          <a:ext cx="39319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07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1188720"/>
            <a:ext cx="2450592" cy="3547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M. [NOM]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1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2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46" name="Text 16"/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3</a:t>
            </a:r>
            <a:endParaRPr lang="en-US" sz="850" dirty="0"/>
          </a:p>
        </p:txBody>
      </p:sp>
      <p:sp>
        <p:nvSpPr>
          <p:cNvPr id="47" name="Text 17"/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58368" y="426110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828800" y="42611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163824" y="1188720"/>
            <a:ext cx="2450592" cy="3547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MME [NOM]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8" name="Text 25"/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1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2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48" name="Text 28"/>
          <p:cNvSpPr/>
          <p:nvPr/>
        </p:nvSpPr>
        <p:spPr>
          <a:xfrm>
            <a:off x="331012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3</a:t>
            </a:r>
            <a:endParaRPr lang="en-US" sz="850" dirty="0"/>
          </a:p>
        </p:txBody>
      </p:sp>
      <p:sp>
        <p:nvSpPr>
          <p:cNvPr id="49" name="Text 29"/>
          <p:cNvSpPr/>
          <p:nvPr/>
        </p:nvSpPr>
        <p:spPr>
          <a:xfrm>
            <a:off x="448056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3310128" y="426110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480560" y="42611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824728" y="1188720"/>
            <a:ext cx="2679192" cy="3547872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40" name="Shape 37"/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61888" y="321868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42" name="Text 39"/>
          <p:cNvSpPr/>
          <p:nvPr/>
        </p:nvSpPr>
        <p:spPr>
          <a:xfrm>
            <a:off x="5961888" y="3895344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indent="0" marL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BOFIP. Barème et abattements détaillés en Annexe. Droits calculés sur la base des éléments communiqués.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remarques maximum recommandées — supprimer les lignes non utilisées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75488"/>
            <a:ext cx="4251960" cy="44988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7132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5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AUJOURD'HUI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14300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— TMI, charges, pression IR/PS]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1671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estimés au premier décès]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191256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futurs — lacune ou manque identifié]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26280" y="713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AFFILIOR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2628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11430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[Optimisation IR/PS — dispositifs et enveloppes recommandés]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2628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1728" y="216712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anticipée — droits réduits de X €]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2628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81728" y="319125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dès [ANNÉE] — X €/an]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1 — intitulé]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1 — contexte, montant envisagé, horizon, implications patrimoniales]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0292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0292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2 — intitulé]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20040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2 — contexte, montant envisagé, horizon, implications patrimoniales]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20040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20040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200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89788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9788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3 — intitulé]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9788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3 — contexte, montant envisagé, horizon, implications patrimoniales]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89788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9788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89788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589788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le nombre de colonnes au nombre de projets — supprimer les colonnes non utilisées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74320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6072" y="178308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1927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6519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37960" y="1783080"/>
            <a:ext cx="196596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11112" y="178308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6072" y="2093976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1]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4612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31927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89204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6519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537960" y="2084832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11112" y="2093976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6072" y="2404872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2]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4612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31927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89204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6519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537960" y="2395728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611112" y="2404872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6072" y="2715768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3]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24612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31927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89204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6519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537960" y="2706624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611112" y="2715768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6072" y="3026664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4]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4612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31927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89204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96519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537960" y="3017520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11112" y="3026664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76072" y="3337560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324612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331927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[Nouveau]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89204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496519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6537960" y="3328416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611112" y="3337560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576072" y="36484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303520" y="3648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IMPACT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d'ancrage]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1907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ÉVITÉS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0292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50292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[X €] sans stratégie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10896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COMPLÉMENTAIRE ANNUEL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20040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€/an]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320040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[ANNÉE]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0644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9788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ÉCONOMIE FISCALE SUR [X] ANS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9788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589788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+ PS + frais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312724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SANS STRATÉGIE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343400" y="32461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LA STRATÉGIE AFFILIOR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4160520" y="3200400"/>
            <a:ext cx="10973" cy="157276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" y="347472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8368" y="3474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actuelle]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" y="397764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8368" y="39776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448056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58368" y="4480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[Retraite]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43400" y="347472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98848" y="347472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[Fiscalité — économie de X €/an grâce à [dispositif retenu]]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343400" y="397764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498848" y="397764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réduits de X € grâce à l'anticipation]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43400" y="448056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498848" y="448056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— X €/mois dès [ANNÉE]]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111" name="Text Objectif 111"/>
          <p:cNvSpPr/>
          <p:nvPr/>
        </p:nvSpPr>
        <p:spPr>
          <a:xfrm>
            <a:off x="502920" y="1737360"/>
            <a:ext cx="256032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 — répond à l'objectif exprimé]</a:t>
            </a:r>
          </a:p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 — répond à l'objectif exprimé]</a:t>
            </a:r>
          </a:p>
        </p:txBody>
      </p:sp>
      <p:sp>
        <p:nvSpPr>
          <p:cNvPr id="17" name="Shape 14"/>
          <p:cNvSpPr/>
          <p:nvPr/>
        </p:nvSpPr>
        <p:spPr>
          <a:xfrm>
            <a:off x="50292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[Nom de la solution]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[Montant]</a:t>
            </a:r>
            <a:endParaRPr lang="en-US" sz="1000" dirty="0"/>
          </a:p>
        </p:txBody>
      </p:sp>
      <p:sp>
        <p:nvSpPr>
          <p:cNvPr id="101" name="Text Risque 1"/>
          <p:cNvSpPr/>
          <p:nvPr/>
        </p:nvSpPr>
        <p:spPr>
          <a:xfrm>
            <a:off x="502920" y="4515000"/>
            <a:ext cx="25603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et rendement cible]</a:t>
            </a:r>
            <a:endParaRPr lang="en-US" sz="900" dirty="0"/>
          </a:p>
        </p:txBody>
      </p:sp>
      <p:sp>
        <p:nvSpPr>
          <p:cNvPr id="112" name="Text Objectif 112"/>
          <p:cNvSpPr/>
          <p:nvPr/>
        </p:nvSpPr>
        <p:spPr>
          <a:xfrm>
            <a:off x="3200400" y="1737360"/>
            <a:ext cx="256032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20040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0040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 — répond à l'objectif exprimé]</a:t>
            </a:r>
          </a:p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 — répond à l'objectif exprimé]</a:t>
            </a:r>
          </a:p>
        </p:txBody>
      </p:sp>
      <p:sp>
        <p:nvSpPr>
          <p:cNvPr id="24" name="Shape 21"/>
          <p:cNvSpPr/>
          <p:nvPr/>
        </p:nvSpPr>
        <p:spPr>
          <a:xfrm>
            <a:off x="320040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[Nom de la solution]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20040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[Montant]</a:t>
            </a:r>
            <a:endParaRPr lang="en-US" sz="1000" dirty="0"/>
          </a:p>
        </p:txBody>
      </p:sp>
      <p:sp>
        <p:nvSpPr>
          <p:cNvPr id="102" name="Text Risque 2"/>
          <p:cNvSpPr/>
          <p:nvPr/>
        </p:nvSpPr>
        <p:spPr>
          <a:xfrm>
            <a:off x="3200400" y="4515000"/>
            <a:ext cx="25603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et rendement cible]</a:t>
            </a:r>
            <a:endParaRPr lang="en-US" sz="900" dirty="0"/>
          </a:p>
        </p:txBody>
      </p:sp>
      <p:sp>
        <p:nvSpPr>
          <p:cNvPr id="113" name="Text Objectif 113"/>
          <p:cNvSpPr/>
          <p:nvPr/>
        </p:nvSpPr>
        <p:spPr>
          <a:xfrm>
            <a:off x="5897880" y="1737360"/>
            <a:ext cx="256032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89788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89788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 — répond à l'objectif exprimé]</a:t>
            </a:r>
          </a:p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 — répond à l'objectif exprimé]</a:t>
            </a:r>
          </a:p>
        </p:txBody>
      </p:sp>
      <p:sp>
        <p:nvSpPr>
          <p:cNvPr id="31" name="Shape 28"/>
          <p:cNvSpPr/>
          <p:nvPr/>
        </p:nvSpPr>
        <p:spPr>
          <a:xfrm>
            <a:off x="589788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9788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[Nom de la solution]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[Montant]</a:t>
            </a:r>
            <a:endParaRPr lang="en-US" sz="1000" dirty="0"/>
          </a:p>
        </p:txBody>
      </p:sp>
      <p:sp>
        <p:nvSpPr>
          <p:cNvPr id="103" name="Text Risque 3"/>
          <p:cNvSpPr/>
          <p:nvPr/>
        </p:nvSpPr>
        <p:spPr>
          <a:xfrm>
            <a:off x="5897880" y="4515000"/>
            <a:ext cx="25603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et rendement cible]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E50BBAE-E30E-4E78-9619-46B248827988}"/>
</file>

<file path=customXml/itemProps2.xml><?xml version="1.0" encoding="utf-8"?>
<ds:datastoreItem xmlns:ds="http://schemas.openxmlformats.org/officeDocument/2006/customXml" ds:itemID="{F079F69C-2C23-423F-AFA6-0DA966A4C7CD}"/>
</file>

<file path=customXml/itemProps3.xml><?xml version="1.0" encoding="utf-8"?>
<ds:datastoreItem xmlns:ds="http://schemas.openxmlformats.org/officeDocument/2006/customXml" ds:itemID="{4D2500C3-0BF9-4160-9EFB-6F363BE89EA2}"/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2026-08-01T09:13:54Z</dcterms:created>
  <dcterms:modified xsi:type="dcterms:W3CDTF">2026-08-01T09:13:54Z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