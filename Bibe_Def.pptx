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324" r:id="rId7"/>
    <p:sldId id="33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322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33" r:id="rId38"/>
    <p:sldId id="334" r:id="rId39"/>
    <p:sldId id="308" r:id="rId40"/>
    <p:sldId id="335" r:id="rId41"/>
    <p:sldId id="336" r:id="rId42"/>
    <p:sldId id="309" r:id="rId43"/>
    <p:sldId id="310" r:id="rId44"/>
    <p:sldId id="311" r:id="rId45"/>
    <p:sldId id="313" r:id="rId46"/>
    <p:sldId id="314" r:id="rId47"/>
    <p:sldId id="316" r:id="rId48"/>
    <p:sldId id="317" r:id="rId49"/>
    <p:sldId id="318" r:id="rId50"/>
    <p:sldId id="319" r:id="rId51"/>
    <p:sldId id="320" r:id="rId52"/>
    <p:sldId id="321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FISCALITÉ · ASSURANCE VIE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Fiscalité de l'assurance vie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0" name="SecH400"/>
          <p:cNvSpPr/>
          <p:nvPr/>
        </p:nvSpPr>
        <p:spPr>
          <a:xfrm>
            <a:off x="502920" y="1350000"/>
            <a:ext cx="5300000" cy="19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50" spc="200" dirty="0">
                <a:solidFill>
                  <a:srgbClr val="8B1A1A"/>
                </a:solidFill>
                <a:latin typeface="Garamond" pitchFamily="34" charset="0"/>
              </a:rPr>
              <a:t>LES GRANDS PRINCIPES</a:t>
            </a:r>
            <a:endParaRPr lang="en-US" sz="950" dirty="0"/>
          </a:p>
        </p:txBody>
      </p:sp>
      <p:sp>
        <p:nvSpPr>
          <p:cNvPr id="401" name="SecB400"/>
          <p:cNvSpPr/>
          <p:nvPr/>
        </p:nvSpPr>
        <p:spPr>
          <a:xfrm>
            <a:off x="502920" y="1560000"/>
            <a:ext cx="5300000" cy="5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Pas de fiscalité en cas d’arbitrage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au sein du contrat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Fiscalité uniquement en cas de sortie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(rachat partiel ou total)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Imposition sur la seule part d’intérêts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comprise dans le rachat</a:t>
            </a:r>
            <a:endParaRPr lang="en-US" sz="1000" dirty="0"/>
          </a:p>
        </p:txBody>
      </p:sp>
      <p:sp>
        <p:nvSpPr>
          <p:cNvPr id="402" name="SecL400"/>
          <p:cNvSpPr/>
          <p:nvPr/>
        </p:nvSpPr>
        <p:spPr>
          <a:xfrm>
            <a:off x="502920" y="2170000"/>
            <a:ext cx="5300000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0" name="SecH410"/>
          <p:cNvSpPr/>
          <p:nvPr/>
        </p:nvSpPr>
        <p:spPr>
          <a:xfrm>
            <a:off x="502920" y="2270000"/>
            <a:ext cx="5300000" cy="19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50" spc="200" dirty="0">
                <a:solidFill>
                  <a:srgbClr val="8B1A1A"/>
                </a:solidFill>
                <a:latin typeface="Garamond" pitchFamily="34" charset="0"/>
              </a:rPr>
              <a:t>RACHAT AVANT 8 ANS</a:t>
            </a:r>
            <a:endParaRPr lang="en-US" sz="950" dirty="0"/>
          </a:p>
        </p:txBody>
      </p:sp>
      <p:sp>
        <p:nvSpPr>
          <p:cNvPr id="411" name="SecB410"/>
          <p:cNvSpPr/>
          <p:nvPr/>
        </p:nvSpPr>
        <p:spPr>
          <a:xfrm>
            <a:off x="502920" y="2480000"/>
            <a:ext cx="5300000" cy="2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PFU 30 %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(12,8 % IR + 17,2 % prélèvements sociaux)</a:t>
            </a:r>
            <a:endParaRPr lang="en-US" sz="1000" dirty="0"/>
          </a:p>
        </p:txBody>
      </p:sp>
      <p:sp>
        <p:nvSpPr>
          <p:cNvPr id="412" name="SecL410"/>
          <p:cNvSpPr/>
          <p:nvPr/>
        </p:nvSpPr>
        <p:spPr>
          <a:xfrm>
            <a:off x="502920" y="2730000"/>
            <a:ext cx="5300000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0" name="SecH420"/>
          <p:cNvSpPr/>
          <p:nvPr/>
        </p:nvSpPr>
        <p:spPr>
          <a:xfrm>
            <a:off x="502920" y="2830000"/>
            <a:ext cx="5300000" cy="19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50" spc="200" dirty="0">
                <a:solidFill>
                  <a:srgbClr val="8B1A1A"/>
                </a:solidFill>
                <a:latin typeface="Garamond" pitchFamily="34" charset="0"/>
              </a:rPr>
              <a:t>RACHAT APRÈS 8 ANS</a:t>
            </a:r>
            <a:endParaRPr lang="en-US" sz="950" dirty="0"/>
          </a:p>
        </p:txBody>
      </p:sp>
      <p:sp>
        <p:nvSpPr>
          <p:cNvPr id="421" name="SecB420"/>
          <p:cNvSpPr/>
          <p:nvPr/>
        </p:nvSpPr>
        <p:spPr>
          <a:xfrm>
            <a:off x="502920" y="3040000"/>
            <a:ext cx="5300000" cy="38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Abattement annuel :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4 600 € (célibataire) / 9 200 € (couple)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Taux réduit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7,5 % + 17,2 % PS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primes &lt; 150 000 €</a:t>
            </a:r>
            <a:endParaRPr lang="en-US" sz="1000" dirty="0"/>
          </a:p>
        </p:txBody>
      </p:sp>
      <p:sp>
        <p:nvSpPr>
          <p:cNvPr id="422" name="SecL420"/>
          <p:cNvSpPr/>
          <p:nvPr/>
        </p:nvSpPr>
        <p:spPr>
          <a:xfrm>
            <a:off x="502920" y="3470000"/>
            <a:ext cx="5300000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0" name="SecH430"/>
          <p:cNvSpPr/>
          <p:nvPr/>
        </p:nvSpPr>
        <p:spPr>
          <a:xfrm>
            <a:off x="502920" y="3570000"/>
            <a:ext cx="5300000" cy="19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50" spc="200" dirty="0">
                <a:solidFill>
                  <a:srgbClr val="8B1A1A"/>
                </a:solidFill>
                <a:latin typeface="Garamond" pitchFamily="34" charset="0"/>
              </a:rPr>
              <a:t>SUCCESSION</a:t>
            </a:r>
            <a:endParaRPr lang="en-US" sz="950" dirty="0"/>
          </a:p>
        </p:txBody>
      </p:sp>
      <p:sp>
        <p:nvSpPr>
          <p:cNvPr id="431" name="SecB430"/>
          <p:cNvSpPr/>
          <p:nvPr/>
        </p:nvSpPr>
        <p:spPr>
          <a:xfrm>
            <a:off x="502920" y="3780000"/>
            <a:ext cx="5300000" cy="5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Avant 70 ans :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152 500 € par bénéficiaire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puis 20 % jusqu’à 700 000 €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Après 70 ans :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30 500 € global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— intérêts exonérés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Conjoint / PACS : </a:t>
            </a:r>
            <a:r>
              <a:rPr lang="en-US" sz="1000" b="1" dirty="0">
                <a:solidFill>
                  <a:srgbClr val="4A5568"/>
                </a:solidFill>
                <a:latin typeface="Calibri" pitchFamily="34" charset="0"/>
              </a:rPr>
              <a:t>exonération totale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</a:rPr>
              <a:t> (loi TEPA)</a:t>
            </a:r>
            <a:endParaRPr lang="en-US" sz="10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816" name="PIE816"/>
          <p:cNvSpPr/>
          <p:nvPr/>
        </p:nvSpPr>
        <p:spPr>
          <a:xfrm>
            <a:off x="6250000" y="1500000"/>
            <a:ext cx="1750000" cy="1750000"/>
          </a:xfrm>
          <a:prstGeom prst="pie">
            <a:avLst>
              <a:gd name="adj1" fmla="val 16200000"/>
              <a:gd name="adj2" fmla="val 12600000"/>
            </a:avLst>
          </a:prstGeom>
          <a:solidFill>
            <a:srgbClr val="1C2B3A"/>
          </a:solidFill>
          <a:ln w="25400">
            <a:solidFill>
              <a:srgbClr val="F3F0E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817" name="PIE817"/>
          <p:cNvSpPr/>
          <p:nvPr/>
        </p:nvSpPr>
        <p:spPr>
          <a:xfrm>
            <a:off x="6250000" y="1500000"/>
            <a:ext cx="1750000" cy="1750000"/>
          </a:xfrm>
          <a:prstGeom prst="pie">
            <a:avLst>
              <a:gd name="adj1" fmla="val 12600000"/>
              <a:gd name="adj2" fmla="val 16200000"/>
            </a:avLst>
          </a:prstGeom>
          <a:solidFill>
            <a:srgbClr val="8B1A1A"/>
          </a:solidFill>
          <a:ln w="25400">
            <a:solidFill>
              <a:srgbClr val="F3F0EB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818" name="NP818"/>
          <p:cNvSpPr/>
          <p:nvPr/>
        </p:nvSpPr>
        <p:spPr>
          <a:xfrm>
            <a:off x="6350000" y="3480000"/>
            <a:ext cx="120000" cy="12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9" name="NT819"/>
          <p:cNvSpPr/>
          <p:nvPr/>
        </p:nvSpPr>
        <p:spPr>
          <a:xfrm>
            <a:off x="6530000" y="3450000"/>
            <a:ext cx="1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</a:rPr>
              <a:t>Capital investi</a:t>
            </a:r>
            <a:endParaRPr lang="en-US" sz="1100" dirty="0"/>
          </a:p>
        </p:txBody>
      </p:sp>
      <p:sp>
        <p:nvSpPr>
          <p:cNvPr id="820" name="NP820"/>
          <p:cNvSpPr/>
          <p:nvPr/>
        </p:nvSpPr>
        <p:spPr>
          <a:xfrm>
            <a:off x="6350000" y="3710000"/>
            <a:ext cx="120000" cy="12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1" name="NT821"/>
          <p:cNvSpPr/>
          <p:nvPr/>
        </p:nvSpPr>
        <p:spPr>
          <a:xfrm>
            <a:off x="6530000" y="3680000"/>
            <a:ext cx="1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</a:rPr>
              <a:t>Intérêts accumulés</a:t>
            </a:r>
            <a:endParaRPr lang="en-US" sz="1100" dirty="0"/>
          </a:p>
        </p:txBody>
      </p:sp>
      <p:sp>
        <p:nvSpPr>
          <p:cNvPr id="822" name="NT822"/>
          <p:cNvSpPr/>
          <p:nvPr/>
        </p:nvSpPr>
        <p:spPr>
          <a:xfrm>
            <a:off x="6100000" y="1200000"/>
            <a:ext cx="205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spc="200" dirty="0">
                <a:solidFill>
                  <a:srgbClr val="8B1A1A"/>
                </a:solidFill>
                <a:latin typeface="Garamond" pitchFamily="34" charset="0"/>
              </a:rPr>
              <a:t>LORS D’UN RACHAT</a:t>
            </a:r>
            <a:endParaRPr lang="en-US" sz="1100" dirty="0"/>
          </a:p>
        </p:txBody>
      </p:sp>
      <p:sp>
        <p:nvSpPr>
          <p:cNvPr id="823" name="NT823"/>
          <p:cNvSpPr/>
          <p:nvPr/>
        </p:nvSpPr>
        <p:spPr>
          <a:xfrm>
            <a:off x="6100000" y="3950000"/>
            <a:ext cx="215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</a:rPr>
              <a:t>Seule la </a:t>
            </a:r>
            <a:r>
              <a:rPr lang="en-US" sz="850" b="1" dirty="0">
                <a:solidFill>
                  <a:srgbClr val="8B1A1A"/>
                </a:solidFill>
                <a:latin typeface="Calibri" pitchFamily="34" charset="0"/>
              </a:rPr>
              <a:t>part d’intérêts</a:t>
            </a:r>
            <a:r>
              <a:rPr lang="en-US" sz="850" dirty="0">
                <a:solidFill>
                  <a:srgbClr val="4A5568"/>
                </a:solidFill>
                <a:latin typeface="Calibri" pitchFamily="34" charset="0"/>
              </a:rPr>
              <a:t> comprise dans le rachat est imposée.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7628007-78B2-480A-B2D7-92AE4D8F2CAC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</a:t>
            </a:fld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FISCALITÉ · PER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Fiscalité du Plan d'Épargne Retraite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olSep"/>
          <p:cNvSpPr/>
          <p:nvPr/>
        </p:nvSpPr>
        <p:spPr>
          <a:xfrm>
            <a:off x="4572000" y="1350000"/>
            <a:ext cx="10973" cy="325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LHdr"/>
          <p:cNvSpPr/>
          <p:nvPr/>
        </p:nvSpPr>
        <p:spPr>
          <a:xfrm>
            <a:off x="502920" y="1371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À L'ENTRÉE</a:t>
            </a:r>
            <a:endParaRPr lang="en-US" sz="1100" dirty="0"/>
          </a:p>
        </p:txBody>
      </p:sp>
      <p:sp>
        <p:nvSpPr>
          <p:cNvPr id="22" name="RHdr"/>
          <p:cNvSpPr/>
          <p:nvPr/>
        </p:nvSpPr>
        <p:spPr>
          <a:xfrm>
            <a:off x="4709160" y="1371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À LA SORTIE</a:t>
            </a:r>
            <a:endParaRPr lang="en-US" sz="1100" dirty="0"/>
          </a:p>
        </p:txBody>
      </p:sp>
      <p:sp>
        <p:nvSpPr>
          <p:cNvPr id="23" name="LS0"/>
          <p:cNvSpPr/>
          <p:nvPr/>
        </p:nvSpPr>
        <p:spPr>
          <a:xfrm>
            <a:off x="502920" y="1664208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LT0"/>
          <p:cNvSpPr/>
          <p:nvPr/>
        </p:nvSpPr>
        <p:spPr>
          <a:xfrm>
            <a:off x="502920" y="1711757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Versements déductibles du revenu imposable (TMI)</a:t>
            </a:r>
            <a:endParaRPr lang="en-US" sz="1100" dirty="0"/>
          </a:p>
        </p:txBody>
      </p:sp>
      <p:sp>
        <p:nvSpPr>
          <p:cNvPr id="25" name="LS1"/>
          <p:cNvSpPr/>
          <p:nvPr/>
        </p:nvSpPr>
        <p:spPr>
          <a:xfrm>
            <a:off x="502920" y="2015033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LT1"/>
          <p:cNvSpPr/>
          <p:nvPr/>
        </p:nvSpPr>
        <p:spPr>
          <a:xfrm>
            <a:off x="502920" y="2062582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 : 10 % du revenu net professionnel N-1</a:t>
            </a:r>
            <a:endParaRPr lang="en-US" sz="1100" dirty="0"/>
          </a:p>
        </p:txBody>
      </p:sp>
      <p:sp>
        <p:nvSpPr>
          <p:cNvPr id="27" name="LS2"/>
          <p:cNvSpPr/>
          <p:nvPr/>
        </p:nvSpPr>
        <p:spPr>
          <a:xfrm>
            <a:off x="502920" y="2365858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LT2"/>
          <p:cNvSpPr/>
          <p:nvPr/>
        </p:nvSpPr>
        <p:spPr>
          <a:xfrm>
            <a:off x="502920" y="2413407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des plafonds non utilisés sur 3 ans possible</a:t>
            </a:r>
            <a:endParaRPr lang="en-US" sz="1100" dirty="0"/>
          </a:p>
        </p:txBody>
      </p:sp>
      <p:sp>
        <p:nvSpPr>
          <p:cNvPr id="29" name="LS3"/>
          <p:cNvSpPr/>
          <p:nvPr/>
        </p:nvSpPr>
        <p:spPr>
          <a:xfrm>
            <a:off x="502920" y="2716683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LT3"/>
          <p:cNvSpPr/>
          <p:nvPr/>
        </p:nvSpPr>
        <p:spPr>
          <a:xfrm>
            <a:off x="502920" y="2764232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fiscale = versement × TMI marginal</a:t>
            </a:r>
            <a:endParaRPr lang="en-US" sz="1100" dirty="0"/>
          </a:p>
        </p:txBody>
      </p:sp>
      <p:sp>
        <p:nvSpPr>
          <p:cNvPr id="31" name="RS0"/>
          <p:cNvSpPr/>
          <p:nvPr/>
        </p:nvSpPr>
        <p:spPr>
          <a:xfrm>
            <a:off x="4709160" y="1664208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T0"/>
          <p:cNvSpPr/>
          <p:nvPr/>
        </p:nvSpPr>
        <p:spPr>
          <a:xfrm>
            <a:off x="4709160" y="1711757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rente : abattement 10 %, puis barème IR</a:t>
            </a:r>
            <a:endParaRPr lang="en-US" sz="1100" dirty="0"/>
          </a:p>
        </p:txBody>
      </p:sp>
      <p:sp>
        <p:nvSpPr>
          <p:cNvPr id="33" name="RS1"/>
          <p:cNvSpPr/>
          <p:nvPr/>
        </p:nvSpPr>
        <p:spPr>
          <a:xfrm>
            <a:off x="4709160" y="2015033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T1"/>
          <p:cNvSpPr/>
          <p:nvPr/>
        </p:nvSpPr>
        <p:spPr>
          <a:xfrm>
            <a:off x="4709160" y="2062582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capital : capital → IR (TMI), intérêts → PFU 30 %</a:t>
            </a:r>
            <a:endParaRPr lang="en-US" sz="1100" dirty="0"/>
          </a:p>
        </p:txBody>
      </p:sp>
      <p:sp>
        <p:nvSpPr>
          <p:cNvPr id="35" name="RS2"/>
          <p:cNvSpPr/>
          <p:nvPr/>
        </p:nvSpPr>
        <p:spPr>
          <a:xfrm>
            <a:off x="4709160" y="2365858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RT2"/>
          <p:cNvSpPr/>
          <p:nvPr/>
        </p:nvSpPr>
        <p:spPr>
          <a:xfrm>
            <a:off x="4709160" y="2413407"/>
            <a:ext cx="3840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Résidence principale : sortie en capital exonérée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8CF56B3-A7CB-45F7-9B89-43751FC461CF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</a:t>
            </a:fld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STRATÉGIE · PER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Pourquoi souscrire un PER ?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501" name="Card1501"/>
          <p:cNvSpPr/>
          <p:nvPr/>
        </p:nvSpPr>
        <p:spPr>
          <a:xfrm>
            <a:off x="50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2" name="Accent1502"/>
          <p:cNvSpPr/>
          <p:nvPr/>
        </p:nvSpPr>
        <p:spPr>
          <a:xfrm>
            <a:off x="50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3" name="CardT1503"/>
          <p:cNvSpPr/>
          <p:nvPr/>
        </p:nvSpPr>
        <p:spPr>
          <a:xfrm>
            <a:off x="67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Déduction fiscale immédiate</a:t>
            </a:r>
            <a:endParaRPr lang="en-US" sz="1100" dirty="0"/>
          </a:p>
        </p:txBody>
      </p:sp>
      <p:sp>
        <p:nvSpPr>
          <p:cNvPr id="1504" name="CardD1504"/>
          <p:cNvSpPr/>
          <p:nvPr/>
        </p:nvSpPr>
        <p:spPr>
          <a:xfrm>
            <a:off x="67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Versements déductibles du revenu imposable — économie = versement × TMI</a:t>
            </a:r>
            <a:endParaRPr lang="en-US" sz="900" dirty="0"/>
          </a:p>
        </p:txBody>
      </p:sp>
      <p:sp>
        <p:nvSpPr>
          <p:cNvPr id="1505" name="Card1505"/>
          <p:cNvSpPr/>
          <p:nvPr/>
        </p:nvSpPr>
        <p:spPr>
          <a:xfrm>
            <a:off x="466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6" name="Accent1506"/>
          <p:cNvSpPr/>
          <p:nvPr/>
        </p:nvSpPr>
        <p:spPr>
          <a:xfrm>
            <a:off x="466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07" name="CardT1507"/>
          <p:cNvSpPr/>
          <p:nvPr/>
        </p:nvSpPr>
        <p:spPr>
          <a:xfrm>
            <a:off x="483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Capitalisation long terme</a:t>
            </a:r>
            <a:endParaRPr lang="en-US" sz="1100" dirty="0"/>
          </a:p>
        </p:txBody>
      </p:sp>
      <p:sp>
        <p:nvSpPr>
          <p:cNvPr id="1508" name="CardD1508"/>
          <p:cNvSpPr/>
          <p:nvPr/>
        </p:nvSpPr>
        <p:spPr>
          <a:xfrm>
            <a:off x="483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Les économies d'impôt réinvesties travaillent sur la durée</a:t>
            </a:r>
            <a:endParaRPr lang="en-US" sz="900" dirty="0"/>
          </a:p>
        </p:txBody>
      </p:sp>
      <p:sp>
        <p:nvSpPr>
          <p:cNvPr id="1509" name="Card1509"/>
          <p:cNvSpPr/>
          <p:nvPr/>
        </p:nvSpPr>
        <p:spPr>
          <a:xfrm>
            <a:off x="50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10" name="Accent1510"/>
          <p:cNvSpPr/>
          <p:nvPr/>
        </p:nvSpPr>
        <p:spPr>
          <a:xfrm>
            <a:off x="50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1" name="CardT1511"/>
          <p:cNvSpPr/>
          <p:nvPr/>
        </p:nvSpPr>
        <p:spPr>
          <a:xfrm>
            <a:off x="67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Résidence principale</a:t>
            </a:r>
            <a:endParaRPr lang="en-US" sz="1100" dirty="0"/>
          </a:p>
        </p:txBody>
      </p:sp>
      <p:sp>
        <p:nvSpPr>
          <p:cNvPr id="1512" name="CardD1512"/>
          <p:cNvSpPr/>
          <p:nvPr/>
        </p:nvSpPr>
        <p:spPr>
          <a:xfrm>
            <a:off x="67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Sortie anticipée en capital possible pour l'acquisition</a:t>
            </a:r>
            <a:endParaRPr lang="en-US" sz="900" dirty="0"/>
          </a:p>
        </p:txBody>
      </p:sp>
      <p:sp>
        <p:nvSpPr>
          <p:cNvPr id="1513" name="Card1513"/>
          <p:cNvSpPr/>
          <p:nvPr/>
        </p:nvSpPr>
        <p:spPr>
          <a:xfrm>
            <a:off x="466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14" name="Accent1514"/>
          <p:cNvSpPr/>
          <p:nvPr/>
        </p:nvSpPr>
        <p:spPr>
          <a:xfrm>
            <a:off x="466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5" name="CardT1515"/>
          <p:cNvSpPr/>
          <p:nvPr/>
        </p:nvSpPr>
        <p:spPr>
          <a:xfrm>
            <a:off x="483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Retraite préparée</a:t>
            </a:r>
            <a:endParaRPr lang="en-US" sz="1100" dirty="0"/>
          </a:p>
        </p:txBody>
      </p:sp>
      <p:sp>
        <p:nvSpPr>
          <p:cNvPr id="1516" name="CardD1516"/>
          <p:cNvSpPr/>
          <p:nvPr/>
        </p:nvSpPr>
        <p:spPr>
          <a:xfrm>
            <a:off x="483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Sortie en rente ou en capital, au choix, à l'échéance</a:t>
            </a:r>
            <a:endParaRPr lang="en-US" sz="900" dirty="0"/>
          </a:p>
        </p:txBody>
      </p:sp>
      <p:sp>
        <p:nvSpPr>
          <p:cNvPr id="1517" name="SynthL1517"/>
          <p:cNvSpPr/>
          <p:nvPr/>
        </p:nvSpPr>
        <p:spPr>
          <a:xfrm>
            <a:off x="502920" y="44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18" name="SynthT1518"/>
          <p:cNvSpPr/>
          <p:nvPr/>
        </p:nvSpPr>
        <p:spPr>
          <a:xfrm>
            <a:off x="502920" y="4470000"/>
            <a:ext cx="81107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2B3A"/>
                </a:solidFill>
                <a:latin typeface="Garamond" pitchFamily="34" charset="0"/>
              </a:rPr>
              <a:t>Réduire l'impôt d'aujourd'hui pour construire le capital de demain.</a:t>
            </a:r>
            <a:endParaRPr lang="en-US" sz="105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3FE5D50-7464-4A58-929F-5B681DAAB99D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</a:t>
            </a:fld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ENVELOPPE · CAPITALISATION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 contrat de capitalisation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519" name="Card1519"/>
          <p:cNvSpPr/>
          <p:nvPr/>
        </p:nvSpPr>
        <p:spPr>
          <a:xfrm>
            <a:off x="50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0" name="Accent1520"/>
          <p:cNvSpPr/>
          <p:nvPr/>
        </p:nvSpPr>
        <p:spPr>
          <a:xfrm>
            <a:off x="50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1" name="CardT1521"/>
          <p:cNvSpPr/>
          <p:nvPr/>
        </p:nvSpPr>
        <p:spPr>
          <a:xfrm>
            <a:off x="67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Trésorerie disponible</a:t>
            </a:r>
            <a:endParaRPr lang="en-US" sz="1100" dirty="0"/>
          </a:p>
        </p:txBody>
      </p:sp>
      <p:sp>
        <p:nvSpPr>
          <p:cNvPr id="1522" name="CardD1522"/>
          <p:cNvSpPr/>
          <p:nvPr/>
        </p:nvSpPr>
        <p:spPr>
          <a:xfrm>
            <a:off x="67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Placement de la trésorerie d'entreprise, disponible à tout moment</a:t>
            </a:r>
            <a:endParaRPr lang="en-US" sz="900" dirty="0"/>
          </a:p>
        </p:txBody>
      </p:sp>
      <p:sp>
        <p:nvSpPr>
          <p:cNvPr id="1523" name="Card1523"/>
          <p:cNvSpPr/>
          <p:nvPr/>
        </p:nvSpPr>
        <p:spPr>
          <a:xfrm>
            <a:off x="466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4" name="Accent1524"/>
          <p:cNvSpPr/>
          <p:nvPr/>
        </p:nvSpPr>
        <p:spPr>
          <a:xfrm>
            <a:off x="466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5" name="CardT1525"/>
          <p:cNvSpPr/>
          <p:nvPr/>
        </p:nvSpPr>
        <p:spPr>
          <a:xfrm>
            <a:off x="483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Diversification totale</a:t>
            </a:r>
            <a:endParaRPr lang="en-US" sz="1100" dirty="0"/>
          </a:p>
        </p:txBody>
      </p:sp>
      <p:sp>
        <p:nvSpPr>
          <p:cNvPr id="1526" name="CardD1526"/>
          <p:cNvSpPr/>
          <p:nvPr/>
        </p:nvSpPr>
        <p:spPr>
          <a:xfrm>
            <a:off x="483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Toutes classes d'actifs : obligations, actions, immobilier…</a:t>
            </a:r>
            <a:endParaRPr lang="en-US" sz="900" dirty="0"/>
          </a:p>
        </p:txBody>
      </p:sp>
      <p:sp>
        <p:nvSpPr>
          <p:cNvPr id="1527" name="Card1527"/>
          <p:cNvSpPr/>
          <p:nvPr/>
        </p:nvSpPr>
        <p:spPr>
          <a:xfrm>
            <a:off x="50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8" name="Accent1528"/>
          <p:cNvSpPr/>
          <p:nvPr/>
        </p:nvSpPr>
        <p:spPr>
          <a:xfrm>
            <a:off x="50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29" name="CardT1529"/>
          <p:cNvSpPr/>
          <p:nvPr/>
        </p:nvSpPr>
        <p:spPr>
          <a:xfrm>
            <a:off x="67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Crédit Lombard</a:t>
            </a:r>
            <a:endParaRPr lang="en-US" sz="1100" dirty="0"/>
          </a:p>
        </p:txBody>
      </p:sp>
      <p:sp>
        <p:nvSpPr>
          <p:cNvPr id="1530" name="CardD1530"/>
          <p:cNvSpPr/>
          <p:nvPr/>
        </p:nvSpPr>
        <p:spPr>
          <a:xfrm>
            <a:off x="67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Ligne de financement adossée au contrat, sans nantir les actifs</a:t>
            </a:r>
            <a:endParaRPr lang="en-US" sz="900" dirty="0"/>
          </a:p>
        </p:txBody>
      </p:sp>
      <p:sp>
        <p:nvSpPr>
          <p:cNvPr id="1531" name="Card1531"/>
          <p:cNvSpPr/>
          <p:nvPr/>
        </p:nvSpPr>
        <p:spPr>
          <a:xfrm>
            <a:off x="466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2" name="Accent1532"/>
          <p:cNvSpPr/>
          <p:nvPr/>
        </p:nvSpPr>
        <p:spPr>
          <a:xfrm>
            <a:off x="466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3" name="CardT1533"/>
          <p:cNvSpPr/>
          <p:nvPr/>
        </p:nvSpPr>
        <p:spPr>
          <a:xfrm>
            <a:off x="483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Transmission optimisée</a:t>
            </a:r>
            <a:endParaRPr lang="en-US" sz="1100" dirty="0"/>
          </a:p>
        </p:txBody>
      </p:sp>
      <p:sp>
        <p:nvSpPr>
          <p:cNvPr id="1534" name="CardD1534"/>
          <p:cNvSpPr/>
          <p:nvPr/>
        </p:nvSpPr>
        <p:spPr>
          <a:xfrm>
            <a:off x="483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Intégrable dans une donation avec abattement</a:t>
            </a:r>
            <a:endParaRPr lang="en-US" sz="900" dirty="0"/>
          </a:p>
        </p:txBody>
      </p:sp>
      <p:sp>
        <p:nvSpPr>
          <p:cNvPr id="1535" name="SynthL1535"/>
          <p:cNvSpPr/>
          <p:nvPr/>
        </p:nvSpPr>
        <p:spPr>
          <a:xfrm>
            <a:off x="502920" y="44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6" name="SynthT1536"/>
          <p:cNvSpPr/>
          <p:nvPr/>
        </p:nvSpPr>
        <p:spPr>
          <a:xfrm>
            <a:off x="502920" y="4470000"/>
            <a:ext cx="81107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2B3A"/>
                </a:solidFill>
                <a:latin typeface="Garamond" pitchFamily="34" charset="0"/>
              </a:rPr>
              <a:t>L'enveloppe patrimoniale de la trésorerie d'entreprise.</a:t>
            </a:r>
            <a:endParaRPr lang="en-US" sz="105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A74F641-9C42-4F04-84CC-F5337ECABD29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</a:t>
            </a:fld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ASSURANCE VIE · LUXEMBOURG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 super-privilège luxembourgeois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HBg0"/>
          <p:cNvSpPr/>
          <p:nvPr/>
        </p:nvSpPr>
        <p:spPr>
          <a:xfrm>
            <a:off x="502920" y="1520000"/>
            <a:ext cx="356872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Tx0"/>
          <p:cNvSpPr/>
          <p:nvPr/>
        </p:nvSpPr>
        <p:spPr>
          <a:xfrm>
            <a:off x="557784" y="1520000"/>
            <a:ext cx="351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Critère</a:t>
            </a:r>
            <a:endParaRPr lang="en-US" sz="1100" dirty="0"/>
          </a:p>
        </p:txBody>
      </p:sp>
      <p:sp>
        <p:nvSpPr>
          <p:cNvPr id="22" name="HBg1"/>
          <p:cNvSpPr/>
          <p:nvPr/>
        </p:nvSpPr>
        <p:spPr>
          <a:xfrm>
            <a:off x="4071640" y="1520000"/>
            <a:ext cx="2271003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HTx1"/>
          <p:cNvSpPr/>
          <p:nvPr/>
        </p:nvSpPr>
        <p:spPr>
          <a:xfrm>
            <a:off x="4126504" y="1520000"/>
            <a:ext cx="2216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 droit français</a:t>
            </a:r>
            <a:endParaRPr lang="en-US" sz="1100" dirty="0"/>
          </a:p>
        </p:txBody>
      </p:sp>
      <p:sp>
        <p:nvSpPr>
          <p:cNvPr id="24" name="HBg2"/>
          <p:cNvSpPr/>
          <p:nvPr/>
        </p:nvSpPr>
        <p:spPr>
          <a:xfrm>
            <a:off x="6342643" y="1520000"/>
            <a:ext cx="2271005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HTx2"/>
          <p:cNvSpPr/>
          <p:nvPr/>
        </p:nvSpPr>
        <p:spPr>
          <a:xfrm>
            <a:off x="6397507" y="1520000"/>
            <a:ext cx="22161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 Luxembourg</a:t>
            </a:r>
            <a:endParaRPr lang="en-US" sz="1100" dirty="0"/>
          </a:p>
        </p:txBody>
      </p:sp>
      <p:sp>
        <p:nvSpPr>
          <p:cNvPr id="26" name="RBg0_0"/>
          <p:cNvSpPr/>
          <p:nvPr/>
        </p:nvSpPr>
        <p:spPr>
          <a:xfrm>
            <a:off x="502920" y="1794320"/>
            <a:ext cx="3568720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Tx0_0"/>
          <p:cNvSpPr/>
          <p:nvPr/>
        </p:nvSpPr>
        <p:spPr>
          <a:xfrm>
            <a:off x="557784" y="1803464"/>
            <a:ext cx="3513856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avoirs client / assureur</a:t>
            </a:r>
            <a:endParaRPr lang="en-US" sz="1100" dirty="0"/>
          </a:p>
        </p:txBody>
      </p:sp>
      <p:sp>
        <p:nvSpPr>
          <p:cNvPr id="28" name="RBg0_1"/>
          <p:cNvSpPr/>
          <p:nvPr/>
        </p:nvSpPr>
        <p:spPr>
          <a:xfrm>
            <a:off x="4071640" y="1794320"/>
            <a:ext cx="2271003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Tx0_1"/>
          <p:cNvSpPr/>
          <p:nvPr/>
        </p:nvSpPr>
        <p:spPr>
          <a:xfrm>
            <a:off x="4126504" y="1803464"/>
            <a:ext cx="2216139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0" name="RBg0_2"/>
          <p:cNvSpPr/>
          <p:nvPr/>
        </p:nvSpPr>
        <p:spPr>
          <a:xfrm>
            <a:off x="6342643" y="1794320"/>
            <a:ext cx="2271005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Tx0_2"/>
          <p:cNvSpPr/>
          <p:nvPr/>
        </p:nvSpPr>
        <p:spPr>
          <a:xfrm>
            <a:off x="6397507" y="1803464"/>
            <a:ext cx="2216141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RBg1_0"/>
          <p:cNvSpPr/>
          <p:nvPr/>
        </p:nvSpPr>
        <p:spPr>
          <a:xfrm>
            <a:off x="502920" y="2254320"/>
            <a:ext cx="3568720" cy="46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Tx1_0"/>
          <p:cNvSpPr/>
          <p:nvPr/>
        </p:nvSpPr>
        <p:spPr>
          <a:xfrm>
            <a:off x="557784" y="2263464"/>
            <a:ext cx="3513856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créancier de 1er rang</a:t>
            </a:r>
            <a:endParaRPr lang="en-US" sz="1100" dirty="0"/>
          </a:p>
        </p:txBody>
      </p:sp>
      <p:sp>
        <p:nvSpPr>
          <p:cNvPr id="34" name="RBg1_1"/>
          <p:cNvSpPr/>
          <p:nvPr/>
        </p:nvSpPr>
        <p:spPr>
          <a:xfrm>
            <a:off x="4071640" y="2254320"/>
            <a:ext cx="2271003" cy="46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Tx1_1"/>
          <p:cNvSpPr/>
          <p:nvPr/>
        </p:nvSpPr>
        <p:spPr>
          <a:xfrm>
            <a:off x="4126504" y="2263464"/>
            <a:ext cx="2216139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6" name="RBg1_2"/>
          <p:cNvSpPr/>
          <p:nvPr/>
        </p:nvSpPr>
        <p:spPr>
          <a:xfrm>
            <a:off x="6342643" y="2254320"/>
            <a:ext cx="2271005" cy="46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Tx1_2"/>
          <p:cNvSpPr/>
          <p:nvPr/>
        </p:nvSpPr>
        <p:spPr>
          <a:xfrm>
            <a:off x="6397507" y="2263464"/>
            <a:ext cx="2216141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(super-privilège)</a:t>
            </a:r>
            <a:endParaRPr lang="en-US" sz="1100" dirty="0"/>
          </a:p>
        </p:txBody>
      </p:sp>
      <p:sp>
        <p:nvSpPr>
          <p:cNvPr id="38" name="RBg2_0"/>
          <p:cNvSpPr/>
          <p:nvPr/>
        </p:nvSpPr>
        <p:spPr>
          <a:xfrm>
            <a:off x="502920" y="2714320"/>
            <a:ext cx="3568720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Tx2_0"/>
          <p:cNvSpPr/>
          <p:nvPr/>
        </p:nvSpPr>
        <p:spPr>
          <a:xfrm>
            <a:off x="557784" y="2723464"/>
            <a:ext cx="3513856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loi Sapin 2</a:t>
            </a:r>
            <a:endParaRPr lang="en-US" sz="1100" dirty="0"/>
          </a:p>
        </p:txBody>
      </p:sp>
      <p:sp>
        <p:nvSpPr>
          <p:cNvPr id="40" name="RBg2_1"/>
          <p:cNvSpPr/>
          <p:nvPr/>
        </p:nvSpPr>
        <p:spPr>
          <a:xfrm>
            <a:off x="4071640" y="2714320"/>
            <a:ext cx="2271003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Tx2_1"/>
          <p:cNvSpPr/>
          <p:nvPr/>
        </p:nvSpPr>
        <p:spPr>
          <a:xfrm>
            <a:off x="4126504" y="2723464"/>
            <a:ext cx="2216139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100" dirty="0"/>
          </a:p>
        </p:txBody>
      </p:sp>
      <p:sp>
        <p:nvSpPr>
          <p:cNvPr id="42" name="RBg2_2"/>
          <p:cNvSpPr/>
          <p:nvPr/>
        </p:nvSpPr>
        <p:spPr>
          <a:xfrm>
            <a:off x="6342643" y="2714320"/>
            <a:ext cx="2271005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Tx2_2"/>
          <p:cNvSpPr/>
          <p:nvPr/>
        </p:nvSpPr>
        <p:spPr>
          <a:xfrm>
            <a:off x="6397507" y="2723464"/>
            <a:ext cx="2216141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44" name="RBg3_0"/>
          <p:cNvSpPr/>
          <p:nvPr/>
        </p:nvSpPr>
        <p:spPr>
          <a:xfrm>
            <a:off x="502920" y="3174320"/>
            <a:ext cx="3568720" cy="46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Tx3_0"/>
          <p:cNvSpPr/>
          <p:nvPr/>
        </p:nvSpPr>
        <p:spPr>
          <a:xfrm>
            <a:off x="557784" y="3183464"/>
            <a:ext cx="3513856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garantie dépôts</a:t>
            </a:r>
            <a:endParaRPr lang="en-US" sz="1100" dirty="0"/>
          </a:p>
        </p:txBody>
      </p:sp>
      <p:sp>
        <p:nvSpPr>
          <p:cNvPr id="46" name="RBg3_1"/>
          <p:cNvSpPr/>
          <p:nvPr/>
        </p:nvSpPr>
        <p:spPr>
          <a:xfrm>
            <a:off x="4071640" y="3174320"/>
            <a:ext cx="2271003" cy="46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Tx3_1"/>
          <p:cNvSpPr/>
          <p:nvPr/>
        </p:nvSpPr>
        <p:spPr>
          <a:xfrm>
            <a:off x="4126504" y="3183464"/>
            <a:ext cx="2216139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70 000 €</a:t>
            </a:r>
            <a:endParaRPr lang="en-US" sz="1100" dirty="0"/>
          </a:p>
        </p:txBody>
      </p:sp>
      <p:sp>
        <p:nvSpPr>
          <p:cNvPr id="48" name="RBg3_2"/>
          <p:cNvSpPr/>
          <p:nvPr/>
        </p:nvSpPr>
        <p:spPr>
          <a:xfrm>
            <a:off x="6342643" y="3174320"/>
            <a:ext cx="2271005" cy="46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Tx3_2"/>
          <p:cNvSpPr/>
          <p:nvPr/>
        </p:nvSpPr>
        <p:spPr>
          <a:xfrm>
            <a:off x="6397507" y="3183464"/>
            <a:ext cx="2216141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Illimité</a:t>
            </a:r>
            <a:endParaRPr lang="en-US" sz="1100" dirty="0"/>
          </a:p>
        </p:txBody>
      </p:sp>
      <p:sp>
        <p:nvSpPr>
          <p:cNvPr id="50" name="RBg4_0"/>
          <p:cNvSpPr/>
          <p:nvPr/>
        </p:nvSpPr>
        <p:spPr>
          <a:xfrm>
            <a:off x="502920" y="3634320"/>
            <a:ext cx="3568720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Tx4_0"/>
          <p:cNvSpPr/>
          <p:nvPr/>
        </p:nvSpPr>
        <p:spPr>
          <a:xfrm>
            <a:off x="557784" y="3643464"/>
            <a:ext cx="3513856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Fiscalité succession</a:t>
            </a:r>
            <a:endParaRPr lang="en-US" sz="1100" dirty="0"/>
          </a:p>
        </p:txBody>
      </p:sp>
      <p:sp>
        <p:nvSpPr>
          <p:cNvPr id="52" name="RBg4_1"/>
          <p:cNvSpPr/>
          <p:nvPr/>
        </p:nvSpPr>
        <p:spPr>
          <a:xfrm>
            <a:off x="4071640" y="3634320"/>
            <a:ext cx="2271003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RTx4_1"/>
          <p:cNvSpPr/>
          <p:nvPr/>
        </p:nvSpPr>
        <p:spPr>
          <a:xfrm>
            <a:off x="4126504" y="3643464"/>
            <a:ext cx="2216139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français</a:t>
            </a:r>
            <a:endParaRPr lang="en-US" sz="1100" dirty="0"/>
          </a:p>
        </p:txBody>
      </p:sp>
      <p:sp>
        <p:nvSpPr>
          <p:cNvPr id="54" name="RBg4_2"/>
          <p:cNvSpPr/>
          <p:nvPr/>
        </p:nvSpPr>
        <p:spPr>
          <a:xfrm>
            <a:off x="6342643" y="3634320"/>
            <a:ext cx="2271005" cy="46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Tx4_2"/>
          <p:cNvSpPr/>
          <p:nvPr/>
        </p:nvSpPr>
        <p:spPr>
          <a:xfrm>
            <a:off x="6397507" y="3643464"/>
            <a:ext cx="2216141" cy="45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pays résidence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2F77A34-4892-4E86-B73F-576053D6FBD5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5</a:t>
            </a:fld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ASSURANCE VIE · LUXEMBOURG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 triangle de sécurité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cxnSp>
        <p:nvCxnSpPr>
          <p:cNvPr id="20" name="L1"/>
          <p:cNvCxnSpPr/>
          <p:nvPr/>
        </p:nvCxnSpPr>
        <p:spPr>
          <a:xfrm flipH="1">
            <a:off x="2100000" y="2000000"/>
            <a:ext cx="2472000" cy="1300000"/>
          </a:xfrm>
          <a:prstGeom prst="line">
            <a:avLst/>
          </a:prstGeom>
          <a:ln w="15875">
            <a:solidFill>
              <a:srgbClr val="1C2B3A"/>
            </a:solidFill>
          </a:ln>
        </p:spPr>
      </p:cxnSp>
      <p:cxnSp>
        <p:nvCxnSpPr>
          <p:cNvPr id="21" name="L2"/>
          <p:cNvCxnSpPr/>
          <p:nvPr/>
        </p:nvCxnSpPr>
        <p:spPr>
          <a:xfrm>
            <a:off x="4572000" y="2000000"/>
            <a:ext cx="2478000" cy="1300000"/>
          </a:xfrm>
          <a:prstGeom prst="line">
            <a:avLst/>
          </a:prstGeom>
          <a:ln w="15875">
            <a:solidFill>
              <a:srgbClr val="1C2B3A"/>
            </a:solidFill>
          </a:ln>
        </p:spPr>
      </p:cxnSp>
      <p:cxnSp>
        <p:nvCxnSpPr>
          <p:cNvPr id="22" name="L3"/>
          <p:cNvCxnSpPr/>
          <p:nvPr/>
        </p:nvCxnSpPr>
        <p:spPr>
          <a:xfrm>
            <a:off x="3200000" y="3550000"/>
            <a:ext cx="2750000" cy="1"/>
          </a:xfrm>
          <a:prstGeom prst="line">
            <a:avLst/>
          </a:prstGeom>
          <a:ln w="15875">
            <a:solidFill>
              <a:srgbClr val="1C2B3A"/>
            </a:solidFill>
          </a:ln>
        </p:spPr>
      </p:cxnSp>
      <p:sp>
        <p:nvSpPr>
          <p:cNvPr id="23" name="BoxCOMMIS"/>
          <p:cNvSpPr/>
          <p:nvPr/>
        </p:nvSpPr>
        <p:spPr>
          <a:xfrm>
            <a:off x="3472000" y="1500000"/>
            <a:ext cx="2200000" cy="500000"/>
          </a:xfrm>
          <a:prstGeom prst="rect">
            <a:avLst/>
          </a:prstGeom>
          <a:solidFill>
            <a:srgbClr val="F7F5F1"/>
          </a:solidFill>
          <a:ln w="18000">
            <a:solidFill>
              <a:srgbClr val="1C2B3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COMMISSARIAT AUX ASSURANCES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et surveillance</a:t>
            </a:r>
            <a:endParaRPr lang="en-US" sz="1100" dirty="0"/>
          </a:p>
        </p:txBody>
      </p:sp>
      <p:sp>
        <p:nvSpPr>
          <p:cNvPr id="24" name="BoxASSURE"/>
          <p:cNvSpPr/>
          <p:nvPr/>
        </p:nvSpPr>
        <p:spPr>
          <a:xfrm>
            <a:off x="1000000" y="3300000"/>
            <a:ext cx="2200000" cy="500000"/>
          </a:xfrm>
          <a:prstGeom prst="rect">
            <a:avLst/>
          </a:prstGeom>
          <a:solidFill>
            <a:srgbClr val="F7F5F1"/>
          </a:solidFill>
          <a:ln w="18000">
            <a:solidFill>
              <a:srgbClr val="1C2B3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ASSUREUR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contrat</a:t>
            </a:r>
            <a:endParaRPr lang="en-US" sz="1100" dirty="0"/>
          </a:p>
        </p:txBody>
      </p:sp>
      <p:sp>
        <p:nvSpPr>
          <p:cNvPr id="25" name="BoxBANQUE"/>
          <p:cNvSpPr/>
          <p:nvPr/>
        </p:nvSpPr>
        <p:spPr>
          <a:xfrm>
            <a:off x="5950000" y="3300000"/>
            <a:ext cx="2200000" cy="500000"/>
          </a:xfrm>
          <a:prstGeom prst="rect">
            <a:avLst/>
          </a:prstGeom>
          <a:solidFill>
            <a:srgbClr val="F7F5F1"/>
          </a:solidFill>
          <a:ln w="18000">
            <a:solidFill>
              <a:srgbClr val="1C2B3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BANQUE DÉPOSITAIRE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des actifs</a:t>
            </a:r>
            <a:endParaRPr lang="en-US" sz="1100" dirty="0"/>
          </a:p>
        </p:txBody>
      </p:sp>
      <p:sp>
        <p:nvSpPr>
          <p:cNvPr id="26" name="Centre"/>
          <p:cNvSpPr/>
          <p:nvPr/>
        </p:nvSpPr>
        <p:spPr>
          <a:xfrm>
            <a:off x="3072000" y="2380000"/>
            <a:ext cx="300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SUPER-PRIVILÈGE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L'épargnant est créancier de premier rang</a:t>
            </a:r>
            <a:endParaRPr lang="en-US" sz="1100" dirty="0"/>
          </a:p>
        </p:txBody>
      </p:sp>
      <p:sp>
        <p:nvSpPr>
          <p:cNvPr id="27" name="StatSep"/>
          <p:cNvSpPr/>
          <p:nvPr/>
        </p:nvSpPr>
        <p:spPr>
          <a:xfrm>
            <a:off x="502920" y="4050000"/>
            <a:ext cx="8110728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MSV0"/>
          <p:cNvSpPr/>
          <p:nvPr/>
        </p:nvSpPr>
        <p:spPr>
          <a:xfrm>
            <a:off x="502920" y="418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Garantie des dépôts illimitée</a:t>
            </a:r>
            <a:endParaRPr lang="en-US" sz="1150" dirty="0"/>
          </a:p>
        </p:txBody>
      </p:sp>
      <p:sp>
        <p:nvSpPr>
          <p:cNvPr id="30" name="MSL0"/>
          <p:cNvSpPr/>
          <p:nvPr/>
        </p:nvSpPr>
        <p:spPr>
          <a:xfrm>
            <a:off x="502920" y="437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70 000 € en France</a:t>
            </a:r>
            <a:endParaRPr lang="en-US" sz="850" dirty="0"/>
          </a:p>
        </p:txBody>
      </p:sp>
      <p:sp>
        <p:nvSpPr>
          <p:cNvPr id="31" name="MSS0"/>
          <p:cNvSpPr/>
          <p:nvPr/>
        </p:nvSpPr>
        <p:spPr>
          <a:xfrm>
            <a:off x="3195523" y="418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MSV1"/>
          <p:cNvSpPr/>
          <p:nvPr/>
        </p:nvSpPr>
        <p:spPr>
          <a:xfrm>
            <a:off x="3206496" y="418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Créancier de 1er rang</a:t>
            </a:r>
            <a:endParaRPr lang="en-US" sz="1150" dirty="0"/>
          </a:p>
        </p:txBody>
      </p:sp>
      <p:sp>
        <p:nvSpPr>
          <p:cNvPr id="33" name="MSL1"/>
          <p:cNvSpPr/>
          <p:nvPr/>
        </p:nvSpPr>
        <p:spPr>
          <a:xfrm>
            <a:off x="3206496" y="437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créancier ordinaire en France</a:t>
            </a:r>
            <a:endParaRPr lang="en-US" sz="850" dirty="0"/>
          </a:p>
        </p:txBody>
      </p:sp>
      <p:sp>
        <p:nvSpPr>
          <p:cNvPr id="34" name="MSS1"/>
          <p:cNvSpPr/>
          <p:nvPr/>
        </p:nvSpPr>
        <p:spPr>
          <a:xfrm>
            <a:off x="5899099" y="418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MSV2"/>
          <p:cNvSpPr/>
          <p:nvPr/>
        </p:nvSpPr>
        <p:spPr>
          <a:xfrm>
            <a:off x="5910072" y="418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Liberté totale des capitaux</a:t>
            </a:r>
            <a:endParaRPr lang="en-US" sz="1150" dirty="0"/>
          </a:p>
        </p:txBody>
      </p:sp>
      <p:sp>
        <p:nvSpPr>
          <p:cNvPr id="36" name="MSL2"/>
          <p:cNvSpPr/>
          <p:nvPr/>
        </p:nvSpPr>
        <p:spPr>
          <a:xfrm>
            <a:off x="5910072" y="437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loi Sapin 2 en France</a:t>
            </a:r>
            <a:endParaRPr lang="en-US" sz="85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9058CF8-FBA4-43BD-88F4-486462DE9D8C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6</a:t>
            </a:fld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>
            <a:extLst>
              <a:ext uri="{FF2B5EF4-FFF2-40B4-BE49-F238E27FC236}">
                <a16:creationId xmlns:a16="http://schemas.microsoft.com/office/drawing/2014/main" id="{D2FDF9A3-7F8B-6660-99F2-98BB9ACDA148}"/>
              </a:ext>
            </a:extLst>
          </p:cNvPr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8DBB3831-2419-FE01-A9F4-9884C9312361}"/>
              </a:ext>
            </a:extLst>
          </p:cNvPr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6C001E6F-C25B-9ACD-2650-1336DE9F17CC}"/>
              </a:ext>
            </a:extLst>
          </p:cNvPr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9" name="LogoFooter" descr="preencoded.png">
            <a:extLst>
              <a:ext uri="{FF2B5EF4-FFF2-40B4-BE49-F238E27FC236}">
                <a16:creationId xmlns:a16="http://schemas.microsoft.com/office/drawing/2014/main" id="{117F9035-379F-BD34-8F0E-2E9CBB10F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21" name="Shape 3">
            <a:extLst>
              <a:ext uri="{FF2B5EF4-FFF2-40B4-BE49-F238E27FC236}">
                <a16:creationId xmlns:a16="http://schemas.microsoft.com/office/drawing/2014/main" id="{832F231F-D13F-AC54-F25A-A7319AE11287}"/>
              </a:ext>
            </a:extLst>
          </p:cNvPr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ecHdr">
            <a:extLst>
              <a:ext uri="{FF2B5EF4-FFF2-40B4-BE49-F238E27FC236}">
                <a16:creationId xmlns:a16="http://schemas.microsoft.com/office/drawing/2014/main" id="{C9C56BA7-AADB-16DE-9AA8-80C6233E42D5}"/>
              </a:ext>
            </a:extLst>
          </p:cNvPr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WEALINS</a:t>
            </a:r>
            <a:endParaRPr lang="en-US" sz="1100" dirty="0"/>
          </a:p>
        </p:txBody>
      </p:sp>
      <p:sp>
        <p:nvSpPr>
          <p:cNvPr id="43" name="SubLine">
            <a:extLst>
              <a:ext uri="{FF2B5EF4-FFF2-40B4-BE49-F238E27FC236}">
                <a16:creationId xmlns:a16="http://schemas.microsoft.com/office/drawing/2014/main" id="{E102750E-A4CA-B5DA-A78C-6BA5AAE7DABC}"/>
              </a:ext>
            </a:extLst>
          </p:cNvPr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itle">
            <a:extLst>
              <a:ext uri="{FF2B5EF4-FFF2-40B4-BE49-F238E27FC236}">
                <a16:creationId xmlns:a16="http://schemas.microsoft.com/office/drawing/2014/main" id="{B830966A-C556-B16D-80FF-027CABEB5889}"/>
              </a:ext>
            </a:extLst>
          </p:cNvPr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Wealins</a:t>
            </a: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—100 % </a:t>
            </a: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luxembourgeois</a:t>
            </a:r>
            <a:endParaRPr lang="en-US" sz="1100" dirty="0"/>
          </a:p>
        </p:txBody>
      </p:sp>
      <p:sp>
        <p:nvSpPr>
          <p:cNvPr id="47" name="RedLine">
            <a:extLst>
              <a:ext uri="{FF2B5EF4-FFF2-40B4-BE49-F238E27FC236}">
                <a16:creationId xmlns:a16="http://schemas.microsoft.com/office/drawing/2014/main" id="{F8BD156F-697E-35B1-A02A-18DE2AC84903}"/>
              </a:ext>
            </a:extLst>
          </p:cNvPr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V0">
            <a:extLst>
              <a:ext uri="{FF2B5EF4-FFF2-40B4-BE49-F238E27FC236}">
                <a16:creationId xmlns:a16="http://schemas.microsoft.com/office/drawing/2014/main" id="{1183C48B-C28D-7AED-DBF6-B425E63B12A4}"/>
              </a:ext>
            </a:extLst>
          </p:cNvPr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 Mds€</a:t>
            </a:r>
            <a:endParaRPr lang="en-US" sz="1100" dirty="0"/>
          </a:p>
        </p:txBody>
      </p:sp>
      <p:sp>
        <p:nvSpPr>
          <p:cNvPr id="53" name="SL0">
            <a:extLst>
              <a:ext uri="{FF2B5EF4-FFF2-40B4-BE49-F238E27FC236}">
                <a16:creationId xmlns:a16="http://schemas.microsoft.com/office/drawing/2014/main" id="{A1175281-8471-5BD1-28C4-171F33670130}"/>
              </a:ext>
            </a:extLst>
          </p:cNvPr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1100" dirty="0"/>
          </a:p>
        </p:txBody>
      </p:sp>
      <p:sp>
        <p:nvSpPr>
          <p:cNvPr id="55" name="SS0">
            <a:extLst>
              <a:ext uri="{FF2B5EF4-FFF2-40B4-BE49-F238E27FC236}">
                <a16:creationId xmlns:a16="http://schemas.microsoft.com/office/drawing/2014/main" id="{DEEBEA17-D568-E1D4-94D2-05D871B1F58E}"/>
              </a:ext>
            </a:extLst>
          </p:cNvPr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V1">
            <a:extLst>
              <a:ext uri="{FF2B5EF4-FFF2-40B4-BE49-F238E27FC236}">
                <a16:creationId xmlns:a16="http://schemas.microsoft.com/office/drawing/2014/main" id="{85CA9C79-7212-889D-1FB9-93BE28624B31}"/>
              </a:ext>
            </a:extLst>
          </p:cNvPr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 ans</a:t>
            </a:r>
            <a:endParaRPr lang="en-US" sz="1100" dirty="0"/>
          </a:p>
        </p:txBody>
      </p:sp>
      <p:sp>
        <p:nvSpPr>
          <p:cNvPr id="59" name="SL1">
            <a:extLst>
              <a:ext uri="{FF2B5EF4-FFF2-40B4-BE49-F238E27FC236}">
                <a16:creationId xmlns:a16="http://schemas.microsoft.com/office/drawing/2014/main" id="{13E5B525-C082-3B60-7CF0-1C4D301358BC}"/>
              </a:ext>
            </a:extLst>
          </p:cNvPr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d'expérience</a:t>
            </a:r>
            <a:endParaRPr lang="en-US" sz="1100" dirty="0"/>
          </a:p>
        </p:txBody>
      </p:sp>
      <p:sp>
        <p:nvSpPr>
          <p:cNvPr id="61" name="SS1">
            <a:extLst>
              <a:ext uri="{FF2B5EF4-FFF2-40B4-BE49-F238E27FC236}">
                <a16:creationId xmlns:a16="http://schemas.microsoft.com/office/drawing/2014/main" id="{B0E39AEB-D971-1C3E-166C-5A862DB43804}"/>
              </a:ext>
            </a:extLst>
          </p:cNvPr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V2">
            <a:extLst>
              <a:ext uri="{FF2B5EF4-FFF2-40B4-BE49-F238E27FC236}">
                <a16:creationId xmlns:a16="http://schemas.microsoft.com/office/drawing/2014/main" id="{8A140DDF-34D9-5452-6F9D-2CFD1E199BF0}"/>
              </a:ext>
            </a:extLst>
          </p:cNvPr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300 %</a:t>
            </a:r>
            <a:endParaRPr lang="en-US" sz="1100" dirty="0"/>
          </a:p>
        </p:txBody>
      </p:sp>
      <p:sp>
        <p:nvSpPr>
          <p:cNvPr id="65" name="SL2">
            <a:extLst>
              <a:ext uri="{FF2B5EF4-FFF2-40B4-BE49-F238E27FC236}">
                <a16:creationId xmlns:a16="http://schemas.microsoft.com/office/drawing/2014/main" id="{EFBC144E-857A-2F28-45F6-839739BFD3DD}"/>
              </a:ext>
            </a:extLst>
          </p:cNvPr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solvabilité</a:t>
            </a:r>
            <a:endParaRPr lang="en-US" sz="1100" dirty="0"/>
          </a:p>
        </p:txBody>
      </p:sp>
      <p:sp>
        <p:nvSpPr>
          <p:cNvPr id="67" name="BM0">
            <a:extLst>
              <a:ext uri="{FF2B5EF4-FFF2-40B4-BE49-F238E27FC236}">
                <a16:creationId xmlns:a16="http://schemas.microsoft.com/office/drawing/2014/main" id="{B893B66D-F327-1814-D72A-463F4924D13C}"/>
              </a:ext>
            </a:extLst>
          </p:cNvPr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BT0">
            <a:extLst>
              <a:ext uri="{FF2B5EF4-FFF2-40B4-BE49-F238E27FC236}">
                <a16:creationId xmlns:a16="http://schemas.microsoft.com/office/drawing/2014/main" id="{24F14F30-B548-D411-831A-B9BF4B2F0968}"/>
              </a:ext>
            </a:extLst>
          </p:cNvPr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Md€ de fonds propres — assureur 100 % luxembourgeois</a:t>
            </a:r>
            <a:endParaRPr lang="en-US" sz="1100" dirty="0"/>
          </a:p>
        </p:txBody>
      </p:sp>
      <p:sp>
        <p:nvSpPr>
          <p:cNvPr id="71" name="BM1">
            <a:extLst>
              <a:ext uri="{FF2B5EF4-FFF2-40B4-BE49-F238E27FC236}">
                <a16:creationId xmlns:a16="http://schemas.microsoft.com/office/drawing/2014/main" id="{B8D2EE3B-59D1-9F87-6EB5-DA0743F19021}"/>
              </a:ext>
            </a:extLst>
          </p:cNvPr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BT1">
            <a:extLst>
              <a:ext uri="{FF2B5EF4-FFF2-40B4-BE49-F238E27FC236}">
                <a16:creationId xmlns:a16="http://schemas.microsoft.com/office/drawing/2014/main" id="{D7DD0245-C868-8510-E2DC-A9C373A3A305}"/>
              </a:ext>
            </a:extLst>
          </p:cNvPr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milliards € d'actifs sous administration</a:t>
            </a:r>
            <a:endParaRPr lang="en-US" sz="1100" dirty="0"/>
          </a:p>
        </p:txBody>
      </p:sp>
      <p:sp>
        <p:nvSpPr>
          <p:cNvPr id="75" name="BM2">
            <a:extLst>
              <a:ext uri="{FF2B5EF4-FFF2-40B4-BE49-F238E27FC236}">
                <a16:creationId xmlns:a16="http://schemas.microsoft.com/office/drawing/2014/main" id="{13B7F521-C4EF-5F61-B569-F7FEBB215476}"/>
              </a:ext>
            </a:extLst>
          </p:cNvPr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BT2">
            <a:extLst>
              <a:ext uri="{FF2B5EF4-FFF2-40B4-BE49-F238E27FC236}">
                <a16:creationId xmlns:a16="http://schemas.microsoft.com/office/drawing/2014/main" id="{B720BC1F-D5CE-6591-D05B-CB14701F124E}"/>
              </a:ext>
            </a:extLst>
          </p:cNvPr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sur plus de 10 marchés européens depuis 30 ans</a:t>
            </a:r>
            <a:endParaRPr lang="en-US" sz="1100" dirty="0"/>
          </a:p>
        </p:txBody>
      </p:sp>
      <p:sp>
        <p:nvSpPr>
          <p:cNvPr id="79" name="BM3">
            <a:extLst>
              <a:ext uri="{FF2B5EF4-FFF2-40B4-BE49-F238E27FC236}">
                <a16:creationId xmlns:a16="http://schemas.microsoft.com/office/drawing/2014/main" id="{21751192-3FBC-C554-94A6-C07FFB2F48EF}"/>
              </a:ext>
            </a:extLst>
          </p:cNvPr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BT3">
            <a:extLst>
              <a:ext uri="{FF2B5EF4-FFF2-40B4-BE49-F238E27FC236}">
                <a16:creationId xmlns:a16="http://schemas.microsoft.com/office/drawing/2014/main" id="{48DC2F8F-9A87-BB38-31B6-2A9083B87E7F}"/>
              </a:ext>
            </a:extLst>
          </p:cNvPr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francophone dédié, interlocuteur dédié Affilior</a:t>
            </a:r>
            <a:endParaRPr lang="en-US" sz="1100" dirty="0"/>
          </a:p>
        </p:txBody>
      </p:sp>
      <p:sp>
        <p:nvSpPr>
          <p:cNvPr id="83" name="BM4">
            <a:extLst>
              <a:ext uri="{FF2B5EF4-FFF2-40B4-BE49-F238E27FC236}">
                <a16:creationId xmlns:a16="http://schemas.microsoft.com/office/drawing/2014/main" id="{B4FC362C-5111-8E06-FA99-6B1BDBF2E195}"/>
              </a:ext>
            </a:extLst>
          </p:cNvPr>
          <p:cNvSpPr/>
          <p:nvPr/>
        </p:nvSpPr>
        <p:spPr>
          <a:xfrm>
            <a:off x="502920" y="450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BT4">
            <a:extLst>
              <a:ext uri="{FF2B5EF4-FFF2-40B4-BE49-F238E27FC236}">
                <a16:creationId xmlns:a16="http://schemas.microsoft.com/office/drawing/2014/main" id="{E48368D1-F153-0580-C9C1-54131D2FA94B}"/>
              </a:ext>
            </a:extLst>
          </p:cNvPr>
          <p:cNvSpPr/>
          <p:nvPr/>
        </p:nvSpPr>
        <p:spPr>
          <a:xfrm>
            <a:off x="658368" y="450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choix d'architecture ouverte en gestion</a:t>
            </a:r>
            <a:endParaRPr lang="en-US" sz="1100" dirty="0"/>
          </a:p>
        </p:txBody>
      </p:sp>
      <p:sp>
        <p:nvSpPr>
          <p:cNvPr id="87" name="Footer">
            <a:extLst>
              <a:ext uri="{FF2B5EF4-FFF2-40B4-BE49-F238E27FC236}">
                <a16:creationId xmlns:a16="http://schemas.microsoft.com/office/drawing/2014/main" id="{D3E6CFC2-C8AA-5348-CE5A-A796D39714D9}"/>
              </a:ext>
            </a:extLst>
          </p:cNvPr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89" name="PageNum">
            <a:extLst>
              <a:ext uri="{FF2B5EF4-FFF2-40B4-BE49-F238E27FC236}">
                <a16:creationId xmlns:a16="http://schemas.microsoft.com/office/drawing/2014/main" id="{464A0250-CA00-F3B3-55D5-4D4958FCC45E}"/>
              </a:ext>
            </a:extLst>
          </p:cNvPr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0FAF57D-9689-440F-9950-4AB2FA11F867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7</a:t>
            </a:fld>
            <a:endParaRPr lang="en-US" sz="9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4698F47-5031-B78D-1E38-5A743D63D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749" y="1306610"/>
            <a:ext cx="2125936" cy="105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48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LOMBARD INTERNATIONAL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Lombard International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241" y="1550000"/>
            <a:ext cx="2607518" cy="680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54,7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40+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AAA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pure player de droit luxembourgeois sur le marché français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 milliards € d'actifs sous administration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dans plus de 40 pays — présence internationale forte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francophone dédié, interlocuteur dédié Affilior</a:t>
            </a:r>
            <a:endParaRPr lang="en-US" sz="1100" dirty="0"/>
          </a:p>
        </p:txBody>
      </p:sp>
      <p:sp>
        <p:nvSpPr>
          <p:cNvPr id="39" name="BM4"/>
          <p:cNvSpPr/>
          <p:nvPr/>
        </p:nvSpPr>
        <p:spPr>
          <a:xfrm>
            <a:off x="502920" y="450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BT4"/>
          <p:cNvSpPr/>
          <p:nvPr/>
        </p:nvSpPr>
        <p:spPr>
          <a:xfrm>
            <a:off x="658368" y="450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choix d'architecture ouverte en gestion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0FAF57D-9689-440F-9950-4AB2FA11F867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8</a:t>
            </a:fld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ODDO BHF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ODDO BHF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196" y="1529715"/>
            <a:ext cx="1373608" cy="72457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170 ans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d'histoire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142 Mds€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2 500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 ans d'histoire au service des entrepreneurs et des familles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familial — 65 % du capital détenu par la famille Oddo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milliards € d'encours clients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2 500 collaborateurs à travers le monde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FE48370-CFD3-4629-B851-CBD1CAA7BA73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9</a:t>
            </a:fld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LOMBARD ODIER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Lombard Odier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254" y="1450000"/>
            <a:ext cx="1443492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1796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 en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350 Mds€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gérés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100 %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fortune et d'actifs de référence en Suisse depuis 1796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familial indépendant détenu à 100 % par ses associés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milliards € d'actifs totaux sous gestion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milliard € de fonds propres — solidité financière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2FA831D-1E01-458D-B801-5BCC8FD7CEDD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10</a:t>
            </a:fld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UBS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UBS – 1iere </a:t>
            </a: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banque</a:t>
            </a: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suisse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936" y="1450000"/>
            <a:ext cx="2442129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903 Mds$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A+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54 Mds$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propres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banque privée suisse et mondiale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903 milliards $ d'actifs sous gestion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milliards $ de fonds propres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A+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AFB4BD4-3D16-457E-B579-76F32152A923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11</a:t>
            </a:fld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CIC MARKET SOLUTIONS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CIC Market Solutions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000" y="1450000"/>
            <a:ext cx="4550000" cy="559999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113 Mds$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A+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15,3 Mds$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propres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dépositaire du marché français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113,4 milliards $ d'actifs sous gestion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 milliards $ de fonds propres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A+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0221A35-947A-48A0-9FDC-18CC94AF3A0A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12</a:t>
            </a:fld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ERES × SWISSLIFE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Eres × </a:t>
            </a: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Swisslife</a:t>
            </a: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964" y="1450000"/>
            <a:ext cx="1637036" cy="884000"/>
          </a:xfrm>
          <a:prstGeom prst="rect">
            <a:avLst/>
          </a:prstGeom>
        </p:spPr>
      </p:pic>
      <p:pic>
        <p:nvPicPr>
          <p:cNvPr id="12" name="Logo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247" y="1180284"/>
            <a:ext cx="1340570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300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Swiss Life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A+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240 %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solvabilité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 PER depuis plus de 20 ans — expertise reconnue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milliards € d'actifs sous gestion Swiss Life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A+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univers d'investissement en architecture ouverte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00C70EC-D0D9-419E-ADB3-AD59917C83C5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13</a:t>
            </a:fld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AG2R LA MONDIALE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AG2R La Mondiale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340" y="1450000"/>
            <a:ext cx="2021320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11,3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capitaux propres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A-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15M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11,3 milliards € de capitaux propres — solidité financière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millions de clients en France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A-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meilleurs fonds en unités de compte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54512A9-EF00-446D-8518-4AE84288C259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14</a:t>
            </a:fld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BNP PARIBAS CARDIF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BNP Paribas </a:t>
            </a:r>
            <a:r>
              <a:rPr lang="en-US" sz="22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Cardif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00" y="1450000"/>
            <a:ext cx="884000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136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AV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AA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79 Mds€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euros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milliards € d'encours en assurance vie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79,4 milliards € en fonds euro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milliards € de fonds propres groupe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AA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2CF8149-6AD2-44D6-942B-07659985AB8F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15</a:t>
            </a:fld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BGL BNP PARIBAS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BGL BNP Paribas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9955" y="1550000"/>
            <a:ext cx="2264090" cy="680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6,4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propres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A+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Filiale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 Paribas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à 100 % de BNP Paribas — garantie du groupe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 milliards € de fonds propres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A+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finance durable au cœur des actions et engagements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EF38052-DCED-4C3F-8DE1-58BFDF95EE34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16</a:t>
            </a:fld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ARKÉA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Arkéa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751" y="1450000"/>
            <a:ext cx="1572499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6,1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capitaux propres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45 Mds€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gérés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 milliards € de capitaux propres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 millions de clients dans le réseau Arkéa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milliards € gérés en assurance vie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Moody's : Aa3  ·  Standard &amp; Poor's : A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F5FE1EE-AC37-4828-8A4A-331FADDB9AB8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17</a:t>
            </a:fld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ALLIANZ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Allianz — 1ère marque d'assurance au monde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800" y="1450000"/>
            <a:ext cx="1414400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1ère marque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monde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AA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54 Mds€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capitaux propres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1ère marque d'assurance au monde (Brand Finance 2024)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milliards € de capitaux propres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millions de clients dans 70 pays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AA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60B3964-EC7F-4938-90B2-688FD8F016B3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18</a:t>
            </a:fld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CNP ASSURANCES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CNP Assurances — 2e assureur français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201" y="1450000"/>
            <a:ext cx="1237598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341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nets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2e assureur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compagnie d'assurance française par les encours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341,7 milliards € d'encours moyens nets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choix de gestion en architecture ouverte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euros parmi les plus performants du marché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A7A3AB4-9438-4AFB-B13C-B1B6CCEE65A1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19</a:t>
            </a:fld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ORADEA VIE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Oradea Vie — Filiale Société Générale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1" y="1545323"/>
            <a:ext cx="2926080" cy="693354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125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AV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A-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Moody's A1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à 100 % de Sogecap (groupe Société Générale)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milliards € d'encours en assurance vie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 milliards € de fonds propres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A-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239190C-E64A-4F34-B0FE-6800D0528CA2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20</a:t>
            </a:fld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SWISS LIFE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Swiss Life — </a:t>
            </a: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Acteur</a:t>
            </a: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r>
              <a:rPr lang="en-US" sz="2600" dirty="0" err="1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historique</a:t>
            </a: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512" y="1295624"/>
            <a:ext cx="1340570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300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gérés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S&amp;P A+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4 %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euros 2024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 en 1857 — 9 000 collaborateurs dans le monde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milliards € d'actifs sous gestion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Standard &amp; Poor's : A+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 solvabilité supérieur à 240 %</a:t>
            </a:r>
            <a:endParaRPr lang="en-US" sz="1100" dirty="0"/>
          </a:p>
        </p:txBody>
      </p:sp>
      <p:sp>
        <p:nvSpPr>
          <p:cNvPr id="39" name="BM4"/>
          <p:cNvSpPr/>
          <p:nvPr/>
        </p:nvSpPr>
        <p:spPr>
          <a:xfrm>
            <a:off x="502920" y="450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BT4"/>
          <p:cNvSpPr/>
          <p:nvPr/>
        </p:nvSpPr>
        <p:spPr>
          <a:xfrm>
            <a:off x="658368" y="450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euros 2024 : 4 % net de frais de gestion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DBD2BA1-A11D-48CD-80B3-11759F539ECF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21</a:t>
            </a:fld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LA FINANCIÈRE DE L'ÉCHIQUIER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 Financière de l'Échiquier — 30 ans d'expertise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5523" y="1601763"/>
            <a:ext cx="2752954" cy="576474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30+ ans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d'expérience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9,2 Mds€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gérés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Dédié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interlocuteur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30 ans d'expérience en gestion actions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 milliards € d'encours gérés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reporting dédié pour vos clients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interlocuteur unique chez Affilior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7F81A08-CA10-4C40-9716-CEF0B6226ED5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22</a:t>
            </a:fld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LAZARD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Lazard — Spécialiste de la gestion internationale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1" y="1565708"/>
            <a:ext cx="2235200" cy="648584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Créé 1848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274 Mds€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gérés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International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en 1848 — maison de gestion de référence mondiale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 milliards € d'encours gérés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 de la gestion internationale multi-actifs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interlocuteur unique chez Affilior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D783363-F5A6-471B-AB7A-9884296F1DBD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23</a:t>
            </a:fld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CONVICTION · ARBEVEL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Arbevel — Référence Small &amp; Mid Caps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367" y="1450000"/>
            <a:ext cx="2591266" cy="884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24 ans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d'expérience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52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2,2 Mds€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71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gérés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52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52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Small &amp; Mid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71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</a:t>
            </a:r>
            <a:endParaRPr lang="en-US" sz="1100" dirty="0"/>
          </a:p>
        </p:txBody>
      </p:sp>
      <p:sp>
        <p:nvSpPr>
          <p:cNvPr id="31" name="BM0"/>
          <p:cNvSpPr/>
          <p:nvPr/>
        </p:nvSpPr>
        <p:spPr>
          <a:xfrm>
            <a:off x="502920" y="294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BT0"/>
          <p:cNvSpPr/>
          <p:nvPr/>
        </p:nvSpPr>
        <p:spPr>
          <a:xfrm>
            <a:off x="658368" y="294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24 ans d'expérience en gestion d'actifs</a:t>
            </a:r>
            <a:endParaRPr lang="en-US" sz="1100" dirty="0"/>
          </a:p>
        </p:txBody>
      </p:sp>
      <p:sp>
        <p:nvSpPr>
          <p:cNvPr id="33" name="BM1"/>
          <p:cNvSpPr/>
          <p:nvPr/>
        </p:nvSpPr>
        <p:spPr>
          <a:xfrm>
            <a:off x="502920" y="333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BT1"/>
          <p:cNvSpPr/>
          <p:nvPr/>
        </p:nvSpPr>
        <p:spPr>
          <a:xfrm>
            <a:off x="658368" y="333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 milliards € d'encours gérés</a:t>
            </a:r>
            <a:endParaRPr lang="en-US" sz="1100" dirty="0"/>
          </a:p>
        </p:txBody>
      </p:sp>
      <p:sp>
        <p:nvSpPr>
          <p:cNvPr id="35" name="BM2"/>
          <p:cNvSpPr/>
          <p:nvPr/>
        </p:nvSpPr>
        <p:spPr>
          <a:xfrm>
            <a:off x="502920" y="372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T2"/>
          <p:cNvSpPr/>
          <p:nvPr/>
        </p:nvSpPr>
        <p:spPr>
          <a:xfrm>
            <a:off x="658368" y="372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reconnue sur les Small et Mid Caps européennes</a:t>
            </a:r>
            <a:endParaRPr lang="en-US" sz="1100" dirty="0"/>
          </a:p>
        </p:txBody>
      </p:sp>
      <p:sp>
        <p:nvSpPr>
          <p:cNvPr id="37" name="BM3"/>
          <p:cNvSpPr/>
          <p:nvPr/>
        </p:nvSpPr>
        <p:spPr>
          <a:xfrm>
            <a:off x="502920" y="4110000"/>
            <a:ext cx="22860" cy="34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BT3"/>
          <p:cNvSpPr/>
          <p:nvPr/>
        </p:nvSpPr>
        <p:spPr>
          <a:xfrm>
            <a:off x="658368" y="4110000"/>
            <a:ext cx="74532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interlocuteur unique chez Affilior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E3254FC-1AF6-4A6F-9780-B7E7082C1148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24</a:t>
            </a:fld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PRODUITS STRUCTURÉS · INTRODUCTION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 produits structurés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olSep"/>
          <p:cNvSpPr/>
          <p:nvPr/>
        </p:nvSpPr>
        <p:spPr>
          <a:xfrm>
            <a:off x="4572000" y="1350000"/>
            <a:ext cx="10973" cy="325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LHdr"/>
          <p:cNvSpPr/>
          <p:nvPr/>
        </p:nvSpPr>
        <p:spPr>
          <a:xfrm>
            <a:off x="502920" y="1500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POURQUOI ?</a:t>
            </a:r>
            <a:endParaRPr lang="en-US" sz="1100" dirty="0"/>
          </a:p>
        </p:txBody>
      </p:sp>
      <p:sp>
        <p:nvSpPr>
          <p:cNvPr id="22" name="RHdr"/>
          <p:cNvSpPr/>
          <p:nvPr/>
        </p:nvSpPr>
        <p:spPr>
          <a:xfrm>
            <a:off x="4709160" y="1500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QU'EST-CE QUE C'EST ?</a:t>
            </a:r>
            <a:endParaRPr lang="en-US" sz="1100" dirty="0"/>
          </a:p>
        </p:txBody>
      </p:sp>
      <p:sp>
        <p:nvSpPr>
          <p:cNvPr id="23" name="LS0"/>
          <p:cNvSpPr/>
          <p:nvPr/>
        </p:nvSpPr>
        <p:spPr>
          <a:xfrm>
            <a:off x="502920" y="185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LT0"/>
          <p:cNvSpPr/>
          <p:nvPr/>
        </p:nvSpPr>
        <p:spPr>
          <a:xfrm>
            <a:off x="502920" y="1920000"/>
            <a:ext cx="3840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alternative aux marchés financiers traditionnels</a:t>
            </a:r>
            <a:endParaRPr lang="en-US" sz="1100" dirty="0"/>
          </a:p>
        </p:txBody>
      </p:sp>
      <p:sp>
        <p:nvSpPr>
          <p:cNvPr id="25" name="LS1"/>
          <p:cNvSpPr/>
          <p:nvPr/>
        </p:nvSpPr>
        <p:spPr>
          <a:xfrm>
            <a:off x="502920" y="263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LT1"/>
          <p:cNvSpPr/>
          <p:nvPr/>
        </p:nvSpPr>
        <p:spPr>
          <a:xfrm>
            <a:off x="502920" y="2700000"/>
            <a:ext cx="3840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ratio rendement / risque maîtrisé et défini à l'avance</a:t>
            </a:r>
            <a:endParaRPr lang="en-US" sz="1100" dirty="0"/>
          </a:p>
        </p:txBody>
      </p:sp>
      <p:sp>
        <p:nvSpPr>
          <p:cNvPr id="27" name="LS2"/>
          <p:cNvSpPr/>
          <p:nvPr/>
        </p:nvSpPr>
        <p:spPr>
          <a:xfrm>
            <a:off x="502920" y="341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LT2"/>
          <p:cNvSpPr/>
          <p:nvPr/>
        </p:nvSpPr>
        <p:spPr>
          <a:xfrm>
            <a:off x="502920" y="3480000"/>
            <a:ext cx="3840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protection du capital à définir selon le profil investisseur</a:t>
            </a:r>
            <a:endParaRPr lang="en-US" sz="1100" dirty="0"/>
          </a:p>
        </p:txBody>
      </p:sp>
      <p:sp>
        <p:nvSpPr>
          <p:cNvPr id="29" name="RS0"/>
          <p:cNvSpPr/>
          <p:nvPr/>
        </p:nvSpPr>
        <p:spPr>
          <a:xfrm>
            <a:off x="4709160" y="185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T0"/>
          <p:cNvSpPr/>
          <p:nvPr/>
        </p:nvSpPr>
        <p:spPr>
          <a:xfrm>
            <a:off x="4709160" y="1920000"/>
            <a:ext cx="3840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conditions prédéfinies à la souscription (durée, coupon, protection)</a:t>
            </a:r>
            <a:endParaRPr lang="en-US" sz="1100" dirty="0"/>
          </a:p>
        </p:txBody>
      </p:sp>
      <p:sp>
        <p:nvSpPr>
          <p:cNvPr id="31" name="RS1"/>
          <p:cNvSpPr/>
          <p:nvPr/>
        </p:nvSpPr>
        <p:spPr>
          <a:xfrm>
            <a:off x="4709160" y="263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T1"/>
          <p:cNvSpPr/>
          <p:nvPr/>
        </p:nvSpPr>
        <p:spPr>
          <a:xfrm>
            <a:off x="4709160" y="2700000"/>
            <a:ext cx="3840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rendement lié à un actif sous-jacent (indice, titres, fonds)</a:t>
            </a:r>
            <a:endParaRPr lang="en-US" sz="1100" dirty="0"/>
          </a:p>
        </p:txBody>
      </p:sp>
      <p:sp>
        <p:nvSpPr>
          <p:cNvPr id="33" name="RS2"/>
          <p:cNvSpPr/>
          <p:nvPr/>
        </p:nvSpPr>
        <p:spPr>
          <a:xfrm>
            <a:off x="4709160" y="341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T2"/>
          <p:cNvSpPr/>
          <p:nvPr/>
        </p:nvSpPr>
        <p:spPr>
          <a:xfrm>
            <a:off x="4709160" y="3480000"/>
            <a:ext cx="384048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rappel anticipé possible avec rendement décorrélé des marchés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203B21EE-1EA1-497D-B37B-F0DB043D4200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25</a:t>
            </a:fld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PRODUITS STRUCTURÉS · MÉCANISME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 termes fixés à la souscription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ard20"/>
          <p:cNvSpPr/>
          <p:nvPr/>
        </p:nvSpPr>
        <p:spPr>
          <a:xfrm>
            <a:off x="502920" y="1600000"/>
            <a:ext cx="2590000" cy="13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Accent21"/>
          <p:cNvSpPr/>
          <p:nvPr/>
        </p:nvSpPr>
        <p:spPr>
          <a:xfrm>
            <a:off x="502920" y="1600000"/>
            <a:ext cx="400000" cy="30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rm22"/>
          <p:cNvSpPr/>
          <p:nvPr/>
        </p:nvSpPr>
        <p:spPr>
          <a:xfrm>
            <a:off x="652920" y="1730000"/>
            <a:ext cx="229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 STRIKE</a:t>
            </a:r>
            <a:endParaRPr lang="en-US" sz="1100" dirty="0"/>
          </a:p>
        </p:txBody>
      </p:sp>
      <p:sp>
        <p:nvSpPr>
          <p:cNvPr id="23" name="Def23"/>
          <p:cNvSpPr/>
          <p:nvPr/>
        </p:nvSpPr>
        <p:spPr>
          <a:xfrm>
            <a:off x="652920" y="2050000"/>
            <a:ext cx="229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référence de l'indice enregistré à la date de lancement</a:t>
            </a:r>
            <a:endParaRPr lang="en-US" sz="1100" dirty="0"/>
          </a:p>
        </p:txBody>
      </p:sp>
      <p:sp>
        <p:nvSpPr>
          <p:cNvPr id="24" name="Card24"/>
          <p:cNvSpPr/>
          <p:nvPr/>
        </p:nvSpPr>
        <p:spPr>
          <a:xfrm>
            <a:off x="3262920" y="1600000"/>
            <a:ext cx="2590000" cy="13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Accent25"/>
          <p:cNvSpPr/>
          <p:nvPr/>
        </p:nvSpPr>
        <p:spPr>
          <a:xfrm>
            <a:off x="3262920" y="1600000"/>
            <a:ext cx="400000" cy="30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rm26"/>
          <p:cNvSpPr/>
          <p:nvPr/>
        </p:nvSpPr>
        <p:spPr>
          <a:xfrm>
            <a:off x="3412920" y="1730000"/>
            <a:ext cx="229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 SOUS-JACENT</a:t>
            </a:r>
            <a:endParaRPr lang="en-US" sz="1100" dirty="0"/>
          </a:p>
        </p:txBody>
      </p:sp>
      <p:sp>
        <p:nvSpPr>
          <p:cNvPr id="27" name="Def27"/>
          <p:cNvSpPr/>
          <p:nvPr/>
        </p:nvSpPr>
        <p:spPr>
          <a:xfrm>
            <a:off x="3412920" y="2050000"/>
            <a:ext cx="229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Indice, sélection de valeurs ou panier d'actifs qui détermine la performance</a:t>
            </a:r>
            <a:endParaRPr lang="en-US" sz="1100" dirty="0"/>
          </a:p>
        </p:txBody>
      </p:sp>
      <p:sp>
        <p:nvSpPr>
          <p:cNvPr id="28" name="Card28"/>
          <p:cNvSpPr/>
          <p:nvPr/>
        </p:nvSpPr>
        <p:spPr>
          <a:xfrm>
            <a:off x="6022920" y="1600000"/>
            <a:ext cx="2590000" cy="13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Accent29"/>
          <p:cNvSpPr/>
          <p:nvPr/>
        </p:nvSpPr>
        <p:spPr>
          <a:xfrm>
            <a:off x="6022920" y="1600000"/>
            <a:ext cx="400000" cy="30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rm30"/>
          <p:cNvSpPr/>
          <p:nvPr/>
        </p:nvSpPr>
        <p:spPr>
          <a:xfrm>
            <a:off x="6172920" y="1730000"/>
            <a:ext cx="229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L'ÉCHÉANCE</a:t>
            </a:r>
            <a:endParaRPr lang="en-US" sz="1100" dirty="0"/>
          </a:p>
        </p:txBody>
      </p:sp>
      <p:sp>
        <p:nvSpPr>
          <p:cNvPr id="31" name="Def31"/>
          <p:cNvSpPr/>
          <p:nvPr/>
        </p:nvSpPr>
        <p:spPr>
          <a:xfrm>
            <a:off x="6172920" y="2050000"/>
            <a:ext cx="229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de vie maximale du produit</a:t>
            </a:r>
            <a:endParaRPr lang="en-US" sz="1100" dirty="0"/>
          </a:p>
        </p:txBody>
      </p:sp>
      <p:sp>
        <p:nvSpPr>
          <p:cNvPr id="32" name="Card32"/>
          <p:cNvSpPr/>
          <p:nvPr/>
        </p:nvSpPr>
        <p:spPr>
          <a:xfrm>
            <a:off x="1897000" y="3100000"/>
            <a:ext cx="2590000" cy="13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Accent33"/>
          <p:cNvSpPr/>
          <p:nvPr/>
        </p:nvSpPr>
        <p:spPr>
          <a:xfrm>
            <a:off x="1897000" y="3100000"/>
            <a:ext cx="400000" cy="30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rm34"/>
          <p:cNvSpPr/>
          <p:nvPr/>
        </p:nvSpPr>
        <p:spPr>
          <a:xfrm>
            <a:off x="2047000" y="3230000"/>
            <a:ext cx="229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 PROTECTION</a:t>
            </a:r>
            <a:endParaRPr lang="en-US" sz="1100" dirty="0"/>
          </a:p>
        </p:txBody>
      </p:sp>
      <p:sp>
        <p:nvSpPr>
          <p:cNvPr id="35" name="Def35"/>
          <p:cNvSpPr/>
          <p:nvPr/>
        </p:nvSpPr>
        <p:spPr>
          <a:xfrm>
            <a:off x="2047000" y="3550000"/>
            <a:ext cx="229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de protection du capital : totale, partielle ou à l'échéance</a:t>
            </a:r>
            <a:endParaRPr lang="en-US" sz="1100" dirty="0"/>
          </a:p>
        </p:txBody>
      </p:sp>
      <p:sp>
        <p:nvSpPr>
          <p:cNvPr id="36" name="Card36"/>
          <p:cNvSpPr/>
          <p:nvPr/>
        </p:nvSpPr>
        <p:spPr>
          <a:xfrm>
            <a:off x="4657000" y="3100000"/>
            <a:ext cx="2590000" cy="13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Accent37"/>
          <p:cNvSpPr/>
          <p:nvPr/>
        </p:nvSpPr>
        <p:spPr>
          <a:xfrm>
            <a:off x="4657000" y="3100000"/>
            <a:ext cx="400000" cy="30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rm38"/>
          <p:cNvSpPr/>
          <p:nvPr/>
        </p:nvSpPr>
        <p:spPr>
          <a:xfrm>
            <a:off x="4807000" y="3230000"/>
            <a:ext cx="229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L'ÉMETTEUR</a:t>
            </a:r>
            <a:endParaRPr lang="en-US" sz="1100" dirty="0"/>
          </a:p>
        </p:txBody>
      </p:sp>
      <p:sp>
        <p:nvSpPr>
          <p:cNvPr id="39" name="Def39"/>
          <p:cNvSpPr/>
          <p:nvPr/>
        </p:nvSpPr>
        <p:spPr>
          <a:xfrm>
            <a:off x="4807000" y="3550000"/>
            <a:ext cx="229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Contrepartie bancaire — base obligataire de la solution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B5065AC-3556-4025-A6E8-456BCC761E00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26</a:t>
            </a:fld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PRODUITS STRUCTURÉS · MÉCANISME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 vie d'un produit structuré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UpArrow"/>
          <p:cNvSpPr/>
          <p:nvPr/>
        </p:nvSpPr>
        <p:spPr>
          <a:xfrm>
            <a:off x="1620000" y="1620000"/>
            <a:ext cx="180000" cy="300000"/>
          </a:xfrm>
          <a:prstGeom prst="upArrow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Rappel"/>
          <p:cNvSpPr/>
          <p:nvPr/>
        </p:nvSpPr>
        <p:spPr>
          <a:xfrm>
            <a:off x="1900000" y="1620000"/>
            <a:ext cx="60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anticipé possible dès l'année 1 : capital + coupons</a:t>
            </a:r>
            <a:endParaRPr lang="en-US" sz="1100" dirty="0"/>
          </a:p>
        </p:txBody>
      </p:sp>
      <p:sp>
        <p:nvSpPr>
          <p:cNvPr id="22" name="Timeline"/>
          <p:cNvSpPr/>
          <p:nvPr/>
        </p:nvSpPr>
        <p:spPr>
          <a:xfrm>
            <a:off x="800000" y="2300000"/>
            <a:ext cx="7200000" cy="15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qStart"/>
          <p:cNvSpPr/>
          <p:nvPr/>
        </p:nvSpPr>
        <p:spPr>
          <a:xfrm>
            <a:off x="740000" y="2247500"/>
            <a:ext cx="120000" cy="1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qEnd"/>
          <p:cNvSpPr/>
          <p:nvPr/>
        </p:nvSpPr>
        <p:spPr>
          <a:xfrm>
            <a:off x="7940000" y="2247500"/>
            <a:ext cx="120000" cy="1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LblStart"/>
          <p:cNvSpPr/>
          <p:nvPr/>
        </p:nvSpPr>
        <p:spPr>
          <a:xfrm>
            <a:off x="740000" y="2000000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LANCEMENT — Strike 100%</a:t>
            </a:r>
            <a:endParaRPr lang="en-US" sz="1100" dirty="0"/>
          </a:p>
        </p:txBody>
      </p:sp>
      <p:sp>
        <p:nvSpPr>
          <p:cNvPr id="26" name="LblEnd"/>
          <p:cNvSpPr/>
          <p:nvPr/>
        </p:nvSpPr>
        <p:spPr>
          <a:xfrm>
            <a:off x="5660000" y="2000000"/>
            <a:ext cx="24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ÉCHÉANCE — 12 ans max</a:t>
            </a:r>
            <a:endParaRPr lang="en-US" sz="1100" dirty="0"/>
          </a:p>
        </p:txBody>
      </p:sp>
      <p:sp>
        <p:nvSpPr>
          <p:cNvPr id="27" name="Dot1"/>
          <p:cNvSpPr/>
          <p:nvPr/>
        </p:nvSpPr>
        <p:spPr>
          <a:xfrm>
            <a:off x="2190000" y="2257500"/>
            <a:ext cx="100000" cy="1000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Dot2"/>
          <p:cNvSpPr/>
          <p:nvPr/>
        </p:nvSpPr>
        <p:spPr>
          <a:xfrm>
            <a:off x="3630000" y="2257500"/>
            <a:ext cx="100000" cy="1000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Dot3"/>
          <p:cNvSpPr/>
          <p:nvPr/>
        </p:nvSpPr>
        <p:spPr>
          <a:xfrm>
            <a:off x="5070000" y="2257500"/>
            <a:ext cx="100000" cy="1000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Dot4"/>
          <p:cNvSpPr/>
          <p:nvPr/>
        </p:nvSpPr>
        <p:spPr>
          <a:xfrm>
            <a:off x="6510000" y="2257500"/>
            <a:ext cx="100000" cy="100000"/>
          </a:xfrm>
          <a:prstGeom prst="ellipse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LblDots"/>
          <p:cNvSpPr/>
          <p:nvPr/>
        </p:nvSpPr>
        <p:spPr>
          <a:xfrm>
            <a:off x="2800000" y="2440000"/>
            <a:ext cx="3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Constatations trimestrielles</a:t>
            </a:r>
            <a:endParaRPr lang="en-US" sz="1100" dirty="0"/>
          </a:p>
        </p:txBody>
      </p:sp>
      <p:sp>
        <p:nvSpPr>
          <p:cNvPr id="32" name="Band0"/>
          <p:cNvSpPr/>
          <p:nvPr/>
        </p:nvSpPr>
        <p:spPr>
          <a:xfrm>
            <a:off x="800000" y="2800000"/>
            <a:ext cx="7200000" cy="3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BandL0"/>
          <p:cNvSpPr/>
          <p:nvPr/>
        </p:nvSpPr>
        <p:spPr>
          <a:xfrm>
            <a:off x="950000" y="2800000"/>
            <a:ext cx="2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≥ -25%</a:t>
            </a:r>
            <a:endParaRPr lang="en-US" sz="1100" dirty="0"/>
          </a:p>
        </p:txBody>
      </p:sp>
      <p:sp>
        <p:nvSpPr>
          <p:cNvPr id="34" name="BandR0"/>
          <p:cNvSpPr/>
          <p:nvPr/>
        </p:nvSpPr>
        <p:spPr>
          <a:xfrm>
            <a:off x="3600000" y="2800000"/>
            <a:ext cx="4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versé (effet mémoire)</a:t>
            </a:r>
            <a:endParaRPr lang="en-US" sz="1100" dirty="0"/>
          </a:p>
        </p:txBody>
      </p:sp>
      <p:sp>
        <p:nvSpPr>
          <p:cNvPr id="35" name="Band1"/>
          <p:cNvSpPr/>
          <p:nvPr/>
        </p:nvSpPr>
        <p:spPr>
          <a:xfrm>
            <a:off x="800000" y="3100000"/>
            <a:ext cx="7200000" cy="30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BandL1"/>
          <p:cNvSpPr/>
          <p:nvPr/>
        </p:nvSpPr>
        <p:spPr>
          <a:xfrm>
            <a:off x="950000" y="3100000"/>
            <a:ext cx="2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entre -25% et -50%</a:t>
            </a:r>
            <a:endParaRPr lang="en-US" sz="1100" dirty="0"/>
          </a:p>
        </p:txBody>
      </p:sp>
      <p:sp>
        <p:nvSpPr>
          <p:cNvPr id="37" name="BandR1"/>
          <p:cNvSpPr/>
          <p:nvPr/>
        </p:nvSpPr>
        <p:spPr>
          <a:xfrm>
            <a:off x="3600000" y="3100000"/>
            <a:ext cx="4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coupon — capital protégé à l'échéance</a:t>
            </a:r>
            <a:endParaRPr lang="en-US" sz="1100" dirty="0"/>
          </a:p>
        </p:txBody>
      </p:sp>
      <p:sp>
        <p:nvSpPr>
          <p:cNvPr id="38" name="Band2"/>
          <p:cNvSpPr/>
          <p:nvPr/>
        </p:nvSpPr>
        <p:spPr>
          <a:xfrm>
            <a:off x="800000" y="3400000"/>
            <a:ext cx="7200000" cy="3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BandL2"/>
          <p:cNvSpPr/>
          <p:nvPr/>
        </p:nvSpPr>
        <p:spPr>
          <a:xfrm>
            <a:off x="950000" y="3400000"/>
            <a:ext cx="2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&lt; -50% à l'échéance</a:t>
            </a:r>
            <a:endParaRPr lang="en-US" sz="1100" dirty="0"/>
          </a:p>
        </p:txBody>
      </p:sp>
      <p:sp>
        <p:nvSpPr>
          <p:cNvPr id="40" name="BandR2"/>
          <p:cNvSpPr/>
          <p:nvPr/>
        </p:nvSpPr>
        <p:spPr>
          <a:xfrm>
            <a:off x="3600000" y="3400000"/>
            <a:ext cx="4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en capital équivalente à la baisse</a:t>
            </a:r>
            <a:endParaRPr lang="en-US" sz="1100" dirty="0"/>
          </a:p>
        </p:txBody>
      </p:sp>
      <p:sp>
        <p:nvSpPr>
          <p:cNvPr id="41" name="Note"/>
          <p:cNvSpPr/>
          <p:nvPr/>
        </p:nvSpPr>
        <p:spPr>
          <a:xfrm>
            <a:off x="800000" y="3900000"/>
            <a:ext cx="72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passées ne préjugent pas des performances futures. Document à usage interne — confidentiel.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E71B2DFC-2D0F-43B9-A9B8-EB8C2E04E1D1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27</a:t>
            </a:fld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PRODUITS STRUCTURÉS · AVANTAGES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 avantages des produits structurés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537" name="Card1537"/>
          <p:cNvSpPr/>
          <p:nvPr/>
        </p:nvSpPr>
        <p:spPr>
          <a:xfrm>
            <a:off x="50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8" name="Accent1538"/>
          <p:cNvSpPr/>
          <p:nvPr/>
        </p:nvSpPr>
        <p:spPr>
          <a:xfrm>
            <a:off x="50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39" name="CardT1539"/>
          <p:cNvSpPr/>
          <p:nvPr/>
        </p:nvSpPr>
        <p:spPr>
          <a:xfrm>
            <a:off x="67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Performance décorrélée</a:t>
            </a:r>
            <a:endParaRPr lang="en-US" sz="1100" dirty="0"/>
          </a:p>
        </p:txBody>
      </p:sp>
      <p:sp>
        <p:nvSpPr>
          <p:cNvPr id="1540" name="CardD1540"/>
          <p:cNvSpPr/>
          <p:nvPr/>
        </p:nvSpPr>
        <p:spPr>
          <a:xfrm>
            <a:off x="67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Rendement partiellement indépendant des marchés financiers cotés</a:t>
            </a:r>
            <a:endParaRPr lang="en-US" sz="900" dirty="0"/>
          </a:p>
        </p:txBody>
      </p:sp>
      <p:sp>
        <p:nvSpPr>
          <p:cNvPr id="1541" name="Card1541"/>
          <p:cNvSpPr/>
          <p:nvPr/>
        </p:nvSpPr>
        <p:spPr>
          <a:xfrm>
            <a:off x="466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2" name="Accent1542"/>
          <p:cNvSpPr/>
          <p:nvPr/>
        </p:nvSpPr>
        <p:spPr>
          <a:xfrm>
            <a:off x="466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3" name="CardT1543"/>
          <p:cNvSpPr/>
          <p:nvPr/>
        </p:nvSpPr>
        <p:spPr>
          <a:xfrm>
            <a:off x="483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Risque maîtrisé</a:t>
            </a:r>
            <a:endParaRPr lang="en-US" sz="1100" dirty="0"/>
          </a:p>
        </p:txBody>
      </p:sp>
      <p:sp>
        <p:nvSpPr>
          <p:cNvPr id="1544" name="CardD1544"/>
          <p:cNvSpPr/>
          <p:nvPr/>
        </p:nvSpPr>
        <p:spPr>
          <a:xfrm>
            <a:off x="483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Protection du capital totale ou partielle, définie à la souscription</a:t>
            </a:r>
            <a:endParaRPr lang="en-US" sz="900" dirty="0"/>
          </a:p>
        </p:txBody>
      </p:sp>
      <p:sp>
        <p:nvSpPr>
          <p:cNvPr id="1545" name="Card1545"/>
          <p:cNvSpPr/>
          <p:nvPr/>
        </p:nvSpPr>
        <p:spPr>
          <a:xfrm>
            <a:off x="50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6" name="Accent1546"/>
          <p:cNvSpPr/>
          <p:nvPr/>
        </p:nvSpPr>
        <p:spPr>
          <a:xfrm>
            <a:off x="50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47" name="CardT1547"/>
          <p:cNvSpPr/>
          <p:nvPr/>
        </p:nvSpPr>
        <p:spPr>
          <a:xfrm>
            <a:off x="67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Univers large</a:t>
            </a:r>
            <a:endParaRPr lang="en-US" sz="1100" dirty="0"/>
          </a:p>
        </p:txBody>
      </p:sp>
      <p:sp>
        <p:nvSpPr>
          <p:cNvPr id="1548" name="CardD1548"/>
          <p:cNvSpPr/>
          <p:nvPr/>
        </p:nvSpPr>
        <p:spPr>
          <a:xfrm>
            <a:off x="67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Indices mondiaux, sectoriels ou thématiques</a:t>
            </a:r>
            <a:endParaRPr lang="en-US" sz="900" dirty="0"/>
          </a:p>
        </p:txBody>
      </p:sp>
      <p:sp>
        <p:nvSpPr>
          <p:cNvPr id="1549" name="Card1549"/>
          <p:cNvSpPr/>
          <p:nvPr/>
        </p:nvSpPr>
        <p:spPr>
          <a:xfrm>
            <a:off x="466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50" name="Accent1550"/>
          <p:cNvSpPr/>
          <p:nvPr/>
        </p:nvSpPr>
        <p:spPr>
          <a:xfrm>
            <a:off x="466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1" name="CardT1551"/>
          <p:cNvSpPr/>
          <p:nvPr/>
        </p:nvSpPr>
        <p:spPr>
          <a:xfrm>
            <a:off x="483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Sur-mesure</a:t>
            </a:r>
            <a:endParaRPr lang="en-US" sz="1100" dirty="0"/>
          </a:p>
        </p:txBody>
      </p:sp>
      <p:sp>
        <p:nvSpPr>
          <p:cNvPr id="1552" name="CardD1552"/>
          <p:cNvSpPr/>
          <p:nvPr/>
        </p:nvSpPr>
        <p:spPr>
          <a:xfrm>
            <a:off x="483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Construction adaptée au profil et à l'objectif de l'investisseur</a:t>
            </a:r>
            <a:endParaRPr lang="en-US" sz="900" dirty="0"/>
          </a:p>
        </p:txBody>
      </p:sp>
      <p:sp>
        <p:nvSpPr>
          <p:cNvPr id="1553" name="SynthL1553"/>
          <p:cNvSpPr/>
          <p:nvPr/>
        </p:nvSpPr>
        <p:spPr>
          <a:xfrm>
            <a:off x="502920" y="44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4" name="SynthT1554"/>
          <p:cNvSpPr/>
          <p:nvPr/>
        </p:nvSpPr>
        <p:spPr>
          <a:xfrm>
            <a:off x="502920" y="4470000"/>
            <a:ext cx="81107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2B3A"/>
                </a:solidFill>
                <a:latin typeface="Garamond" pitchFamily="34" charset="0"/>
              </a:rPr>
              <a:t>Un rendement défini à l'avance, un risque choisi — pas subi.</a:t>
            </a:r>
            <a:endParaRPr lang="en-US" sz="105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F0E5800-6E7C-4513-964B-AEB327595914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28</a:t>
            </a:fld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PRODUITS STRUCTURÉS · OPPORTUNITÉ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Fonds structuré — indice européen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HBg0"/>
          <p:cNvSpPr/>
          <p:nvPr/>
        </p:nvSpPr>
        <p:spPr>
          <a:xfrm>
            <a:off x="502920" y="1450000"/>
            <a:ext cx="4055364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Tx0"/>
          <p:cNvSpPr/>
          <p:nvPr/>
        </p:nvSpPr>
        <p:spPr>
          <a:xfrm>
            <a:off x="557784" y="1450000"/>
            <a:ext cx="4000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Paramètre</a:t>
            </a:r>
            <a:endParaRPr lang="en-US" sz="1100" dirty="0"/>
          </a:p>
        </p:txBody>
      </p:sp>
      <p:sp>
        <p:nvSpPr>
          <p:cNvPr id="22" name="HBg1"/>
          <p:cNvSpPr/>
          <p:nvPr/>
        </p:nvSpPr>
        <p:spPr>
          <a:xfrm>
            <a:off x="4558284" y="1450000"/>
            <a:ext cx="4055364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HTx1"/>
          <p:cNvSpPr/>
          <p:nvPr/>
        </p:nvSpPr>
        <p:spPr>
          <a:xfrm>
            <a:off x="4613148" y="1450000"/>
            <a:ext cx="4000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Valeur</a:t>
            </a:r>
            <a:endParaRPr lang="en-US" sz="1100" dirty="0"/>
          </a:p>
        </p:txBody>
      </p:sp>
      <p:sp>
        <p:nvSpPr>
          <p:cNvPr id="24" name="RBg0_0"/>
          <p:cNvSpPr/>
          <p:nvPr/>
        </p:nvSpPr>
        <p:spPr>
          <a:xfrm>
            <a:off x="502920" y="172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Tx0_0"/>
          <p:cNvSpPr/>
          <p:nvPr/>
        </p:nvSpPr>
        <p:spPr>
          <a:xfrm>
            <a:off x="557784" y="173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Sous-jacent</a:t>
            </a:r>
            <a:endParaRPr lang="en-US" sz="1100" dirty="0"/>
          </a:p>
        </p:txBody>
      </p:sp>
      <p:sp>
        <p:nvSpPr>
          <p:cNvPr id="26" name="RBg0_1"/>
          <p:cNvSpPr/>
          <p:nvPr/>
        </p:nvSpPr>
        <p:spPr>
          <a:xfrm>
            <a:off x="4558284" y="172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Tx0_1"/>
          <p:cNvSpPr/>
          <p:nvPr/>
        </p:nvSpPr>
        <p:spPr>
          <a:xfrm>
            <a:off x="4613148" y="173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Européen Grande Capitalisation</a:t>
            </a:r>
            <a:endParaRPr lang="en-US" sz="1100" dirty="0"/>
          </a:p>
        </p:txBody>
      </p:sp>
      <p:sp>
        <p:nvSpPr>
          <p:cNvPr id="28" name="RBg1_0"/>
          <p:cNvSpPr/>
          <p:nvPr/>
        </p:nvSpPr>
        <p:spPr>
          <a:xfrm>
            <a:off x="502920" y="206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Tx1_0"/>
          <p:cNvSpPr/>
          <p:nvPr/>
        </p:nvSpPr>
        <p:spPr>
          <a:xfrm>
            <a:off x="557784" y="207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maximale</a:t>
            </a:r>
            <a:endParaRPr lang="en-US" sz="1100" dirty="0"/>
          </a:p>
        </p:txBody>
      </p:sp>
      <p:sp>
        <p:nvSpPr>
          <p:cNvPr id="30" name="RBg1_1"/>
          <p:cNvSpPr/>
          <p:nvPr/>
        </p:nvSpPr>
        <p:spPr>
          <a:xfrm>
            <a:off x="4558284" y="206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Tx1_1"/>
          <p:cNvSpPr/>
          <p:nvPr/>
        </p:nvSpPr>
        <p:spPr>
          <a:xfrm>
            <a:off x="4613148" y="207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 ans</a:t>
            </a:r>
            <a:endParaRPr lang="en-US" sz="1100" dirty="0"/>
          </a:p>
        </p:txBody>
      </p:sp>
      <p:sp>
        <p:nvSpPr>
          <p:cNvPr id="32" name="RBg2_0"/>
          <p:cNvSpPr/>
          <p:nvPr/>
        </p:nvSpPr>
        <p:spPr>
          <a:xfrm>
            <a:off x="502920" y="240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Tx2_0"/>
          <p:cNvSpPr/>
          <p:nvPr/>
        </p:nvSpPr>
        <p:spPr>
          <a:xfrm>
            <a:off x="557784" y="241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mémoire</a:t>
            </a:r>
            <a:endParaRPr lang="en-US" sz="1100" dirty="0"/>
          </a:p>
        </p:txBody>
      </p:sp>
      <p:sp>
        <p:nvSpPr>
          <p:cNvPr id="34" name="RBg2_1"/>
          <p:cNvSpPr/>
          <p:nvPr/>
        </p:nvSpPr>
        <p:spPr>
          <a:xfrm>
            <a:off x="4558284" y="240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Tx2_1"/>
          <p:cNvSpPr/>
          <p:nvPr/>
        </p:nvSpPr>
        <p:spPr>
          <a:xfrm>
            <a:off x="4613148" y="241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8 % annuel (2 % / trimestre)</a:t>
            </a:r>
            <a:endParaRPr lang="en-US" sz="1100" dirty="0"/>
          </a:p>
        </p:txBody>
      </p:sp>
      <p:sp>
        <p:nvSpPr>
          <p:cNvPr id="36" name="RBg3_0"/>
          <p:cNvSpPr/>
          <p:nvPr/>
        </p:nvSpPr>
        <p:spPr>
          <a:xfrm>
            <a:off x="502920" y="274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Tx3_0"/>
          <p:cNvSpPr/>
          <p:nvPr/>
        </p:nvSpPr>
        <p:spPr>
          <a:xfrm>
            <a:off x="557784" y="275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 de coupon</a:t>
            </a:r>
            <a:endParaRPr lang="en-US" sz="1100" dirty="0"/>
          </a:p>
        </p:txBody>
      </p:sp>
      <p:sp>
        <p:nvSpPr>
          <p:cNvPr id="38" name="RBg3_1"/>
          <p:cNvSpPr/>
          <p:nvPr/>
        </p:nvSpPr>
        <p:spPr>
          <a:xfrm>
            <a:off x="4558284" y="274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Tx3_1"/>
          <p:cNvSpPr/>
          <p:nvPr/>
        </p:nvSpPr>
        <p:spPr>
          <a:xfrm>
            <a:off x="4613148" y="275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25 % (avec effet mémoire)</a:t>
            </a:r>
            <a:endParaRPr lang="en-US" sz="1100" dirty="0"/>
          </a:p>
        </p:txBody>
      </p:sp>
      <p:sp>
        <p:nvSpPr>
          <p:cNvPr id="40" name="RBg4_0"/>
          <p:cNvSpPr/>
          <p:nvPr/>
        </p:nvSpPr>
        <p:spPr>
          <a:xfrm>
            <a:off x="502920" y="308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Tx4_0"/>
          <p:cNvSpPr/>
          <p:nvPr/>
        </p:nvSpPr>
        <p:spPr>
          <a:xfrm>
            <a:off x="557784" y="309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en capital</a:t>
            </a:r>
            <a:endParaRPr lang="en-US" sz="1100" dirty="0"/>
          </a:p>
        </p:txBody>
      </p:sp>
      <p:sp>
        <p:nvSpPr>
          <p:cNvPr id="42" name="RBg4_1"/>
          <p:cNvSpPr/>
          <p:nvPr/>
        </p:nvSpPr>
        <p:spPr>
          <a:xfrm>
            <a:off x="4558284" y="308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Tx4_1"/>
          <p:cNvSpPr/>
          <p:nvPr/>
        </p:nvSpPr>
        <p:spPr>
          <a:xfrm>
            <a:off x="4613148" y="309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50 % à l'échéance</a:t>
            </a:r>
            <a:endParaRPr lang="en-US" sz="1100" dirty="0"/>
          </a:p>
        </p:txBody>
      </p:sp>
      <p:sp>
        <p:nvSpPr>
          <p:cNvPr id="44" name="RBg5_0"/>
          <p:cNvSpPr/>
          <p:nvPr/>
        </p:nvSpPr>
        <p:spPr>
          <a:xfrm>
            <a:off x="502920" y="342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Tx5_0"/>
          <p:cNvSpPr/>
          <p:nvPr/>
        </p:nvSpPr>
        <p:spPr>
          <a:xfrm>
            <a:off x="557784" y="343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de constatation</a:t>
            </a:r>
            <a:endParaRPr lang="en-US" sz="1100" dirty="0"/>
          </a:p>
        </p:txBody>
      </p:sp>
      <p:sp>
        <p:nvSpPr>
          <p:cNvPr id="46" name="RBg5_1"/>
          <p:cNvSpPr/>
          <p:nvPr/>
        </p:nvSpPr>
        <p:spPr>
          <a:xfrm>
            <a:off x="4558284" y="342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Tx5_1"/>
          <p:cNvSpPr/>
          <p:nvPr/>
        </p:nvSpPr>
        <p:spPr>
          <a:xfrm>
            <a:off x="4613148" y="343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Trimestrielle</a:t>
            </a:r>
            <a:endParaRPr lang="en-US" sz="1100" dirty="0"/>
          </a:p>
        </p:txBody>
      </p:sp>
      <p:sp>
        <p:nvSpPr>
          <p:cNvPr id="48" name="RBg6_0"/>
          <p:cNvSpPr/>
          <p:nvPr/>
        </p:nvSpPr>
        <p:spPr>
          <a:xfrm>
            <a:off x="502920" y="376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Tx6_0"/>
          <p:cNvSpPr/>
          <p:nvPr/>
        </p:nvSpPr>
        <p:spPr>
          <a:xfrm>
            <a:off x="557784" y="377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anticipé</a:t>
            </a:r>
            <a:endParaRPr lang="en-US" sz="1100" dirty="0"/>
          </a:p>
        </p:txBody>
      </p:sp>
      <p:sp>
        <p:nvSpPr>
          <p:cNvPr id="50" name="RBg6_1"/>
          <p:cNvSpPr/>
          <p:nvPr/>
        </p:nvSpPr>
        <p:spPr>
          <a:xfrm>
            <a:off x="4558284" y="3764320"/>
            <a:ext cx="4055364" cy="34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Tx6_1"/>
          <p:cNvSpPr/>
          <p:nvPr/>
        </p:nvSpPr>
        <p:spPr>
          <a:xfrm>
            <a:off x="4613148" y="377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la 1ère année</a:t>
            </a:r>
            <a:endParaRPr lang="en-US" sz="1100" dirty="0"/>
          </a:p>
        </p:txBody>
      </p:sp>
      <p:sp>
        <p:nvSpPr>
          <p:cNvPr id="52" name="RBg7_0"/>
          <p:cNvSpPr/>
          <p:nvPr/>
        </p:nvSpPr>
        <p:spPr>
          <a:xfrm>
            <a:off x="502920" y="410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RTx7_0"/>
          <p:cNvSpPr/>
          <p:nvPr/>
        </p:nvSpPr>
        <p:spPr>
          <a:xfrm>
            <a:off x="557784" y="411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lancement</a:t>
            </a:r>
            <a:endParaRPr lang="en-US" sz="1100" dirty="0"/>
          </a:p>
        </p:txBody>
      </p:sp>
      <p:sp>
        <p:nvSpPr>
          <p:cNvPr id="54" name="RBg7_1"/>
          <p:cNvSpPr/>
          <p:nvPr/>
        </p:nvSpPr>
        <p:spPr>
          <a:xfrm>
            <a:off x="4558284" y="4104320"/>
            <a:ext cx="4055364" cy="34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Tx7_1"/>
          <p:cNvSpPr/>
          <p:nvPr/>
        </p:nvSpPr>
        <p:spPr>
          <a:xfrm>
            <a:off x="4613148" y="4113464"/>
            <a:ext cx="4000500" cy="33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15/11/2025</a:t>
            </a:r>
            <a:endParaRPr lang="en-US" sz="1100" dirty="0"/>
          </a:p>
        </p:txBody>
      </p:sp>
      <p:sp>
        <p:nvSpPr>
          <p:cNvPr id="56" name="Note"/>
          <p:cNvSpPr/>
          <p:nvPr/>
        </p:nvSpPr>
        <p:spPr>
          <a:xfrm>
            <a:off x="502920" y="4524320"/>
            <a:ext cx="8110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passées ne préjugent pas des performances futures. Document à usage interne — confidentiel.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253C3B8-5C8D-4221-8CC6-C5A459846F25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29</a:t>
            </a:fld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PRODUITS STRUCTURÉS · CAPITAL GARANTI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Opportunité — capital garanti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HBg0"/>
          <p:cNvSpPr/>
          <p:nvPr/>
        </p:nvSpPr>
        <p:spPr>
          <a:xfrm>
            <a:off x="502920" y="1450000"/>
            <a:ext cx="4055364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Tx0"/>
          <p:cNvSpPr/>
          <p:nvPr/>
        </p:nvSpPr>
        <p:spPr>
          <a:xfrm>
            <a:off x="557784" y="1450000"/>
            <a:ext cx="4000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Paramètre</a:t>
            </a:r>
            <a:endParaRPr lang="en-US" sz="1100" dirty="0"/>
          </a:p>
        </p:txBody>
      </p:sp>
      <p:sp>
        <p:nvSpPr>
          <p:cNvPr id="22" name="HBg1"/>
          <p:cNvSpPr/>
          <p:nvPr/>
        </p:nvSpPr>
        <p:spPr>
          <a:xfrm>
            <a:off x="4558284" y="1450000"/>
            <a:ext cx="4055364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HTx1"/>
          <p:cNvSpPr/>
          <p:nvPr/>
        </p:nvSpPr>
        <p:spPr>
          <a:xfrm>
            <a:off x="4613148" y="1450000"/>
            <a:ext cx="4000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Valeur</a:t>
            </a:r>
            <a:endParaRPr lang="en-US" sz="1100" dirty="0"/>
          </a:p>
        </p:txBody>
      </p:sp>
      <p:sp>
        <p:nvSpPr>
          <p:cNvPr id="24" name="RBg0_0"/>
          <p:cNvSpPr/>
          <p:nvPr/>
        </p:nvSpPr>
        <p:spPr>
          <a:xfrm>
            <a:off x="502920" y="172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Tx0_0"/>
          <p:cNvSpPr/>
          <p:nvPr/>
        </p:nvSpPr>
        <p:spPr>
          <a:xfrm>
            <a:off x="557784" y="173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Sous-jacent</a:t>
            </a:r>
            <a:endParaRPr lang="en-US" sz="1100" dirty="0"/>
          </a:p>
        </p:txBody>
      </p:sp>
      <p:sp>
        <p:nvSpPr>
          <p:cNvPr id="26" name="RBg0_1"/>
          <p:cNvSpPr/>
          <p:nvPr/>
        </p:nvSpPr>
        <p:spPr>
          <a:xfrm>
            <a:off x="4558284" y="172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Tx0_1"/>
          <p:cNvSpPr/>
          <p:nvPr/>
        </p:nvSpPr>
        <p:spPr>
          <a:xfrm>
            <a:off x="4613148" y="173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EUR 10 ans</a:t>
            </a:r>
            <a:endParaRPr lang="en-US" sz="1100" dirty="0"/>
          </a:p>
        </p:txBody>
      </p:sp>
      <p:sp>
        <p:nvSpPr>
          <p:cNvPr id="28" name="RBg1_0"/>
          <p:cNvSpPr/>
          <p:nvPr/>
        </p:nvSpPr>
        <p:spPr>
          <a:xfrm>
            <a:off x="502920" y="2094320"/>
            <a:ext cx="4055364" cy="37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Tx1_0"/>
          <p:cNvSpPr/>
          <p:nvPr/>
        </p:nvSpPr>
        <p:spPr>
          <a:xfrm>
            <a:off x="557784" y="210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100" dirty="0"/>
          </a:p>
        </p:txBody>
      </p:sp>
      <p:sp>
        <p:nvSpPr>
          <p:cNvPr id="30" name="RBg1_1"/>
          <p:cNvSpPr/>
          <p:nvPr/>
        </p:nvSpPr>
        <p:spPr>
          <a:xfrm>
            <a:off x="4558284" y="2094320"/>
            <a:ext cx="4055364" cy="37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Tx1_1"/>
          <p:cNvSpPr/>
          <p:nvPr/>
        </p:nvSpPr>
        <p:spPr>
          <a:xfrm>
            <a:off x="4613148" y="210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 ans</a:t>
            </a:r>
            <a:endParaRPr lang="en-US" sz="1100" dirty="0"/>
          </a:p>
        </p:txBody>
      </p:sp>
      <p:sp>
        <p:nvSpPr>
          <p:cNvPr id="32" name="RBg2_0"/>
          <p:cNvSpPr/>
          <p:nvPr/>
        </p:nvSpPr>
        <p:spPr>
          <a:xfrm>
            <a:off x="502920" y="246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Tx2_0"/>
          <p:cNvSpPr/>
          <p:nvPr/>
        </p:nvSpPr>
        <p:spPr>
          <a:xfrm>
            <a:off x="557784" y="247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annuel</a:t>
            </a:r>
            <a:endParaRPr lang="en-US" sz="1100" dirty="0"/>
          </a:p>
        </p:txBody>
      </p:sp>
      <p:sp>
        <p:nvSpPr>
          <p:cNvPr id="34" name="RBg2_1"/>
          <p:cNvSpPr/>
          <p:nvPr/>
        </p:nvSpPr>
        <p:spPr>
          <a:xfrm>
            <a:off x="4558284" y="246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Tx2_1"/>
          <p:cNvSpPr/>
          <p:nvPr/>
        </p:nvSpPr>
        <p:spPr>
          <a:xfrm>
            <a:off x="4613148" y="247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7 %</a:t>
            </a:r>
            <a:endParaRPr lang="en-US" sz="1100" dirty="0"/>
          </a:p>
        </p:txBody>
      </p:sp>
      <p:sp>
        <p:nvSpPr>
          <p:cNvPr id="36" name="RBg3_0"/>
          <p:cNvSpPr/>
          <p:nvPr/>
        </p:nvSpPr>
        <p:spPr>
          <a:xfrm>
            <a:off x="502920" y="2834320"/>
            <a:ext cx="4055364" cy="37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Tx3_0"/>
          <p:cNvSpPr/>
          <p:nvPr/>
        </p:nvSpPr>
        <p:spPr>
          <a:xfrm>
            <a:off x="557784" y="284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en capital</a:t>
            </a:r>
            <a:endParaRPr lang="en-US" sz="1100" dirty="0"/>
          </a:p>
        </p:txBody>
      </p:sp>
      <p:sp>
        <p:nvSpPr>
          <p:cNvPr id="38" name="RBg3_1"/>
          <p:cNvSpPr/>
          <p:nvPr/>
        </p:nvSpPr>
        <p:spPr>
          <a:xfrm>
            <a:off x="4558284" y="2834320"/>
            <a:ext cx="4055364" cy="37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Tx3_1"/>
          <p:cNvSpPr/>
          <p:nvPr/>
        </p:nvSpPr>
        <p:spPr>
          <a:xfrm>
            <a:off x="4613148" y="284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100 % (capital garanti)</a:t>
            </a:r>
            <a:endParaRPr lang="en-US" sz="1100" dirty="0"/>
          </a:p>
        </p:txBody>
      </p:sp>
      <p:sp>
        <p:nvSpPr>
          <p:cNvPr id="40" name="RBg4_0"/>
          <p:cNvSpPr/>
          <p:nvPr/>
        </p:nvSpPr>
        <p:spPr>
          <a:xfrm>
            <a:off x="502920" y="320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Tx4_0"/>
          <p:cNvSpPr/>
          <p:nvPr/>
        </p:nvSpPr>
        <p:spPr>
          <a:xfrm>
            <a:off x="557784" y="321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coupon</a:t>
            </a:r>
            <a:endParaRPr lang="en-US" sz="1100" dirty="0"/>
          </a:p>
        </p:txBody>
      </p:sp>
      <p:sp>
        <p:nvSpPr>
          <p:cNvPr id="42" name="RBg4_1"/>
          <p:cNvSpPr/>
          <p:nvPr/>
        </p:nvSpPr>
        <p:spPr>
          <a:xfrm>
            <a:off x="4558284" y="320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Tx4_1"/>
          <p:cNvSpPr/>
          <p:nvPr/>
        </p:nvSpPr>
        <p:spPr>
          <a:xfrm>
            <a:off x="4613148" y="321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EUR 10 ans ≤ 2,95 %</a:t>
            </a:r>
            <a:endParaRPr lang="en-US" sz="1100" dirty="0"/>
          </a:p>
        </p:txBody>
      </p:sp>
      <p:sp>
        <p:nvSpPr>
          <p:cNvPr id="44" name="RBg5_0"/>
          <p:cNvSpPr/>
          <p:nvPr/>
        </p:nvSpPr>
        <p:spPr>
          <a:xfrm>
            <a:off x="502920" y="3574320"/>
            <a:ext cx="4055364" cy="37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Tx5_0"/>
          <p:cNvSpPr/>
          <p:nvPr/>
        </p:nvSpPr>
        <p:spPr>
          <a:xfrm>
            <a:off x="557784" y="358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100" dirty="0"/>
          </a:p>
        </p:txBody>
      </p:sp>
      <p:sp>
        <p:nvSpPr>
          <p:cNvPr id="46" name="RBg5_1"/>
          <p:cNvSpPr/>
          <p:nvPr/>
        </p:nvSpPr>
        <p:spPr>
          <a:xfrm>
            <a:off x="4558284" y="3574320"/>
            <a:ext cx="4055364" cy="37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Tx5_1"/>
          <p:cNvSpPr/>
          <p:nvPr/>
        </p:nvSpPr>
        <p:spPr>
          <a:xfrm>
            <a:off x="4613148" y="358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Semestrielle dès la 1ère année</a:t>
            </a:r>
            <a:endParaRPr lang="en-US" sz="1100" dirty="0"/>
          </a:p>
        </p:txBody>
      </p:sp>
      <p:sp>
        <p:nvSpPr>
          <p:cNvPr id="48" name="RBg6_0"/>
          <p:cNvSpPr/>
          <p:nvPr/>
        </p:nvSpPr>
        <p:spPr>
          <a:xfrm>
            <a:off x="502920" y="394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Tx6_0"/>
          <p:cNvSpPr/>
          <p:nvPr/>
        </p:nvSpPr>
        <p:spPr>
          <a:xfrm>
            <a:off x="557784" y="395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lancement</a:t>
            </a:r>
            <a:endParaRPr lang="en-US" sz="1100" dirty="0"/>
          </a:p>
        </p:txBody>
      </p:sp>
      <p:sp>
        <p:nvSpPr>
          <p:cNvPr id="50" name="RBg6_1"/>
          <p:cNvSpPr/>
          <p:nvPr/>
        </p:nvSpPr>
        <p:spPr>
          <a:xfrm>
            <a:off x="4558284" y="3944320"/>
            <a:ext cx="4055364" cy="37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Tx6_1"/>
          <p:cNvSpPr/>
          <p:nvPr/>
        </p:nvSpPr>
        <p:spPr>
          <a:xfrm>
            <a:off x="4613148" y="3953464"/>
            <a:ext cx="4000500" cy="36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31/01/2025</a:t>
            </a:r>
            <a:endParaRPr lang="en-US" sz="1100" dirty="0"/>
          </a:p>
        </p:txBody>
      </p:sp>
      <p:sp>
        <p:nvSpPr>
          <p:cNvPr id="52" name="Note"/>
          <p:cNvSpPr/>
          <p:nvPr/>
        </p:nvSpPr>
        <p:spPr>
          <a:xfrm>
            <a:off x="502920" y="4394320"/>
            <a:ext cx="8110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passées ne préjugent pas des performances futures. Document à usage interne — confidentiel.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9461ABE-E96F-4FF0-857E-A3D6843347E2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30</a:t>
            </a:fld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OBLIGATAIRE DATÉ · MÉCANISME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Fonds obligataires datés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555" name="Card1555"/>
          <p:cNvSpPr/>
          <p:nvPr/>
        </p:nvSpPr>
        <p:spPr>
          <a:xfrm>
            <a:off x="50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56" name="Accent1556"/>
          <p:cNvSpPr/>
          <p:nvPr/>
        </p:nvSpPr>
        <p:spPr>
          <a:xfrm>
            <a:off x="50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57" name="CardT1557"/>
          <p:cNvSpPr/>
          <p:nvPr/>
        </p:nvSpPr>
        <p:spPr>
          <a:xfrm>
            <a:off x="67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Date de lancement</a:t>
            </a:r>
            <a:endParaRPr lang="en-US" sz="1100" dirty="0"/>
          </a:p>
        </p:txBody>
      </p:sp>
      <p:sp>
        <p:nvSpPr>
          <p:cNvPr id="1558" name="CardD1558"/>
          <p:cNvSpPr/>
          <p:nvPr/>
        </p:nvSpPr>
        <p:spPr>
          <a:xfrm>
            <a:off x="67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Mise en place du fonds et achat des obligations sélectionnées</a:t>
            </a:r>
            <a:endParaRPr lang="en-US" sz="900" dirty="0"/>
          </a:p>
        </p:txBody>
      </p:sp>
      <p:sp>
        <p:nvSpPr>
          <p:cNvPr id="1559" name="Card1559"/>
          <p:cNvSpPr/>
          <p:nvPr/>
        </p:nvSpPr>
        <p:spPr>
          <a:xfrm>
            <a:off x="466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0" name="Accent1560"/>
          <p:cNvSpPr/>
          <p:nvPr/>
        </p:nvSpPr>
        <p:spPr>
          <a:xfrm>
            <a:off x="466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1" name="CardT1561"/>
          <p:cNvSpPr/>
          <p:nvPr/>
        </p:nvSpPr>
        <p:spPr>
          <a:xfrm>
            <a:off x="483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Durée déterminée</a:t>
            </a:r>
            <a:endParaRPr lang="en-US" sz="1100" dirty="0"/>
          </a:p>
        </p:txBody>
      </p:sp>
      <p:sp>
        <p:nvSpPr>
          <p:cNvPr id="1562" name="CardD1562"/>
          <p:cNvSpPr/>
          <p:nvPr/>
        </p:nvSpPr>
        <p:spPr>
          <a:xfrm>
            <a:off x="483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Échéance connue dès la souscription — horizon de placement clair</a:t>
            </a:r>
            <a:endParaRPr lang="en-US" sz="900" dirty="0"/>
          </a:p>
        </p:txBody>
      </p:sp>
      <p:sp>
        <p:nvSpPr>
          <p:cNvPr id="1563" name="Card1563"/>
          <p:cNvSpPr/>
          <p:nvPr/>
        </p:nvSpPr>
        <p:spPr>
          <a:xfrm>
            <a:off x="50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4" name="Accent1564"/>
          <p:cNvSpPr/>
          <p:nvPr/>
        </p:nvSpPr>
        <p:spPr>
          <a:xfrm>
            <a:off x="50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5" name="CardT1565"/>
          <p:cNvSpPr/>
          <p:nvPr/>
        </p:nvSpPr>
        <p:spPr>
          <a:xfrm>
            <a:off x="67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Rendement (YTM)</a:t>
            </a:r>
            <a:endParaRPr lang="en-US" sz="1100" dirty="0"/>
          </a:p>
        </p:txBody>
      </p:sp>
      <p:sp>
        <p:nvSpPr>
          <p:cNvPr id="1566" name="CardD1566"/>
          <p:cNvSpPr/>
          <p:nvPr/>
        </p:nvSpPr>
        <p:spPr>
          <a:xfrm>
            <a:off x="67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Coupon moyen versé par les obligations en portefeuille</a:t>
            </a:r>
            <a:endParaRPr lang="en-US" sz="900" dirty="0"/>
          </a:p>
        </p:txBody>
      </p:sp>
      <p:sp>
        <p:nvSpPr>
          <p:cNvPr id="1567" name="Card1567"/>
          <p:cNvSpPr/>
          <p:nvPr/>
        </p:nvSpPr>
        <p:spPr>
          <a:xfrm>
            <a:off x="466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8" name="Accent1568"/>
          <p:cNvSpPr/>
          <p:nvPr/>
        </p:nvSpPr>
        <p:spPr>
          <a:xfrm>
            <a:off x="466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69" name="CardT1569"/>
          <p:cNvSpPr/>
          <p:nvPr/>
        </p:nvSpPr>
        <p:spPr>
          <a:xfrm>
            <a:off x="483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Remboursement final</a:t>
            </a:r>
            <a:endParaRPr lang="en-US" sz="1100" dirty="0"/>
          </a:p>
        </p:txBody>
      </p:sp>
      <p:sp>
        <p:nvSpPr>
          <p:cNvPr id="1570" name="CardD1570"/>
          <p:cNvSpPr/>
          <p:nvPr/>
        </p:nvSpPr>
        <p:spPr>
          <a:xfrm>
            <a:off x="483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Capital et intérêts cumulés restitués à l'échéance</a:t>
            </a:r>
            <a:endParaRPr lang="en-US" sz="900" dirty="0"/>
          </a:p>
        </p:txBody>
      </p:sp>
      <p:sp>
        <p:nvSpPr>
          <p:cNvPr id="1571" name="SynthL1571"/>
          <p:cNvSpPr/>
          <p:nvPr/>
        </p:nvSpPr>
        <p:spPr>
          <a:xfrm>
            <a:off x="502920" y="44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2" name="SynthT1572"/>
          <p:cNvSpPr/>
          <p:nvPr/>
        </p:nvSpPr>
        <p:spPr>
          <a:xfrm>
            <a:off x="502920" y="4470000"/>
            <a:ext cx="81107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2B3A"/>
                </a:solidFill>
                <a:latin typeface="Garamond" pitchFamily="34" charset="0"/>
              </a:rPr>
              <a:t>Un horizon connu, un rendement visible dès la souscription.</a:t>
            </a:r>
            <a:endParaRPr lang="en-US" sz="105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1B486B1-65F9-444F-BB92-33973231EF53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31</a:t>
            </a:fld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OBLIGATAIRE DATÉ · AVANTAGES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Pourquoi les fonds datés ?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573" name="Card1573"/>
          <p:cNvSpPr/>
          <p:nvPr/>
        </p:nvSpPr>
        <p:spPr>
          <a:xfrm>
            <a:off x="50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74" name="Accent1574"/>
          <p:cNvSpPr/>
          <p:nvPr/>
        </p:nvSpPr>
        <p:spPr>
          <a:xfrm>
            <a:off x="50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5" name="CardT1575"/>
          <p:cNvSpPr/>
          <p:nvPr/>
        </p:nvSpPr>
        <p:spPr>
          <a:xfrm>
            <a:off x="67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Décorrélation actions</a:t>
            </a:r>
            <a:endParaRPr lang="en-US" sz="1100" dirty="0"/>
          </a:p>
        </p:txBody>
      </p:sp>
      <p:sp>
        <p:nvSpPr>
          <p:cNvPr id="1576" name="CardD1576"/>
          <p:cNvSpPr/>
          <p:nvPr/>
        </p:nvSpPr>
        <p:spPr>
          <a:xfrm>
            <a:off x="67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Exposition financière indépendante des marchés actions</a:t>
            </a:r>
            <a:endParaRPr lang="en-US" sz="900" dirty="0"/>
          </a:p>
        </p:txBody>
      </p:sp>
      <p:sp>
        <p:nvSpPr>
          <p:cNvPr id="1577" name="Card1577"/>
          <p:cNvSpPr/>
          <p:nvPr/>
        </p:nvSpPr>
        <p:spPr>
          <a:xfrm>
            <a:off x="466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78" name="Accent1578"/>
          <p:cNvSpPr/>
          <p:nvPr/>
        </p:nvSpPr>
        <p:spPr>
          <a:xfrm>
            <a:off x="466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79" name="CardT1579"/>
          <p:cNvSpPr/>
          <p:nvPr/>
        </p:nvSpPr>
        <p:spPr>
          <a:xfrm>
            <a:off x="483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Diversification</a:t>
            </a:r>
            <a:endParaRPr lang="en-US" sz="1100" dirty="0"/>
          </a:p>
        </p:txBody>
      </p:sp>
      <p:sp>
        <p:nvSpPr>
          <p:cNvPr id="1580" name="CardD1580"/>
          <p:cNvSpPr/>
          <p:nvPr/>
        </p:nvSpPr>
        <p:spPr>
          <a:xfrm>
            <a:off x="483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Entreprises cotées et obligations d'État</a:t>
            </a:r>
            <a:endParaRPr lang="en-US" sz="900" dirty="0"/>
          </a:p>
        </p:txBody>
      </p:sp>
      <p:sp>
        <p:nvSpPr>
          <p:cNvPr id="1581" name="Card1581"/>
          <p:cNvSpPr/>
          <p:nvPr/>
        </p:nvSpPr>
        <p:spPr>
          <a:xfrm>
            <a:off x="50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2" name="Accent1582"/>
          <p:cNvSpPr/>
          <p:nvPr/>
        </p:nvSpPr>
        <p:spPr>
          <a:xfrm>
            <a:off x="50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3" name="CardT1583"/>
          <p:cNvSpPr/>
          <p:nvPr/>
        </p:nvSpPr>
        <p:spPr>
          <a:xfrm>
            <a:off x="67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Contexte de taux</a:t>
            </a:r>
            <a:endParaRPr lang="en-US" sz="1100" dirty="0"/>
          </a:p>
        </p:txBody>
      </p:sp>
      <p:sp>
        <p:nvSpPr>
          <p:cNvPr id="1584" name="CardD1584"/>
          <p:cNvSpPr/>
          <p:nvPr/>
        </p:nvSpPr>
        <p:spPr>
          <a:xfrm>
            <a:off x="67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Performance attractive dans l'environnement actuel (YTM &gt; 5 %)</a:t>
            </a:r>
            <a:endParaRPr lang="en-US" sz="900" dirty="0"/>
          </a:p>
        </p:txBody>
      </p:sp>
      <p:sp>
        <p:nvSpPr>
          <p:cNvPr id="1585" name="Card1585"/>
          <p:cNvSpPr/>
          <p:nvPr/>
        </p:nvSpPr>
        <p:spPr>
          <a:xfrm>
            <a:off x="466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6" name="Accent1586"/>
          <p:cNvSpPr/>
          <p:nvPr/>
        </p:nvSpPr>
        <p:spPr>
          <a:xfrm>
            <a:off x="466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87" name="CardT1587"/>
          <p:cNvSpPr/>
          <p:nvPr/>
        </p:nvSpPr>
        <p:spPr>
          <a:xfrm>
            <a:off x="483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Horizon court</a:t>
            </a:r>
            <a:endParaRPr lang="en-US" sz="1100" dirty="0"/>
          </a:p>
        </p:txBody>
      </p:sp>
      <p:sp>
        <p:nvSpPr>
          <p:cNvPr id="1588" name="CardD1588"/>
          <p:cNvSpPr/>
          <p:nvPr/>
        </p:nvSpPr>
        <p:spPr>
          <a:xfrm>
            <a:off x="483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1 à 5 ans — visibilité sur le rendement cible</a:t>
            </a:r>
            <a:endParaRPr lang="en-US" sz="900" dirty="0"/>
          </a:p>
        </p:txBody>
      </p:sp>
      <p:sp>
        <p:nvSpPr>
          <p:cNvPr id="1589" name="SynthL1589"/>
          <p:cNvSpPr/>
          <p:nvPr/>
        </p:nvSpPr>
        <p:spPr>
          <a:xfrm>
            <a:off x="502920" y="44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0" name="SynthT1590"/>
          <p:cNvSpPr/>
          <p:nvPr/>
        </p:nvSpPr>
        <p:spPr>
          <a:xfrm>
            <a:off x="502920" y="4470000"/>
            <a:ext cx="81107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2B3A"/>
                </a:solidFill>
                <a:latin typeface="Garamond" pitchFamily="34" charset="0"/>
              </a:rPr>
              <a:t>La visibilité du taux, sans l'exposition aux marchés actions.</a:t>
            </a:r>
            <a:endParaRPr lang="en-US" sz="105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283EC35-5CB0-48DC-BB59-F3D7D108B50F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32</a:t>
            </a:fld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FONCTIONNEMENT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Comment fonctionne une SCPI ?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Box0"/>
          <p:cNvSpPr/>
          <p:nvPr/>
        </p:nvSpPr>
        <p:spPr>
          <a:xfrm>
            <a:off x="502920" y="1800000"/>
            <a:ext cx="1750000" cy="750000"/>
          </a:xfrm>
          <a:prstGeom prst="rect">
            <a:avLst/>
          </a:prstGeom>
          <a:solidFill>
            <a:srgbClr val="F7F5F1"/>
          </a:solidFill>
          <a:ln w="15875">
            <a:solidFill>
              <a:srgbClr val="1C2B3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INVESTISSEURS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 &amp; institutionnels</a:t>
            </a:r>
            <a:endParaRPr lang="en-US" sz="1100" dirty="0"/>
          </a:p>
        </p:txBody>
      </p:sp>
      <p:sp>
        <p:nvSpPr>
          <p:cNvPr id="21" name="Arr0"/>
          <p:cNvSpPr/>
          <p:nvPr/>
        </p:nvSpPr>
        <p:spPr>
          <a:xfrm>
            <a:off x="2277433" y="2115000"/>
            <a:ext cx="250000" cy="120000"/>
          </a:xfrm>
          <a:prstGeom prst="rightArrow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CBox1"/>
          <p:cNvSpPr/>
          <p:nvPr/>
        </p:nvSpPr>
        <p:spPr>
          <a:xfrm>
            <a:off x="2551946" y="1800000"/>
            <a:ext cx="1750000" cy="750000"/>
          </a:xfrm>
          <a:prstGeom prst="rect">
            <a:avLst/>
          </a:prstGeom>
          <a:solidFill>
            <a:srgbClr val="F7F5F1"/>
          </a:solidFill>
          <a:ln w="15875">
            <a:solidFill>
              <a:srgbClr val="1C2B3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 gestion agréée AMF</a:t>
            </a:r>
            <a:endParaRPr lang="en-US" sz="1100" dirty="0"/>
          </a:p>
        </p:txBody>
      </p:sp>
      <p:sp>
        <p:nvSpPr>
          <p:cNvPr id="23" name="Arr1"/>
          <p:cNvSpPr/>
          <p:nvPr/>
        </p:nvSpPr>
        <p:spPr>
          <a:xfrm>
            <a:off x="4326459" y="2115000"/>
            <a:ext cx="250000" cy="120000"/>
          </a:xfrm>
          <a:prstGeom prst="rightArrow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CBox2"/>
          <p:cNvSpPr/>
          <p:nvPr/>
        </p:nvSpPr>
        <p:spPr>
          <a:xfrm>
            <a:off x="4600972" y="1800000"/>
            <a:ext cx="1750000" cy="750000"/>
          </a:xfrm>
          <a:prstGeom prst="rect">
            <a:avLst/>
          </a:prstGeom>
          <a:solidFill>
            <a:srgbClr val="F7F5F1"/>
          </a:solidFill>
          <a:ln w="15875">
            <a:solidFill>
              <a:srgbClr val="1C2B3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PATRIMOINE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immobiliers diversifiés</a:t>
            </a:r>
            <a:endParaRPr lang="en-US" sz="1100" dirty="0"/>
          </a:p>
        </p:txBody>
      </p:sp>
      <p:sp>
        <p:nvSpPr>
          <p:cNvPr id="25" name="Arr2"/>
          <p:cNvSpPr/>
          <p:nvPr/>
        </p:nvSpPr>
        <p:spPr>
          <a:xfrm>
            <a:off x="6375485" y="2115000"/>
            <a:ext cx="250000" cy="120000"/>
          </a:xfrm>
          <a:prstGeom prst="rightArrow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CBox3"/>
          <p:cNvSpPr/>
          <p:nvPr/>
        </p:nvSpPr>
        <p:spPr>
          <a:xfrm>
            <a:off x="6649998" y="1800000"/>
            <a:ext cx="1750000" cy="750000"/>
          </a:xfrm>
          <a:prstGeom prst="rect">
            <a:avLst/>
          </a:prstGeom>
          <a:solidFill>
            <a:srgbClr val="F7F5F1"/>
          </a:solidFill>
          <a:ln w="15875">
            <a:solidFill>
              <a:srgbClr val="1C2B3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LOYERS</a:t>
            </a:r>
            <a:endParaRPr lang="en-US" sz="11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locatifs perçus</a:t>
            </a:r>
            <a:endParaRPr lang="en-US" sz="1100" dirty="0"/>
          </a:p>
        </p:txBody>
      </p:sp>
      <p:sp>
        <p:nvSpPr>
          <p:cNvPr id="27" name="Retour"/>
          <p:cNvSpPr/>
          <p:nvPr/>
        </p:nvSpPr>
        <p:spPr>
          <a:xfrm>
            <a:off x="1200000" y="2950000"/>
            <a:ext cx="6700000" cy="450000"/>
          </a:xfrm>
          <a:prstGeom prst="rect">
            <a:avLst/>
          </a:prstGeom>
          <a:noFill/>
          <a:ln w="12700">
            <a:solidFill>
              <a:srgbClr val="8B1A1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 trimestrielle des loyers aux associés — gestion 100% déléguée</a:t>
            </a:r>
            <a:endParaRPr lang="en-US" sz="1100" dirty="0"/>
          </a:p>
        </p:txBody>
      </p:sp>
      <p:sp>
        <p:nvSpPr>
          <p:cNvPr id="28" name="StatSep"/>
          <p:cNvSpPr/>
          <p:nvPr/>
        </p:nvSpPr>
        <p:spPr>
          <a:xfrm>
            <a:off x="502920" y="3750000"/>
            <a:ext cx="8110728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MSV0"/>
          <p:cNvSpPr/>
          <p:nvPr/>
        </p:nvSpPr>
        <p:spPr>
          <a:xfrm>
            <a:off x="502920" y="390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Trimestriels</a:t>
            </a:r>
            <a:endParaRPr lang="en-US" sz="1100" dirty="0"/>
          </a:p>
        </p:txBody>
      </p:sp>
      <p:sp>
        <p:nvSpPr>
          <p:cNvPr id="31" name="MSL0"/>
          <p:cNvSpPr/>
          <p:nvPr/>
        </p:nvSpPr>
        <p:spPr>
          <a:xfrm>
            <a:off x="502920" y="409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</a:t>
            </a:r>
            <a:endParaRPr lang="en-US" sz="1100" dirty="0"/>
          </a:p>
        </p:txBody>
      </p:sp>
      <p:sp>
        <p:nvSpPr>
          <p:cNvPr id="32" name="MSS0"/>
          <p:cNvSpPr/>
          <p:nvPr/>
        </p:nvSpPr>
        <p:spPr>
          <a:xfrm>
            <a:off x="3195523" y="390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MSV1"/>
          <p:cNvSpPr/>
          <p:nvPr/>
        </p:nvSpPr>
        <p:spPr>
          <a:xfrm>
            <a:off x="3206496" y="390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Mutualisé</a:t>
            </a:r>
            <a:endParaRPr lang="en-US" sz="1100" dirty="0"/>
          </a:p>
        </p:txBody>
      </p:sp>
      <p:sp>
        <p:nvSpPr>
          <p:cNvPr id="34" name="MSL1"/>
          <p:cNvSpPr/>
          <p:nvPr/>
        </p:nvSpPr>
        <p:spPr>
          <a:xfrm>
            <a:off x="3206496" y="409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locatif</a:t>
            </a:r>
            <a:endParaRPr lang="en-US" sz="1100" dirty="0"/>
          </a:p>
        </p:txBody>
      </p:sp>
      <p:sp>
        <p:nvSpPr>
          <p:cNvPr id="35" name="MSS1"/>
          <p:cNvSpPr/>
          <p:nvPr/>
        </p:nvSpPr>
        <p:spPr>
          <a:xfrm>
            <a:off x="5899099" y="390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MSV2"/>
          <p:cNvSpPr/>
          <p:nvPr/>
        </p:nvSpPr>
        <p:spPr>
          <a:xfrm>
            <a:off x="5910072" y="390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Déléguée</a:t>
            </a:r>
            <a:endParaRPr lang="en-US" sz="1100" dirty="0"/>
          </a:p>
        </p:txBody>
      </p:sp>
      <p:sp>
        <p:nvSpPr>
          <p:cNvPr id="37" name="MSL2"/>
          <p:cNvSpPr/>
          <p:nvPr/>
        </p:nvSpPr>
        <p:spPr>
          <a:xfrm>
            <a:off x="5910072" y="409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AC2EFD9C-DE98-48E9-B025-F862629C2ABF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33</a:t>
            </a:fld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STRATÉGIE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Pourquoi investir en SCPI ?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olHdr0"/>
          <p:cNvSpPr/>
          <p:nvPr/>
        </p:nvSpPr>
        <p:spPr>
          <a:xfrm>
            <a:off x="502920" y="1500000"/>
            <a:ext cx="25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spc="1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REVENUS</a:t>
            </a:r>
            <a:endParaRPr lang="en-US" sz="1100" dirty="0"/>
          </a:p>
        </p:txBody>
      </p:sp>
      <p:sp>
        <p:nvSpPr>
          <p:cNvPr id="21" name="ColLine0"/>
          <p:cNvSpPr/>
          <p:nvPr/>
        </p:nvSpPr>
        <p:spPr>
          <a:xfrm>
            <a:off x="502920" y="1790000"/>
            <a:ext cx="2590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Mk0_0"/>
          <p:cNvSpPr/>
          <p:nvPr/>
        </p:nvSpPr>
        <p:spPr>
          <a:xfrm>
            <a:off x="502920" y="193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It0_0"/>
          <p:cNvSpPr/>
          <p:nvPr/>
        </p:nvSpPr>
        <p:spPr>
          <a:xfrm>
            <a:off x="632920" y="190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loyers trimestriels réguliers</a:t>
            </a:r>
            <a:endParaRPr lang="en-US" sz="1100" dirty="0"/>
          </a:p>
        </p:txBody>
      </p:sp>
      <p:sp>
        <p:nvSpPr>
          <p:cNvPr id="24" name="Mk0_1"/>
          <p:cNvSpPr/>
          <p:nvPr/>
        </p:nvSpPr>
        <p:spPr>
          <a:xfrm>
            <a:off x="502920" y="265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It0_1"/>
          <p:cNvSpPr/>
          <p:nvPr/>
        </p:nvSpPr>
        <p:spPr>
          <a:xfrm>
            <a:off x="632920" y="262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moyen du marché 2024 : 4,7%*</a:t>
            </a:r>
            <a:endParaRPr lang="en-US" sz="1100" dirty="0"/>
          </a:p>
        </p:txBody>
      </p:sp>
      <p:sp>
        <p:nvSpPr>
          <p:cNvPr id="26" name="Mk0_2"/>
          <p:cNvSpPr/>
          <p:nvPr/>
        </p:nvSpPr>
        <p:spPr>
          <a:xfrm>
            <a:off x="502920" y="337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It0_2"/>
          <p:cNvSpPr/>
          <p:nvPr/>
        </p:nvSpPr>
        <p:spPr>
          <a:xfrm>
            <a:off x="632920" y="334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dès quelques milliers d'euros</a:t>
            </a:r>
            <a:endParaRPr lang="en-US" sz="1100" dirty="0"/>
          </a:p>
        </p:txBody>
      </p:sp>
      <p:sp>
        <p:nvSpPr>
          <p:cNvPr id="28" name="CSep0"/>
          <p:cNvSpPr/>
          <p:nvPr/>
        </p:nvSpPr>
        <p:spPr>
          <a:xfrm>
            <a:off x="3172920" y="1500000"/>
            <a:ext cx="10973" cy="280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ColHdr1"/>
          <p:cNvSpPr/>
          <p:nvPr/>
        </p:nvSpPr>
        <p:spPr>
          <a:xfrm>
            <a:off x="3262920" y="1500000"/>
            <a:ext cx="25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spc="1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DIVERSIFICATION</a:t>
            </a:r>
            <a:endParaRPr lang="en-US" sz="1100" dirty="0"/>
          </a:p>
        </p:txBody>
      </p:sp>
      <p:sp>
        <p:nvSpPr>
          <p:cNvPr id="30" name="ColLine1"/>
          <p:cNvSpPr/>
          <p:nvPr/>
        </p:nvSpPr>
        <p:spPr>
          <a:xfrm>
            <a:off x="3262920" y="1790000"/>
            <a:ext cx="2590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Mk1_0"/>
          <p:cNvSpPr/>
          <p:nvPr/>
        </p:nvSpPr>
        <p:spPr>
          <a:xfrm>
            <a:off x="3262920" y="193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It1_0"/>
          <p:cNvSpPr/>
          <p:nvPr/>
        </p:nvSpPr>
        <p:spPr>
          <a:xfrm>
            <a:off x="3392920" y="190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mutualisé sur des dizaines d'actifs</a:t>
            </a:r>
            <a:endParaRPr lang="en-US" sz="1100" dirty="0"/>
          </a:p>
        </p:txBody>
      </p:sp>
      <p:sp>
        <p:nvSpPr>
          <p:cNvPr id="33" name="Mk1_1"/>
          <p:cNvSpPr/>
          <p:nvPr/>
        </p:nvSpPr>
        <p:spPr>
          <a:xfrm>
            <a:off x="3262920" y="265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It1_1"/>
          <p:cNvSpPr/>
          <p:nvPr/>
        </p:nvSpPr>
        <p:spPr>
          <a:xfrm>
            <a:off x="3392920" y="262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européenne possible</a:t>
            </a:r>
            <a:endParaRPr lang="en-US" sz="1100" dirty="0"/>
          </a:p>
        </p:txBody>
      </p:sp>
      <p:sp>
        <p:nvSpPr>
          <p:cNvPr id="35" name="Mk1_2"/>
          <p:cNvSpPr/>
          <p:nvPr/>
        </p:nvSpPr>
        <p:spPr>
          <a:xfrm>
            <a:off x="3262920" y="337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It1_2"/>
          <p:cNvSpPr/>
          <p:nvPr/>
        </p:nvSpPr>
        <p:spPr>
          <a:xfrm>
            <a:off x="3392920" y="334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Bureaux, commerces, santé, logistique</a:t>
            </a:r>
            <a:endParaRPr lang="en-US" sz="1100" dirty="0"/>
          </a:p>
        </p:txBody>
      </p:sp>
      <p:sp>
        <p:nvSpPr>
          <p:cNvPr id="37" name="CSep1"/>
          <p:cNvSpPr/>
          <p:nvPr/>
        </p:nvSpPr>
        <p:spPr>
          <a:xfrm>
            <a:off x="5932920" y="1500000"/>
            <a:ext cx="10973" cy="280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ColHdr2"/>
          <p:cNvSpPr/>
          <p:nvPr/>
        </p:nvSpPr>
        <p:spPr>
          <a:xfrm>
            <a:off x="6022920" y="1500000"/>
            <a:ext cx="259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spc="1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FISCALITÉ</a:t>
            </a:r>
            <a:endParaRPr lang="en-US" sz="1100" dirty="0"/>
          </a:p>
        </p:txBody>
      </p:sp>
      <p:sp>
        <p:nvSpPr>
          <p:cNvPr id="39" name="ColLine2"/>
          <p:cNvSpPr/>
          <p:nvPr/>
        </p:nvSpPr>
        <p:spPr>
          <a:xfrm>
            <a:off x="6022920" y="1790000"/>
            <a:ext cx="2590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Mk2_0"/>
          <p:cNvSpPr/>
          <p:nvPr/>
        </p:nvSpPr>
        <p:spPr>
          <a:xfrm>
            <a:off x="6022920" y="193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It2_0"/>
          <p:cNvSpPr/>
          <p:nvPr/>
        </p:nvSpPr>
        <p:spPr>
          <a:xfrm>
            <a:off x="6152920" y="190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fonciers ou conventions fiscales étrangères</a:t>
            </a:r>
            <a:endParaRPr lang="en-US" sz="1100" dirty="0"/>
          </a:p>
        </p:txBody>
      </p:sp>
      <p:sp>
        <p:nvSpPr>
          <p:cNvPr id="42" name="Mk2_1"/>
          <p:cNvSpPr/>
          <p:nvPr/>
        </p:nvSpPr>
        <p:spPr>
          <a:xfrm>
            <a:off x="6022920" y="265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It2_1"/>
          <p:cNvSpPr/>
          <p:nvPr/>
        </p:nvSpPr>
        <p:spPr>
          <a:xfrm>
            <a:off x="6152920" y="262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Démembrement possible (nue-propriété)</a:t>
            </a:r>
            <a:endParaRPr lang="en-US" sz="1100" dirty="0"/>
          </a:p>
        </p:txBody>
      </p:sp>
      <p:sp>
        <p:nvSpPr>
          <p:cNvPr id="44" name="Mk2_2"/>
          <p:cNvSpPr/>
          <p:nvPr/>
        </p:nvSpPr>
        <p:spPr>
          <a:xfrm>
            <a:off x="6022920" y="3370000"/>
            <a:ext cx="22860" cy="42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It2_2"/>
          <p:cNvSpPr/>
          <p:nvPr/>
        </p:nvSpPr>
        <p:spPr>
          <a:xfrm>
            <a:off x="6152920" y="3340000"/>
            <a:ext cx="24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facilitée</a:t>
            </a:r>
            <a:endParaRPr lang="en-US" sz="1100" dirty="0"/>
          </a:p>
        </p:txBody>
      </p:sp>
      <p:sp>
        <p:nvSpPr>
          <p:cNvPr id="46" name="Note"/>
          <p:cNvSpPr/>
          <p:nvPr/>
        </p:nvSpPr>
        <p:spPr>
          <a:xfrm>
            <a:off x="502920" y="4450000"/>
            <a:ext cx="8110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*Source ASPIM/IEIF 2024. Les performances passées ne préjugent pas des performances futures.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652F0E8E-D0A6-4729-9B61-C7F3A61FFE45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34</a:t>
            </a:fld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CONVICTION CORUM XL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Corum XL — Première SCPI hors zone euro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000" y="1520000"/>
            <a:ext cx="2028000" cy="560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5,53 %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2024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96 %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occupation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47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2,1 Mds€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66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gérés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901" name="CH901"/>
          <p:cNvSpPr/>
          <p:nvPr/>
        </p:nvSpPr>
        <p:spPr>
          <a:xfrm>
            <a:off x="502920" y="295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2" name="CT902"/>
          <p:cNvSpPr/>
          <p:nvPr/>
        </p:nvSpPr>
        <p:spPr>
          <a:xfrm>
            <a:off x="658368" y="294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Première SCPI investie hors zone euro (UK, Pologne, Pays-Bas, Irlande, Espagne…)</a:t>
            </a:r>
            <a:endParaRPr lang="en-US" sz="950" dirty="0"/>
          </a:p>
        </p:txBody>
      </p:sp>
      <p:sp>
        <p:nvSpPr>
          <p:cNvPr id="903" name="CH903"/>
          <p:cNvSpPr/>
          <p:nvPr/>
        </p:nvSpPr>
        <p:spPr>
          <a:xfrm>
            <a:off x="502920" y="324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4" name="CT904"/>
          <p:cNvSpPr/>
          <p:nvPr/>
        </p:nvSpPr>
        <p:spPr>
          <a:xfrm>
            <a:off x="658368" y="323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7 secteurs d'activité (65 % Bureaux, 13 % Commerces, 12 % Hôtellerie…)</a:t>
            </a:r>
            <a:endParaRPr lang="en-US" sz="950" dirty="0"/>
          </a:p>
        </p:txBody>
      </p:sp>
      <p:sp>
        <p:nvSpPr>
          <p:cNvPr id="905" name="CH905"/>
          <p:cNvSpPr/>
          <p:nvPr/>
        </p:nvSpPr>
        <p:spPr>
          <a:xfrm>
            <a:off x="502920" y="353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6" name="CT906"/>
          <p:cNvSpPr/>
          <p:nvPr/>
        </p:nvSpPr>
        <p:spPr>
          <a:xfrm>
            <a:off x="658368" y="352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SCPI en cours d'investissement</a:t>
            </a:r>
            <a:endParaRPr lang="en-US" sz="950" dirty="0"/>
          </a:p>
        </p:txBody>
      </p:sp>
      <p:sp>
        <p:nvSpPr>
          <p:cNvPr id="907" name="CH907"/>
          <p:cNvSpPr/>
          <p:nvPr/>
        </p:nvSpPr>
        <p:spPr>
          <a:xfrm>
            <a:off x="602920" y="4142376"/>
            <a:ext cx="620000" cy="417624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8" name="CT908"/>
          <p:cNvSpPr/>
          <p:nvPr/>
        </p:nvSpPr>
        <p:spPr>
          <a:xfrm>
            <a:off x="522920" y="3957376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5,12 %</a:t>
            </a:r>
            <a:endParaRPr lang="en-US" sz="900" dirty="0"/>
          </a:p>
        </p:txBody>
      </p:sp>
      <p:sp>
        <p:nvSpPr>
          <p:cNvPr id="909" name="CT909"/>
          <p:cNvSpPr/>
          <p:nvPr/>
        </p:nvSpPr>
        <p:spPr>
          <a:xfrm>
            <a:off x="52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2020</a:t>
            </a:r>
            <a:endParaRPr lang="en-US" sz="700" dirty="0"/>
          </a:p>
        </p:txBody>
      </p:sp>
      <p:sp>
        <p:nvSpPr>
          <p:cNvPr id="910" name="CH910"/>
          <p:cNvSpPr/>
          <p:nvPr/>
        </p:nvSpPr>
        <p:spPr>
          <a:xfrm>
            <a:off x="1972920" y="4083648"/>
            <a:ext cx="620000" cy="47635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1" name="CT911"/>
          <p:cNvSpPr/>
          <p:nvPr/>
        </p:nvSpPr>
        <p:spPr>
          <a:xfrm>
            <a:off x="1892920" y="3898648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5,84 %</a:t>
            </a:r>
            <a:endParaRPr lang="en-US" sz="900" dirty="0"/>
          </a:p>
        </p:txBody>
      </p:sp>
      <p:sp>
        <p:nvSpPr>
          <p:cNvPr id="912" name="CT912"/>
          <p:cNvSpPr/>
          <p:nvPr/>
        </p:nvSpPr>
        <p:spPr>
          <a:xfrm>
            <a:off x="189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2021</a:t>
            </a:r>
            <a:endParaRPr lang="en-US" sz="700" dirty="0"/>
          </a:p>
        </p:txBody>
      </p:sp>
      <p:sp>
        <p:nvSpPr>
          <p:cNvPr id="913" name="CH913"/>
          <p:cNvSpPr/>
          <p:nvPr/>
        </p:nvSpPr>
        <p:spPr>
          <a:xfrm>
            <a:off x="3342920" y="4073044"/>
            <a:ext cx="620000" cy="486956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4" name="CT914"/>
          <p:cNvSpPr/>
          <p:nvPr/>
        </p:nvSpPr>
        <p:spPr>
          <a:xfrm>
            <a:off x="3262920" y="388804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5,97 %</a:t>
            </a:r>
            <a:endParaRPr lang="en-US" sz="900" dirty="0"/>
          </a:p>
        </p:txBody>
      </p:sp>
      <p:sp>
        <p:nvSpPr>
          <p:cNvPr id="915" name="CT915"/>
          <p:cNvSpPr/>
          <p:nvPr/>
        </p:nvSpPr>
        <p:spPr>
          <a:xfrm>
            <a:off x="326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2022</a:t>
            </a:r>
            <a:endParaRPr lang="en-US" sz="700" dirty="0"/>
          </a:p>
        </p:txBody>
      </p:sp>
      <p:sp>
        <p:nvSpPr>
          <p:cNvPr id="916" name="CH916"/>
          <p:cNvSpPr/>
          <p:nvPr/>
        </p:nvSpPr>
        <p:spPr>
          <a:xfrm>
            <a:off x="4712920" y="4119537"/>
            <a:ext cx="620000" cy="440463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7" name="CT917"/>
          <p:cNvSpPr/>
          <p:nvPr/>
        </p:nvSpPr>
        <p:spPr>
          <a:xfrm>
            <a:off x="4632920" y="3934537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5,40 %</a:t>
            </a:r>
            <a:endParaRPr lang="en-US" sz="900" dirty="0"/>
          </a:p>
        </p:txBody>
      </p:sp>
      <p:sp>
        <p:nvSpPr>
          <p:cNvPr id="918" name="CT918"/>
          <p:cNvSpPr/>
          <p:nvPr/>
        </p:nvSpPr>
        <p:spPr>
          <a:xfrm>
            <a:off x="463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2023</a:t>
            </a:r>
            <a:endParaRPr lang="en-US" sz="700" dirty="0"/>
          </a:p>
        </p:txBody>
      </p:sp>
      <p:sp>
        <p:nvSpPr>
          <p:cNvPr id="919" name="CH919"/>
          <p:cNvSpPr/>
          <p:nvPr/>
        </p:nvSpPr>
        <p:spPr>
          <a:xfrm>
            <a:off x="6082920" y="4108934"/>
            <a:ext cx="620000" cy="451066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0" name="CT920"/>
          <p:cNvSpPr/>
          <p:nvPr/>
        </p:nvSpPr>
        <p:spPr>
          <a:xfrm>
            <a:off x="6002920" y="392393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5,53 %</a:t>
            </a:r>
            <a:endParaRPr lang="en-US" sz="900" dirty="0"/>
          </a:p>
        </p:txBody>
      </p:sp>
      <p:sp>
        <p:nvSpPr>
          <p:cNvPr id="921" name="CT921"/>
          <p:cNvSpPr/>
          <p:nvPr/>
        </p:nvSpPr>
        <p:spPr>
          <a:xfrm>
            <a:off x="600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2024</a:t>
            </a:r>
            <a:endParaRPr lang="en-US" sz="700" dirty="0"/>
          </a:p>
        </p:txBody>
      </p:sp>
      <p:sp>
        <p:nvSpPr>
          <p:cNvPr id="922" name="CH922"/>
          <p:cNvSpPr/>
          <p:nvPr/>
        </p:nvSpPr>
        <p:spPr>
          <a:xfrm>
            <a:off x="502920" y="4560000"/>
            <a:ext cx="6400000" cy="10973"/>
          </a:xfrm>
          <a:prstGeom prst="rect">
            <a:avLst/>
          </a:prstGeom>
          <a:solidFill>
            <a:srgbClr val="CFC8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3" name="CT923"/>
          <p:cNvSpPr/>
          <p:nvPr/>
        </p:nvSpPr>
        <p:spPr>
          <a:xfrm>
            <a:off x="7100000" y="4000000"/>
            <a:ext cx="1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1A1A"/>
                </a:solidFill>
                <a:latin typeface="Garamond" pitchFamily="34" charset="0"/>
              </a:rPr>
              <a:t>5,57 %</a:t>
            </a:r>
            <a:endParaRPr lang="en-US" sz="1600" dirty="0"/>
          </a:p>
        </p:txBody>
      </p:sp>
      <p:sp>
        <p:nvSpPr>
          <p:cNvPr id="924" name="CT924"/>
          <p:cNvSpPr/>
          <p:nvPr/>
        </p:nvSpPr>
        <p:spPr>
          <a:xfrm>
            <a:off x="7100000" y="4310000"/>
            <a:ext cx="14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9080"/>
                </a:solidFill>
                <a:latin typeface="Calibri" pitchFamily="34" charset="0"/>
              </a:rPr>
              <a:t>moyenne 5 ans</a:t>
            </a:r>
            <a:endParaRPr lang="en-US" sz="750" dirty="0"/>
          </a:p>
        </p:txBody>
      </p:sp>
      <p:sp>
        <p:nvSpPr>
          <p:cNvPr id="925" name="CT925"/>
          <p:cNvSpPr/>
          <p:nvPr/>
        </p:nvSpPr>
        <p:spPr>
          <a:xfrm>
            <a:off x="502920" y="4750000"/>
            <a:ext cx="56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</a:rPr>
              <a:t>Variation du prix de part : +3,17 % en 2022</a:t>
            </a:r>
            <a:endParaRPr lang="en-US" sz="750" dirty="0"/>
          </a:p>
        </p:txBody>
      </p:sp>
      <p:sp>
        <p:nvSpPr>
          <p:cNvPr id="926" name="CT926"/>
          <p:cNvSpPr/>
          <p:nvPr/>
        </p:nvSpPr>
        <p:spPr>
          <a:xfrm>
            <a:off x="502920" y="4880000"/>
            <a:ext cx="8110728" cy="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i="1" dirty="0">
                <a:solidFill>
                  <a:srgbClr val="A09080"/>
                </a:solidFill>
                <a:latin typeface="Calibri" pitchFamily="34" charset="0"/>
              </a:rPr>
              <a:t>Les performances passées ne préjugent pas des performances futures. Document à usage interne — confidentiel.</a:t>
            </a:r>
            <a:endParaRPr lang="en-US" sz="6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FCA8993E-C9E7-4DF4-8036-55302EFDA385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35</a:t>
            </a:fld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CONVICTION CORUM ORIGIN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Corum Origin — 100 % Europe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000" y="1520000"/>
            <a:ext cx="2028000" cy="560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6,02 %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 5 ans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97 %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occupation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47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7,5 Mds€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66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gérés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927" name="CH927"/>
          <p:cNvSpPr/>
          <p:nvPr/>
        </p:nvSpPr>
        <p:spPr>
          <a:xfrm>
            <a:off x="502920" y="295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8" name="CT928"/>
          <p:cNvSpPr/>
          <p:nvPr/>
        </p:nvSpPr>
        <p:spPr>
          <a:xfrm>
            <a:off x="658368" y="294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100 % du patrimoine en Europe (Pays-Bas, Italie, Belgique, Irlande, Finlande…)</a:t>
            </a:r>
            <a:endParaRPr lang="en-US" sz="950" dirty="0"/>
          </a:p>
        </p:txBody>
      </p:sp>
      <p:sp>
        <p:nvSpPr>
          <p:cNvPr id="929" name="CH929"/>
          <p:cNvSpPr/>
          <p:nvPr/>
        </p:nvSpPr>
        <p:spPr>
          <a:xfrm>
            <a:off x="502920" y="324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0" name="CT930"/>
          <p:cNvSpPr/>
          <p:nvPr/>
        </p:nvSpPr>
        <p:spPr>
          <a:xfrm>
            <a:off x="658368" y="323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5 secteurs d'activité (49 % Bureaux, 32 % Commerces, 10 % Logistique…)</a:t>
            </a:r>
            <a:endParaRPr lang="en-US" sz="950" dirty="0"/>
          </a:p>
        </p:txBody>
      </p:sp>
      <p:sp>
        <p:nvSpPr>
          <p:cNvPr id="931" name="CH931"/>
          <p:cNvSpPr/>
          <p:nvPr/>
        </p:nvSpPr>
        <p:spPr>
          <a:xfrm>
            <a:off x="502920" y="353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2" name="CT932"/>
          <p:cNvSpPr/>
          <p:nvPr/>
        </p:nvSpPr>
        <p:spPr>
          <a:xfrm>
            <a:off x="658368" y="352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SCPI en cours d'investissement</a:t>
            </a:r>
            <a:endParaRPr lang="en-US" sz="950" dirty="0"/>
          </a:p>
        </p:txBody>
      </p:sp>
      <p:sp>
        <p:nvSpPr>
          <p:cNvPr id="933" name="CH933"/>
          <p:cNvSpPr/>
          <p:nvPr/>
        </p:nvSpPr>
        <p:spPr>
          <a:xfrm>
            <a:off x="602920" y="4197596"/>
            <a:ext cx="620000" cy="362404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4" name="CT934"/>
          <p:cNvSpPr/>
          <p:nvPr/>
        </p:nvSpPr>
        <p:spPr>
          <a:xfrm>
            <a:off x="522920" y="4012596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4,51 %</a:t>
            </a:r>
            <a:endParaRPr lang="en-US" sz="900" dirty="0"/>
          </a:p>
        </p:txBody>
      </p:sp>
      <p:sp>
        <p:nvSpPr>
          <p:cNvPr id="935" name="CT935"/>
          <p:cNvSpPr/>
          <p:nvPr/>
        </p:nvSpPr>
        <p:spPr>
          <a:xfrm>
            <a:off x="52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2020</a:t>
            </a:r>
            <a:endParaRPr lang="en-US" sz="700" dirty="0"/>
          </a:p>
        </p:txBody>
      </p:sp>
      <p:sp>
        <p:nvSpPr>
          <p:cNvPr id="936" name="CH936"/>
          <p:cNvSpPr/>
          <p:nvPr/>
        </p:nvSpPr>
        <p:spPr>
          <a:xfrm>
            <a:off x="1972920" y="4146168"/>
            <a:ext cx="620000" cy="413832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7" name="CT937"/>
          <p:cNvSpPr/>
          <p:nvPr/>
        </p:nvSpPr>
        <p:spPr>
          <a:xfrm>
            <a:off x="1892920" y="3961168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5,15 %</a:t>
            </a:r>
            <a:endParaRPr lang="en-US" sz="900" dirty="0"/>
          </a:p>
        </p:txBody>
      </p:sp>
      <p:sp>
        <p:nvSpPr>
          <p:cNvPr id="938" name="CT938"/>
          <p:cNvSpPr/>
          <p:nvPr/>
        </p:nvSpPr>
        <p:spPr>
          <a:xfrm>
            <a:off x="189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2021</a:t>
            </a:r>
            <a:endParaRPr lang="en-US" sz="700" dirty="0"/>
          </a:p>
        </p:txBody>
      </p:sp>
      <p:sp>
        <p:nvSpPr>
          <p:cNvPr id="939" name="CH939"/>
          <p:cNvSpPr/>
          <p:nvPr/>
        </p:nvSpPr>
        <p:spPr>
          <a:xfrm>
            <a:off x="3342920" y="4074651"/>
            <a:ext cx="620000" cy="485349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0" name="CT940"/>
          <p:cNvSpPr/>
          <p:nvPr/>
        </p:nvSpPr>
        <p:spPr>
          <a:xfrm>
            <a:off x="3262920" y="3889651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6,04 %</a:t>
            </a:r>
            <a:endParaRPr lang="en-US" sz="900" dirty="0"/>
          </a:p>
        </p:txBody>
      </p:sp>
      <p:sp>
        <p:nvSpPr>
          <p:cNvPr id="941" name="CT941"/>
          <p:cNvSpPr/>
          <p:nvPr/>
        </p:nvSpPr>
        <p:spPr>
          <a:xfrm>
            <a:off x="326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2022</a:t>
            </a:r>
            <a:endParaRPr lang="en-US" sz="700" dirty="0"/>
          </a:p>
        </p:txBody>
      </p:sp>
      <p:sp>
        <p:nvSpPr>
          <p:cNvPr id="942" name="CH942"/>
          <p:cNvSpPr/>
          <p:nvPr/>
        </p:nvSpPr>
        <p:spPr>
          <a:xfrm>
            <a:off x="4712920" y="4073044"/>
            <a:ext cx="620000" cy="486956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3" name="CT943"/>
          <p:cNvSpPr/>
          <p:nvPr/>
        </p:nvSpPr>
        <p:spPr>
          <a:xfrm>
            <a:off x="4632920" y="388804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6,06 %</a:t>
            </a:r>
            <a:endParaRPr lang="en-US" sz="900" dirty="0"/>
          </a:p>
        </p:txBody>
      </p:sp>
      <p:sp>
        <p:nvSpPr>
          <p:cNvPr id="944" name="CT944"/>
          <p:cNvSpPr/>
          <p:nvPr/>
        </p:nvSpPr>
        <p:spPr>
          <a:xfrm>
            <a:off x="463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2023</a:t>
            </a:r>
            <a:endParaRPr lang="en-US" sz="700" dirty="0"/>
          </a:p>
        </p:txBody>
      </p:sp>
      <p:sp>
        <p:nvSpPr>
          <p:cNvPr id="945" name="CH945"/>
          <p:cNvSpPr/>
          <p:nvPr/>
        </p:nvSpPr>
        <p:spPr>
          <a:xfrm>
            <a:off x="6082920" y="4080276"/>
            <a:ext cx="620000" cy="479724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6" name="CT946"/>
          <p:cNvSpPr/>
          <p:nvPr/>
        </p:nvSpPr>
        <p:spPr>
          <a:xfrm>
            <a:off x="6002920" y="3895276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5,97 %</a:t>
            </a:r>
            <a:endParaRPr lang="en-US" sz="900" dirty="0"/>
          </a:p>
        </p:txBody>
      </p:sp>
      <p:sp>
        <p:nvSpPr>
          <p:cNvPr id="947" name="CT947"/>
          <p:cNvSpPr/>
          <p:nvPr/>
        </p:nvSpPr>
        <p:spPr>
          <a:xfrm>
            <a:off x="600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2024</a:t>
            </a:r>
            <a:endParaRPr lang="en-US" sz="700" dirty="0"/>
          </a:p>
        </p:txBody>
      </p:sp>
      <p:sp>
        <p:nvSpPr>
          <p:cNvPr id="948" name="CH948"/>
          <p:cNvSpPr/>
          <p:nvPr/>
        </p:nvSpPr>
        <p:spPr>
          <a:xfrm>
            <a:off x="502920" y="4560000"/>
            <a:ext cx="6400000" cy="10973"/>
          </a:xfrm>
          <a:prstGeom prst="rect">
            <a:avLst/>
          </a:prstGeom>
          <a:solidFill>
            <a:srgbClr val="CFC8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9" name="CT949"/>
          <p:cNvSpPr/>
          <p:nvPr/>
        </p:nvSpPr>
        <p:spPr>
          <a:xfrm>
            <a:off x="7100000" y="4000000"/>
            <a:ext cx="1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1A1A"/>
                </a:solidFill>
                <a:latin typeface="Garamond" pitchFamily="34" charset="0"/>
              </a:rPr>
              <a:t>5,55 %</a:t>
            </a:r>
            <a:endParaRPr lang="en-US" sz="1600" dirty="0"/>
          </a:p>
        </p:txBody>
      </p:sp>
      <p:sp>
        <p:nvSpPr>
          <p:cNvPr id="950" name="CT950"/>
          <p:cNvSpPr/>
          <p:nvPr/>
        </p:nvSpPr>
        <p:spPr>
          <a:xfrm>
            <a:off x="7100000" y="4310000"/>
            <a:ext cx="14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9080"/>
                </a:solidFill>
                <a:latin typeface="Calibri" pitchFamily="34" charset="0"/>
              </a:rPr>
              <a:t>moyenne 5 ans</a:t>
            </a:r>
            <a:endParaRPr lang="en-US" sz="750" dirty="0"/>
          </a:p>
        </p:txBody>
      </p:sp>
      <p:sp>
        <p:nvSpPr>
          <p:cNvPr id="951" name="CT951"/>
          <p:cNvSpPr/>
          <p:nvPr/>
        </p:nvSpPr>
        <p:spPr>
          <a:xfrm>
            <a:off x="502920" y="4750000"/>
            <a:ext cx="56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</a:rPr>
              <a:t>Variation du prix de part : à compléter</a:t>
            </a:r>
            <a:endParaRPr lang="en-US" sz="750" dirty="0"/>
          </a:p>
        </p:txBody>
      </p:sp>
      <p:sp>
        <p:nvSpPr>
          <p:cNvPr id="952" name="CT952"/>
          <p:cNvSpPr/>
          <p:nvPr/>
        </p:nvSpPr>
        <p:spPr>
          <a:xfrm>
            <a:off x="502920" y="4880000"/>
            <a:ext cx="8110728" cy="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i="1" dirty="0">
                <a:solidFill>
                  <a:srgbClr val="A09080"/>
                </a:solidFill>
                <a:latin typeface="Calibri" pitchFamily="34" charset="0"/>
              </a:rPr>
              <a:t>Les performances passées ne préjugent pas des performances futures. Document à usage interne — confidentiel.</a:t>
            </a:r>
            <a:endParaRPr lang="en-US" sz="6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162F7F8-DD44-4059-9EC7-C05E2583CF52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36</a:t>
            </a:fld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ACTIFS CORUM ORIGIN</a:t>
            </a:r>
            <a:endParaRPr lang="en-US" sz="1100" dirty="0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760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Actifs immobiliers — Corum Origin</a:t>
            </a:r>
            <a:endParaRPr lang="en-US" sz="1100" dirty="0"/>
          </a:p>
        </p:txBody>
      </p:sp>
      <p:pic>
        <p:nvPicPr>
          <p:cNvPr id="201" name="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02" name="Lieu"/>
          <p:cNvSpPr/>
          <p:nvPr/>
        </p:nvSpPr>
        <p:spPr>
          <a:xfrm>
            <a:off x="502920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IRLANDE — DUBLIN</a:t>
            </a:r>
            <a:endParaRPr lang="en-US" sz="1100" dirty="0"/>
          </a:p>
        </p:txBody>
      </p:sp>
      <p:sp>
        <p:nvSpPr>
          <p:cNvPr id="203" name="Sous"/>
          <p:cNvSpPr/>
          <p:nvPr/>
        </p:nvSpPr>
        <p:spPr>
          <a:xfrm>
            <a:off x="502920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· Multi-locataires · Acquis septembre 2025</a:t>
            </a:r>
            <a:endParaRPr lang="en-US" sz="1100" dirty="0"/>
          </a:p>
        </p:txBody>
      </p:sp>
      <p:sp>
        <p:nvSpPr>
          <p:cNvPr id="204" name="Filet"/>
          <p:cNvSpPr/>
          <p:nvPr/>
        </p:nvSpPr>
        <p:spPr>
          <a:xfrm>
            <a:off x="502920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5" name="StV0"/>
          <p:cNvSpPr/>
          <p:nvPr/>
        </p:nvSpPr>
        <p:spPr>
          <a:xfrm>
            <a:off x="50292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58 M€</a:t>
            </a:r>
            <a:endParaRPr lang="en-US" sz="1100" dirty="0"/>
          </a:p>
        </p:txBody>
      </p:sp>
      <p:sp>
        <p:nvSpPr>
          <p:cNvPr id="206" name="StL0"/>
          <p:cNvSpPr/>
          <p:nvPr/>
        </p:nvSpPr>
        <p:spPr>
          <a:xfrm>
            <a:off x="50292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d'acquisition</a:t>
            </a:r>
            <a:endParaRPr lang="en-US" sz="1100" dirty="0"/>
          </a:p>
        </p:txBody>
      </p:sp>
      <p:sp>
        <p:nvSpPr>
          <p:cNvPr id="207" name="StV1"/>
          <p:cNvSpPr/>
          <p:nvPr/>
        </p:nvSpPr>
        <p:spPr>
          <a:xfrm>
            <a:off x="147447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9,2 %</a:t>
            </a:r>
            <a:endParaRPr lang="en-US" sz="1100" dirty="0"/>
          </a:p>
        </p:txBody>
      </p:sp>
      <p:sp>
        <p:nvSpPr>
          <p:cNvPr id="208" name="StL1"/>
          <p:cNvSpPr/>
          <p:nvPr/>
        </p:nvSpPr>
        <p:spPr>
          <a:xfrm>
            <a:off x="147447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</a:t>
            </a:r>
            <a:endParaRPr lang="en-US" sz="1100" dirty="0"/>
          </a:p>
        </p:txBody>
      </p:sp>
      <p:sp>
        <p:nvSpPr>
          <p:cNvPr id="209" name="StV2"/>
          <p:cNvSpPr/>
          <p:nvPr/>
        </p:nvSpPr>
        <p:spPr>
          <a:xfrm>
            <a:off x="244602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8 140 m²</a:t>
            </a:r>
            <a:endParaRPr lang="en-US" sz="1100" dirty="0"/>
          </a:p>
        </p:txBody>
      </p:sp>
      <p:sp>
        <p:nvSpPr>
          <p:cNvPr id="210" name="StL2"/>
          <p:cNvSpPr/>
          <p:nvPr/>
        </p:nvSpPr>
        <p:spPr>
          <a:xfrm>
            <a:off x="244602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11" name="StV3"/>
          <p:cNvSpPr/>
          <p:nvPr/>
        </p:nvSpPr>
        <p:spPr>
          <a:xfrm>
            <a:off x="341757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 ans</a:t>
            </a:r>
            <a:endParaRPr lang="en-US" sz="1100" dirty="0"/>
          </a:p>
        </p:txBody>
      </p:sp>
      <p:sp>
        <p:nvSpPr>
          <p:cNvPr id="212" name="StL3"/>
          <p:cNvSpPr/>
          <p:nvPr/>
        </p:nvSpPr>
        <p:spPr>
          <a:xfrm>
            <a:off x="341757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restant</a:t>
            </a:r>
            <a:endParaRPr lang="en-US" sz="1100" dirty="0"/>
          </a:p>
        </p:txBody>
      </p:sp>
      <p:pic>
        <p:nvPicPr>
          <p:cNvPr id="213" name="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14" name="Lieu"/>
          <p:cNvSpPr/>
          <p:nvPr/>
        </p:nvSpPr>
        <p:spPr>
          <a:xfrm>
            <a:off x="4727448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LITUANIE — VILNIUS</a:t>
            </a:r>
            <a:endParaRPr lang="en-US" sz="1100" dirty="0"/>
          </a:p>
        </p:txBody>
      </p:sp>
      <p:sp>
        <p:nvSpPr>
          <p:cNvPr id="215" name="Sous"/>
          <p:cNvSpPr/>
          <p:nvPr/>
        </p:nvSpPr>
        <p:spPr>
          <a:xfrm>
            <a:off x="4727448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DEPO · Acquis 2019 · Cédé août 2025</a:t>
            </a:r>
            <a:endParaRPr lang="en-US" sz="1100" dirty="0"/>
          </a:p>
        </p:txBody>
      </p:sp>
      <p:sp>
        <p:nvSpPr>
          <p:cNvPr id="216" name="Filet"/>
          <p:cNvSpPr/>
          <p:nvPr/>
        </p:nvSpPr>
        <p:spPr>
          <a:xfrm>
            <a:off x="4727448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7" name="StV0"/>
          <p:cNvSpPr/>
          <p:nvPr/>
        </p:nvSpPr>
        <p:spPr>
          <a:xfrm>
            <a:off x="47274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25,7 M€</a:t>
            </a:r>
            <a:endParaRPr lang="en-US" sz="1100" dirty="0"/>
          </a:p>
        </p:txBody>
      </p:sp>
      <p:sp>
        <p:nvSpPr>
          <p:cNvPr id="218" name="StL0"/>
          <p:cNvSpPr/>
          <p:nvPr/>
        </p:nvSpPr>
        <p:spPr>
          <a:xfrm>
            <a:off x="47274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d'acquisition</a:t>
            </a:r>
            <a:endParaRPr lang="en-US" sz="1100" dirty="0"/>
          </a:p>
        </p:txBody>
      </p:sp>
      <p:sp>
        <p:nvSpPr>
          <p:cNvPr id="219" name="StV1"/>
          <p:cNvSpPr/>
          <p:nvPr/>
        </p:nvSpPr>
        <p:spPr>
          <a:xfrm>
            <a:off x="60228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31,4 M€</a:t>
            </a:r>
            <a:endParaRPr lang="en-US" sz="1100" dirty="0"/>
          </a:p>
        </p:txBody>
      </p:sp>
      <p:sp>
        <p:nvSpPr>
          <p:cNvPr id="220" name="StL1"/>
          <p:cNvSpPr/>
          <p:nvPr/>
        </p:nvSpPr>
        <p:spPr>
          <a:xfrm>
            <a:off x="60228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cession</a:t>
            </a:r>
            <a:endParaRPr lang="en-US" sz="1100" dirty="0"/>
          </a:p>
        </p:txBody>
      </p:sp>
      <p:sp>
        <p:nvSpPr>
          <p:cNvPr id="221" name="StV2"/>
          <p:cNvSpPr/>
          <p:nvPr/>
        </p:nvSpPr>
        <p:spPr>
          <a:xfrm>
            <a:off x="73182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+5,7 M€</a:t>
            </a:r>
            <a:endParaRPr lang="en-US" sz="1100" dirty="0"/>
          </a:p>
        </p:txBody>
      </p:sp>
      <p:sp>
        <p:nvSpPr>
          <p:cNvPr id="222" name="StL2"/>
          <p:cNvSpPr/>
          <p:nvPr/>
        </p:nvSpPr>
        <p:spPr>
          <a:xfrm>
            <a:off x="73182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Plus-value avant frais</a:t>
            </a:r>
            <a:endParaRPr lang="en-US" sz="1100" dirty="0"/>
          </a:p>
        </p:txBody>
      </p:sp>
      <p:sp>
        <p:nvSpPr>
          <p:cNvPr id="41" name="Note"/>
          <p:cNvSpPr/>
          <p:nvPr/>
        </p:nvSpPr>
        <p:spPr>
          <a:xfrm>
            <a:off x="502920" y="4682000"/>
            <a:ext cx="8110728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passées ne préjugent pas des performances futures.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32ACC4E-BC06-4081-BBFF-B02BD7A99F3C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37</a:t>
            </a:fld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ACTIFS CORUM</a:t>
            </a:r>
            <a:endParaRPr lang="en-US" sz="1100" dirty="0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760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Acquisitions récentes — Corum</a:t>
            </a:r>
            <a:endParaRPr lang="en-US" sz="1100" dirty="0"/>
          </a:p>
        </p:txBody>
      </p:sp>
      <p:pic>
        <p:nvPicPr>
          <p:cNvPr id="223" name="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24" name="Lieu"/>
          <p:cNvSpPr/>
          <p:nvPr/>
        </p:nvSpPr>
        <p:spPr>
          <a:xfrm>
            <a:off x="502920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IRLANDE — DUBLIN</a:t>
            </a:r>
            <a:endParaRPr lang="en-US" sz="1100" dirty="0"/>
          </a:p>
        </p:txBody>
      </p:sp>
      <p:sp>
        <p:nvSpPr>
          <p:cNvPr id="225" name="Sous"/>
          <p:cNvSpPr/>
          <p:nvPr/>
        </p:nvSpPr>
        <p:spPr>
          <a:xfrm>
            <a:off x="502920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· Multi-locataires · Acquis avril 2025</a:t>
            </a:r>
            <a:endParaRPr lang="en-US" sz="1100" dirty="0"/>
          </a:p>
        </p:txBody>
      </p:sp>
      <p:sp>
        <p:nvSpPr>
          <p:cNvPr id="226" name="Filet"/>
          <p:cNvSpPr/>
          <p:nvPr/>
        </p:nvSpPr>
        <p:spPr>
          <a:xfrm>
            <a:off x="502920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7" name="StV0"/>
          <p:cNvSpPr/>
          <p:nvPr/>
        </p:nvSpPr>
        <p:spPr>
          <a:xfrm>
            <a:off x="50292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45,5 M€</a:t>
            </a:r>
            <a:endParaRPr lang="en-US" sz="1100" dirty="0"/>
          </a:p>
        </p:txBody>
      </p:sp>
      <p:sp>
        <p:nvSpPr>
          <p:cNvPr id="228" name="StL0"/>
          <p:cNvSpPr/>
          <p:nvPr/>
        </p:nvSpPr>
        <p:spPr>
          <a:xfrm>
            <a:off x="50292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d'acquisition</a:t>
            </a:r>
            <a:endParaRPr lang="en-US" sz="1100" dirty="0"/>
          </a:p>
        </p:txBody>
      </p:sp>
      <p:sp>
        <p:nvSpPr>
          <p:cNvPr id="229" name="StV1"/>
          <p:cNvSpPr/>
          <p:nvPr/>
        </p:nvSpPr>
        <p:spPr>
          <a:xfrm>
            <a:off x="147447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8,6 %</a:t>
            </a:r>
            <a:endParaRPr lang="en-US" sz="1100" dirty="0"/>
          </a:p>
        </p:txBody>
      </p:sp>
      <p:sp>
        <p:nvSpPr>
          <p:cNvPr id="230" name="StL1"/>
          <p:cNvSpPr/>
          <p:nvPr/>
        </p:nvSpPr>
        <p:spPr>
          <a:xfrm>
            <a:off x="147447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</a:t>
            </a:r>
            <a:endParaRPr lang="en-US" sz="1100" dirty="0"/>
          </a:p>
        </p:txBody>
      </p:sp>
      <p:sp>
        <p:nvSpPr>
          <p:cNvPr id="231" name="StV2"/>
          <p:cNvSpPr/>
          <p:nvPr/>
        </p:nvSpPr>
        <p:spPr>
          <a:xfrm>
            <a:off x="244602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11 772 m²</a:t>
            </a:r>
            <a:endParaRPr lang="en-US" sz="1100" dirty="0"/>
          </a:p>
        </p:txBody>
      </p:sp>
      <p:sp>
        <p:nvSpPr>
          <p:cNvPr id="232" name="StL2"/>
          <p:cNvSpPr/>
          <p:nvPr/>
        </p:nvSpPr>
        <p:spPr>
          <a:xfrm>
            <a:off x="244602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33" name="StV3"/>
          <p:cNvSpPr/>
          <p:nvPr/>
        </p:nvSpPr>
        <p:spPr>
          <a:xfrm>
            <a:off x="3417570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7,4 ans</a:t>
            </a:r>
            <a:endParaRPr lang="en-US" sz="1100" dirty="0"/>
          </a:p>
        </p:txBody>
      </p:sp>
      <p:sp>
        <p:nvSpPr>
          <p:cNvPr id="234" name="StL3"/>
          <p:cNvSpPr/>
          <p:nvPr/>
        </p:nvSpPr>
        <p:spPr>
          <a:xfrm>
            <a:off x="3417570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restant</a:t>
            </a:r>
            <a:endParaRPr lang="en-US" sz="1100" dirty="0"/>
          </a:p>
        </p:txBody>
      </p:sp>
      <p:pic>
        <p:nvPicPr>
          <p:cNvPr id="235" name="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36" name="Lieu"/>
          <p:cNvSpPr/>
          <p:nvPr/>
        </p:nvSpPr>
        <p:spPr>
          <a:xfrm>
            <a:off x="4727448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ITALIE — MILAN</a:t>
            </a:r>
            <a:endParaRPr lang="en-US" sz="1100" dirty="0"/>
          </a:p>
        </p:txBody>
      </p:sp>
      <p:sp>
        <p:nvSpPr>
          <p:cNvPr id="237" name="Sous"/>
          <p:cNvSpPr/>
          <p:nvPr/>
        </p:nvSpPr>
        <p:spPr>
          <a:xfrm>
            <a:off x="4727448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Bureaux · Multi-locataires · Acquis avril 2025</a:t>
            </a:r>
            <a:endParaRPr lang="en-US" sz="1100" dirty="0"/>
          </a:p>
        </p:txBody>
      </p:sp>
      <p:sp>
        <p:nvSpPr>
          <p:cNvPr id="238" name="Filet"/>
          <p:cNvSpPr/>
          <p:nvPr/>
        </p:nvSpPr>
        <p:spPr>
          <a:xfrm>
            <a:off x="4727448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9" name="StV0"/>
          <p:cNvSpPr/>
          <p:nvPr/>
        </p:nvSpPr>
        <p:spPr>
          <a:xfrm>
            <a:off x="4727448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39,6 M€</a:t>
            </a:r>
            <a:endParaRPr lang="en-US" sz="1100" dirty="0"/>
          </a:p>
        </p:txBody>
      </p:sp>
      <p:sp>
        <p:nvSpPr>
          <p:cNvPr id="240" name="StL0"/>
          <p:cNvSpPr/>
          <p:nvPr/>
        </p:nvSpPr>
        <p:spPr>
          <a:xfrm>
            <a:off x="4727448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d'acquisition</a:t>
            </a:r>
            <a:endParaRPr lang="en-US" sz="1100" dirty="0"/>
          </a:p>
        </p:txBody>
      </p:sp>
      <p:sp>
        <p:nvSpPr>
          <p:cNvPr id="241" name="StV1"/>
          <p:cNvSpPr/>
          <p:nvPr/>
        </p:nvSpPr>
        <p:spPr>
          <a:xfrm>
            <a:off x="5698998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7,8 %</a:t>
            </a:r>
            <a:endParaRPr lang="en-US" sz="1100" dirty="0"/>
          </a:p>
        </p:txBody>
      </p:sp>
      <p:sp>
        <p:nvSpPr>
          <p:cNvPr id="242" name="StL1"/>
          <p:cNvSpPr/>
          <p:nvPr/>
        </p:nvSpPr>
        <p:spPr>
          <a:xfrm>
            <a:off x="5698998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</a:t>
            </a:r>
            <a:endParaRPr lang="en-US" sz="1100" dirty="0"/>
          </a:p>
        </p:txBody>
      </p:sp>
      <p:sp>
        <p:nvSpPr>
          <p:cNvPr id="243" name="StV2"/>
          <p:cNvSpPr/>
          <p:nvPr/>
        </p:nvSpPr>
        <p:spPr>
          <a:xfrm>
            <a:off x="6670548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11 200 m²</a:t>
            </a:r>
            <a:endParaRPr lang="en-US" sz="1100" dirty="0"/>
          </a:p>
        </p:txBody>
      </p:sp>
      <p:sp>
        <p:nvSpPr>
          <p:cNvPr id="244" name="StL2"/>
          <p:cNvSpPr/>
          <p:nvPr/>
        </p:nvSpPr>
        <p:spPr>
          <a:xfrm>
            <a:off x="6670548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45" name="StV3"/>
          <p:cNvSpPr/>
          <p:nvPr/>
        </p:nvSpPr>
        <p:spPr>
          <a:xfrm>
            <a:off x="7642098" y="3750000"/>
            <a:ext cx="9115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5,7 ans</a:t>
            </a:r>
            <a:endParaRPr lang="en-US" sz="1100" dirty="0"/>
          </a:p>
        </p:txBody>
      </p:sp>
      <p:sp>
        <p:nvSpPr>
          <p:cNvPr id="246" name="StL3"/>
          <p:cNvSpPr/>
          <p:nvPr/>
        </p:nvSpPr>
        <p:spPr>
          <a:xfrm>
            <a:off x="7642098" y="3950000"/>
            <a:ext cx="91155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restant</a:t>
            </a:r>
            <a:endParaRPr lang="en-US" sz="1100" dirty="0"/>
          </a:p>
        </p:txBody>
      </p:sp>
      <p:sp>
        <p:nvSpPr>
          <p:cNvPr id="41" name="Note"/>
          <p:cNvSpPr/>
          <p:nvPr/>
        </p:nvSpPr>
        <p:spPr>
          <a:xfrm>
            <a:off x="502920" y="4682000"/>
            <a:ext cx="8110728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passées ne préjugent pas des performances futures.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4AE8A93-71BE-44CB-9438-2F3D17F0EE10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38</a:t>
            </a:fld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CONVICTION TRANSITION EUROPE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Transition Europe — SCPI thématique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500" y="1520000"/>
            <a:ext cx="985000" cy="620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8,25 %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2024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7,5 %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prév. 2025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47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Diversif.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66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sectorielle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953" name="CH953"/>
          <p:cNvSpPr/>
          <p:nvPr/>
        </p:nvSpPr>
        <p:spPr>
          <a:xfrm>
            <a:off x="502920" y="295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4" name="CT954"/>
          <p:cNvSpPr/>
          <p:nvPr/>
        </p:nvSpPr>
        <p:spPr>
          <a:xfrm>
            <a:off x="658368" y="294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Diversification sectorielle : coworking, santé, éducation, logistique, co-living</a:t>
            </a:r>
            <a:endParaRPr lang="en-US" sz="950" dirty="0"/>
          </a:p>
        </p:txBody>
      </p:sp>
      <p:sp>
        <p:nvSpPr>
          <p:cNvPr id="955" name="CH955"/>
          <p:cNvSpPr/>
          <p:nvPr/>
        </p:nvSpPr>
        <p:spPr>
          <a:xfrm>
            <a:off x="502920" y="324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6" name="CT956"/>
          <p:cNvSpPr/>
          <p:nvPr/>
        </p:nvSpPr>
        <p:spPr>
          <a:xfrm>
            <a:off x="658368" y="323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Répartition : 36 % Espagne, 21 % Allemagne, 15 % Pays-Bas, 13 % Italie</a:t>
            </a:r>
            <a:endParaRPr lang="en-US" sz="950" dirty="0"/>
          </a:p>
        </p:txBody>
      </p:sp>
      <p:sp>
        <p:nvSpPr>
          <p:cNvPr id="957" name="CH957"/>
          <p:cNvSpPr/>
          <p:nvPr/>
        </p:nvSpPr>
        <p:spPr>
          <a:xfrm>
            <a:off x="502920" y="353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8" name="CT958"/>
          <p:cNvSpPr/>
          <p:nvPr/>
        </p:nvSpPr>
        <p:spPr>
          <a:xfrm>
            <a:off x="658368" y="352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Gérants spécialistes des secteurs de la transition économique</a:t>
            </a:r>
            <a:endParaRPr lang="en-US" sz="950" dirty="0"/>
          </a:p>
        </p:txBody>
      </p:sp>
      <p:sp>
        <p:nvSpPr>
          <p:cNvPr id="959" name="CH959"/>
          <p:cNvSpPr/>
          <p:nvPr/>
        </p:nvSpPr>
        <p:spPr>
          <a:xfrm>
            <a:off x="602920" y="4097244"/>
            <a:ext cx="620000" cy="462756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0" name="CT960"/>
          <p:cNvSpPr/>
          <p:nvPr/>
        </p:nvSpPr>
        <p:spPr>
          <a:xfrm>
            <a:off x="522920" y="391224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7,84 %</a:t>
            </a:r>
            <a:endParaRPr lang="en-US" sz="900" dirty="0"/>
          </a:p>
        </p:txBody>
      </p:sp>
      <p:sp>
        <p:nvSpPr>
          <p:cNvPr id="961" name="CT961"/>
          <p:cNvSpPr/>
          <p:nvPr/>
        </p:nvSpPr>
        <p:spPr>
          <a:xfrm>
            <a:off x="52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2022</a:t>
            </a:r>
            <a:endParaRPr lang="en-US" sz="700" dirty="0"/>
          </a:p>
        </p:txBody>
      </p:sp>
      <p:sp>
        <p:nvSpPr>
          <p:cNvPr id="962" name="CH962"/>
          <p:cNvSpPr/>
          <p:nvPr/>
        </p:nvSpPr>
        <p:spPr>
          <a:xfrm>
            <a:off x="2429586" y="4078356"/>
            <a:ext cx="620000" cy="481644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3" name="CT963"/>
          <p:cNvSpPr/>
          <p:nvPr/>
        </p:nvSpPr>
        <p:spPr>
          <a:xfrm>
            <a:off x="2349586" y="3893356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8,16 %</a:t>
            </a:r>
            <a:endParaRPr lang="en-US" sz="900" dirty="0"/>
          </a:p>
        </p:txBody>
      </p:sp>
      <p:sp>
        <p:nvSpPr>
          <p:cNvPr id="964" name="CT964"/>
          <p:cNvSpPr/>
          <p:nvPr/>
        </p:nvSpPr>
        <p:spPr>
          <a:xfrm>
            <a:off x="2349586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2023</a:t>
            </a:r>
            <a:endParaRPr lang="en-US" sz="700" dirty="0"/>
          </a:p>
        </p:txBody>
      </p:sp>
      <p:sp>
        <p:nvSpPr>
          <p:cNvPr id="965" name="CH965"/>
          <p:cNvSpPr/>
          <p:nvPr/>
        </p:nvSpPr>
        <p:spPr>
          <a:xfrm>
            <a:off x="4256252" y="4073044"/>
            <a:ext cx="620000" cy="486956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6" name="CT966"/>
          <p:cNvSpPr/>
          <p:nvPr/>
        </p:nvSpPr>
        <p:spPr>
          <a:xfrm>
            <a:off x="4176252" y="388804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8,25 %</a:t>
            </a:r>
            <a:endParaRPr lang="en-US" sz="900" dirty="0"/>
          </a:p>
        </p:txBody>
      </p:sp>
      <p:sp>
        <p:nvSpPr>
          <p:cNvPr id="967" name="CT967"/>
          <p:cNvSpPr/>
          <p:nvPr/>
        </p:nvSpPr>
        <p:spPr>
          <a:xfrm>
            <a:off x="4176252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2024</a:t>
            </a:r>
            <a:endParaRPr lang="en-US" sz="700" dirty="0"/>
          </a:p>
        </p:txBody>
      </p:sp>
      <p:sp>
        <p:nvSpPr>
          <p:cNvPr id="968" name="CH968"/>
          <p:cNvSpPr/>
          <p:nvPr/>
        </p:nvSpPr>
        <p:spPr>
          <a:xfrm>
            <a:off x="6082918" y="4117313"/>
            <a:ext cx="620000" cy="442687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9" name="CT969"/>
          <p:cNvSpPr/>
          <p:nvPr/>
        </p:nvSpPr>
        <p:spPr>
          <a:xfrm>
            <a:off x="6002918" y="3932313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7,50 %</a:t>
            </a:r>
            <a:endParaRPr lang="en-US" sz="900" dirty="0"/>
          </a:p>
        </p:txBody>
      </p:sp>
      <p:sp>
        <p:nvSpPr>
          <p:cNvPr id="970" name="CT970"/>
          <p:cNvSpPr/>
          <p:nvPr/>
        </p:nvSpPr>
        <p:spPr>
          <a:xfrm>
            <a:off x="6002918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Prév. 2025</a:t>
            </a:r>
            <a:endParaRPr lang="en-US" sz="700" dirty="0"/>
          </a:p>
        </p:txBody>
      </p:sp>
      <p:sp>
        <p:nvSpPr>
          <p:cNvPr id="971" name="CH971"/>
          <p:cNvSpPr/>
          <p:nvPr/>
        </p:nvSpPr>
        <p:spPr>
          <a:xfrm>
            <a:off x="502920" y="4560000"/>
            <a:ext cx="6400000" cy="10973"/>
          </a:xfrm>
          <a:prstGeom prst="rect">
            <a:avLst/>
          </a:prstGeom>
          <a:solidFill>
            <a:srgbClr val="CFC8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2" name="CT972"/>
          <p:cNvSpPr/>
          <p:nvPr/>
        </p:nvSpPr>
        <p:spPr>
          <a:xfrm>
            <a:off x="7100000" y="4000000"/>
            <a:ext cx="1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1A1A"/>
                </a:solidFill>
                <a:latin typeface="Garamond" pitchFamily="34" charset="0"/>
              </a:rPr>
              <a:t>8,25 %</a:t>
            </a:r>
            <a:endParaRPr lang="en-US" sz="1600" dirty="0"/>
          </a:p>
        </p:txBody>
      </p:sp>
      <p:sp>
        <p:nvSpPr>
          <p:cNvPr id="973" name="CT973"/>
          <p:cNvSpPr/>
          <p:nvPr/>
        </p:nvSpPr>
        <p:spPr>
          <a:xfrm>
            <a:off x="7100000" y="4310000"/>
            <a:ext cx="14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9080"/>
                </a:solidFill>
                <a:latin typeface="Calibri" pitchFamily="34" charset="0"/>
              </a:rPr>
              <a:t>meilleure année</a:t>
            </a:r>
            <a:endParaRPr lang="en-US" sz="750" dirty="0"/>
          </a:p>
        </p:txBody>
      </p:sp>
      <p:sp>
        <p:nvSpPr>
          <p:cNvPr id="974" name="CT974"/>
          <p:cNvSpPr/>
          <p:nvPr/>
        </p:nvSpPr>
        <p:spPr>
          <a:xfrm>
            <a:off x="502920" y="4750000"/>
            <a:ext cx="56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</a:rPr>
              <a:t>Variation du prix de part : +1 % en 2025</a:t>
            </a:r>
            <a:endParaRPr lang="en-US" sz="750" dirty="0"/>
          </a:p>
        </p:txBody>
      </p:sp>
      <p:sp>
        <p:nvSpPr>
          <p:cNvPr id="975" name="CT975"/>
          <p:cNvSpPr/>
          <p:nvPr/>
        </p:nvSpPr>
        <p:spPr>
          <a:xfrm>
            <a:off x="502920" y="4880000"/>
            <a:ext cx="8110728" cy="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i="1" dirty="0">
                <a:solidFill>
                  <a:srgbClr val="A09080"/>
                </a:solidFill>
                <a:latin typeface="Calibri" pitchFamily="34" charset="0"/>
              </a:rPr>
              <a:t>Les performances passées ne préjugent pas des performances futures. Document à usage interne — confidentiel.</a:t>
            </a:r>
            <a:endParaRPr lang="en-US" sz="6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355E9B36-ECFC-4410-B165-2E38CACF8D08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39</a:t>
            </a:fld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ACTIFS TRANSITION EUROPE</a:t>
            </a:r>
            <a:endParaRPr lang="en-US" sz="1100" dirty="0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760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Actifs immobiliers — Transition Europe</a:t>
            </a:r>
            <a:endParaRPr lang="en-US" sz="1100" dirty="0"/>
          </a:p>
        </p:txBody>
      </p:sp>
      <p:pic>
        <p:nvPicPr>
          <p:cNvPr id="247" name="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48" name="Lieu"/>
          <p:cNvSpPr/>
          <p:nvPr/>
        </p:nvSpPr>
        <p:spPr>
          <a:xfrm>
            <a:off x="502920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PÔLE PHARMACEUTIQUE</a:t>
            </a:r>
            <a:endParaRPr lang="en-US" sz="1100" dirty="0"/>
          </a:p>
        </p:txBody>
      </p:sp>
      <p:sp>
        <p:nvSpPr>
          <p:cNvPr id="249" name="Sous"/>
          <p:cNvSpPr/>
          <p:nvPr/>
        </p:nvSpPr>
        <p:spPr>
          <a:xfrm>
            <a:off x="502920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 · Acquis juillet 2025</a:t>
            </a:r>
            <a:endParaRPr lang="en-US" sz="1100" dirty="0"/>
          </a:p>
        </p:txBody>
      </p:sp>
      <p:sp>
        <p:nvSpPr>
          <p:cNvPr id="250" name="Filet"/>
          <p:cNvSpPr/>
          <p:nvPr/>
        </p:nvSpPr>
        <p:spPr>
          <a:xfrm>
            <a:off x="502920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1" name="StV0"/>
          <p:cNvSpPr/>
          <p:nvPr/>
        </p:nvSpPr>
        <p:spPr>
          <a:xfrm>
            <a:off x="502920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27 M€</a:t>
            </a:r>
            <a:endParaRPr lang="en-US" sz="1100" dirty="0"/>
          </a:p>
        </p:txBody>
      </p:sp>
      <p:sp>
        <p:nvSpPr>
          <p:cNvPr id="252" name="StL0"/>
          <p:cNvSpPr/>
          <p:nvPr/>
        </p:nvSpPr>
        <p:spPr>
          <a:xfrm>
            <a:off x="502920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AEM</a:t>
            </a:r>
            <a:endParaRPr lang="en-US" sz="1100" dirty="0"/>
          </a:p>
        </p:txBody>
      </p:sp>
      <p:sp>
        <p:nvSpPr>
          <p:cNvPr id="253" name="StV1"/>
          <p:cNvSpPr/>
          <p:nvPr/>
        </p:nvSpPr>
        <p:spPr>
          <a:xfrm>
            <a:off x="1798320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8 500 m²</a:t>
            </a:r>
            <a:endParaRPr lang="en-US" sz="1100" dirty="0"/>
          </a:p>
        </p:txBody>
      </p:sp>
      <p:sp>
        <p:nvSpPr>
          <p:cNvPr id="254" name="StL1"/>
          <p:cNvSpPr/>
          <p:nvPr/>
        </p:nvSpPr>
        <p:spPr>
          <a:xfrm>
            <a:off x="1798320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55" name="StV2"/>
          <p:cNvSpPr/>
          <p:nvPr/>
        </p:nvSpPr>
        <p:spPr>
          <a:xfrm>
            <a:off x="3093720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2,2 M€</a:t>
            </a:r>
            <a:endParaRPr lang="en-US" sz="1100" dirty="0"/>
          </a:p>
        </p:txBody>
      </p:sp>
      <p:sp>
        <p:nvSpPr>
          <p:cNvPr id="256" name="StL2"/>
          <p:cNvSpPr/>
          <p:nvPr/>
        </p:nvSpPr>
        <p:spPr>
          <a:xfrm>
            <a:off x="3093720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 annuel brut</a:t>
            </a:r>
            <a:endParaRPr lang="en-US" sz="1100" dirty="0"/>
          </a:p>
        </p:txBody>
      </p:sp>
      <p:pic>
        <p:nvPicPr>
          <p:cNvPr id="257" name="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58" name="Lieu"/>
          <p:cNvSpPr/>
          <p:nvPr/>
        </p:nvSpPr>
        <p:spPr>
          <a:xfrm>
            <a:off x="4727448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PLATEFORME LOGISTIQUE</a:t>
            </a:r>
            <a:endParaRPr lang="en-US" sz="1100" dirty="0"/>
          </a:p>
        </p:txBody>
      </p:sp>
      <p:sp>
        <p:nvSpPr>
          <p:cNvPr id="259" name="Sous"/>
          <p:cNvSpPr/>
          <p:nvPr/>
        </p:nvSpPr>
        <p:spPr>
          <a:xfrm>
            <a:off x="4727448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· Acquis août 2025</a:t>
            </a:r>
            <a:endParaRPr lang="en-US" sz="1100" dirty="0"/>
          </a:p>
        </p:txBody>
      </p:sp>
      <p:sp>
        <p:nvSpPr>
          <p:cNvPr id="260" name="Filet"/>
          <p:cNvSpPr/>
          <p:nvPr/>
        </p:nvSpPr>
        <p:spPr>
          <a:xfrm>
            <a:off x="4727448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1" name="StV0"/>
          <p:cNvSpPr/>
          <p:nvPr/>
        </p:nvSpPr>
        <p:spPr>
          <a:xfrm>
            <a:off x="47274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32 M€</a:t>
            </a:r>
            <a:endParaRPr lang="en-US" sz="1100" dirty="0"/>
          </a:p>
        </p:txBody>
      </p:sp>
      <p:sp>
        <p:nvSpPr>
          <p:cNvPr id="262" name="StL0"/>
          <p:cNvSpPr/>
          <p:nvPr/>
        </p:nvSpPr>
        <p:spPr>
          <a:xfrm>
            <a:off x="47274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AEM</a:t>
            </a:r>
            <a:endParaRPr lang="en-US" sz="1100" dirty="0"/>
          </a:p>
        </p:txBody>
      </p:sp>
      <p:sp>
        <p:nvSpPr>
          <p:cNvPr id="263" name="StV1"/>
          <p:cNvSpPr/>
          <p:nvPr/>
        </p:nvSpPr>
        <p:spPr>
          <a:xfrm>
            <a:off x="60228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34 000 m²</a:t>
            </a:r>
            <a:endParaRPr lang="en-US" sz="1100" dirty="0"/>
          </a:p>
        </p:txBody>
      </p:sp>
      <p:sp>
        <p:nvSpPr>
          <p:cNvPr id="264" name="StL1"/>
          <p:cNvSpPr/>
          <p:nvPr/>
        </p:nvSpPr>
        <p:spPr>
          <a:xfrm>
            <a:off x="60228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65" name="StV2"/>
          <p:cNvSpPr/>
          <p:nvPr/>
        </p:nvSpPr>
        <p:spPr>
          <a:xfrm>
            <a:off x="73182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M€</a:t>
            </a:r>
            <a:endParaRPr lang="en-US" sz="1100" dirty="0"/>
          </a:p>
        </p:txBody>
      </p:sp>
      <p:sp>
        <p:nvSpPr>
          <p:cNvPr id="266" name="StL2"/>
          <p:cNvSpPr/>
          <p:nvPr/>
        </p:nvSpPr>
        <p:spPr>
          <a:xfrm>
            <a:off x="73182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 annuel brut</a:t>
            </a:r>
            <a:endParaRPr lang="en-US" sz="1100" dirty="0"/>
          </a:p>
        </p:txBody>
      </p:sp>
      <p:sp>
        <p:nvSpPr>
          <p:cNvPr id="41" name="Note"/>
          <p:cNvSpPr/>
          <p:nvPr/>
        </p:nvSpPr>
        <p:spPr>
          <a:xfrm>
            <a:off x="502920" y="4682000"/>
            <a:ext cx="8110728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passées ne préjugent pas des performances futures.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1D23A18B-A4A7-4210-BB02-4A714D0B6DE0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40</a:t>
            </a:fld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ACTIFS TRANSITION EUROPE</a:t>
            </a:r>
            <a:endParaRPr lang="en-US" sz="1100" dirty="0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7600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Acquisitions récentes — Transition Europe</a:t>
            </a:r>
            <a:endParaRPr lang="en-US" sz="1100" dirty="0"/>
          </a:p>
        </p:txBody>
      </p:sp>
      <p:pic>
        <p:nvPicPr>
          <p:cNvPr id="267" name="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68" name="Lieu"/>
          <p:cNvSpPr/>
          <p:nvPr/>
        </p:nvSpPr>
        <p:spPr>
          <a:xfrm>
            <a:off x="502920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BUREAUX</a:t>
            </a:r>
            <a:endParaRPr lang="en-US" sz="1100" dirty="0"/>
          </a:p>
        </p:txBody>
      </p:sp>
      <p:sp>
        <p:nvSpPr>
          <p:cNvPr id="269" name="Sous"/>
          <p:cNvSpPr/>
          <p:nvPr/>
        </p:nvSpPr>
        <p:spPr>
          <a:xfrm>
            <a:off x="502920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 février 2025</a:t>
            </a:r>
            <a:endParaRPr lang="en-US" sz="1100" dirty="0"/>
          </a:p>
        </p:txBody>
      </p:sp>
      <p:sp>
        <p:nvSpPr>
          <p:cNvPr id="270" name="Filet"/>
          <p:cNvSpPr/>
          <p:nvPr/>
        </p:nvSpPr>
        <p:spPr>
          <a:xfrm>
            <a:off x="502920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1" name="StV0"/>
          <p:cNvSpPr/>
          <p:nvPr/>
        </p:nvSpPr>
        <p:spPr>
          <a:xfrm>
            <a:off x="502920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61 M€</a:t>
            </a:r>
            <a:endParaRPr lang="en-US" sz="1100" dirty="0"/>
          </a:p>
        </p:txBody>
      </p:sp>
      <p:sp>
        <p:nvSpPr>
          <p:cNvPr id="272" name="StL0"/>
          <p:cNvSpPr/>
          <p:nvPr/>
        </p:nvSpPr>
        <p:spPr>
          <a:xfrm>
            <a:off x="502920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AEM</a:t>
            </a:r>
            <a:endParaRPr lang="en-US" sz="1100" dirty="0"/>
          </a:p>
        </p:txBody>
      </p:sp>
      <p:sp>
        <p:nvSpPr>
          <p:cNvPr id="273" name="StV1"/>
          <p:cNvSpPr/>
          <p:nvPr/>
        </p:nvSpPr>
        <p:spPr>
          <a:xfrm>
            <a:off x="1798320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32 000 m²</a:t>
            </a:r>
            <a:endParaRPr lang="en-US" sz="1100" dirty="0"/>
          </a:p>
        </p:txBody>
      </p:sp>
      <p:sp>
        <p:nvSpPr>
          <p:cNvPr id="274" name="StL1"/>
          <p:cNvSpPr/>
          <p:nvPr/>
        </p:nvSpPr>
        <p:spPr>
          <a:xfrm>
            <a:off x="1798320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75" name="StV2"/>
          <p:cNvSpPr/>
          <p:nvPr/>
        </p:nvSpPr>
        <p:spPr>
          <a:xfrm>
            <a:off x="3093720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 M€</a:t>
            </a:r>
            <a:endParaRPr lang="en-US" sz="1100" dirty="0"/>
          </a:p>
        </p:txBody>
      </p:sp>
      <p:sp>
        <p:nvSpPr>
          <p:cNvPr id="276" name="StL2"/>
          <p:cNvSpPr/>
          <p:nvPr/>
        </p:nvSpPr>
        <p:spPr>
          <a:xfrm>
            <a:off x="3093720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 annuel brut</a:t>
            </a:r>
            <a:endParaRPr lang="en-US" sz="1100" dirty="0"/>
          </a:p>
        </p:txBody>
      </p:sp>
      <p:pic>
        <p:nvPicPr>
          <p:cNvPr id="277" name="Ph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450000"/>
            <a:ext cx="3886200" cy="1750000"/>
          </a:xfrm>
          <a:prstGeom prst="rect">
            <a:avLst/>
          </a:prstGeom>
          <a:ln w="12700">
            <a:solidFill>
              <a:srgbClr val="CFC8BD"/>
            </a:solidFill>
          </a:ln>
        </p:spPr>
      </p:pic>
      <p:sp>
        <p:nvSpPr>
          <p:cNvPr id="278" name="Lieu"/>
          <p:cNvSpPr/>
          <p:nvPr/>
        </p:nvSpPr>
        <p:spPr>
          <a:xfrm>
            <a:off x="4727448" y="3280000"/>
            <a:ext cx="38862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HOSPITALITY</a:t>
            </a:r>
            <a:endParaRPr lang="en-US" sz="1100" dirty="0"/>
          </a:p>
        </p:txBody>
      </p:sp>
      <p:sp>
        <p:nvSpPr>
          <p:cNvPr id="279" name="Sous"/>
          <p:cNvSpPr/>
          <p:nvPr/>
        </p:nvSpPr>
        <p:spPr>
          <a:xfrm>
            <a:off x="4727448" y="3480000"/>
            <a:ext cx="38862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 mars 2025</a:t>
            </a:r>
            <a:endParaRPr lang="en-US" sz="1100" dirty="0"/>
          </a:p>
        </p:txBody>
      </p:sp>
      <p:sp>
        <p:nvSpPr>
          <p:cNvPr id="280" name="Filet"/>
          <p:cNvSpPr/>
          <p:nvPr/>
        </p:nvSpPr>
        <p:spPr>
          <a:xfrm>
            <a:off x="4727448" y="3650000"/>
            <a:ext cx="347472" cy="180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1" name="StV0"/>
          <p:cNvSpPr/>
          <p:nvPr/>
        </p:nvSpPr>
        <p:spPr>
          <a:xfrm>
            <a:off x="47274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 M€</a:t>
            </a:r>
            <a:endParaRPr lang="en-US" sz="1100" dirty="0"/>
          </a:p>
        </p:txBody>
      </p:sp>
      <p:sp>
        <p:nvSpPr>
          <p:cNvPr id="282" name="StL0"/>
          <p:cNvSpPr/>
          <p:nvPr/>
        </p:nvSpPr>
        <p:spPr>
          <a:xfrm>
            <a:off x="47274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AEM</a:t>
            </a:r>
            <a:endParaRPr lang="en-US" sz="1100" dirty="0"/>
          </a:p>
        </p:txBody>
      </p:sp>
      <p:sp>
        <p:nvSpPr>
          <p:cNvPr id="283" name="StV1"/>
          <p:cNvSpPr/>
          <p:nvPr/>
        </p:nvSpPr>
        <p:spPr>
          <a:xfrm>
            <a:off x="60228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8 200 m²</a:t>
            </a:r>
            <a:endParaRPr lang="en-US" sz="1100" dirty="0"/>
          </a:p>
        </p:txBody>
      </p:sp>
      <p:sp>
        <p:nvSpPr>
          <p:cNvPr id="284" name="StL1"/>
          <p:cNvSpPr/>
          <p:nvPr/>
        </p:nvSpPr>
        <p:spPr>
          <a:xfrm>
            <a:off x="60228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</p:txBody>
      </p:sp>
      <p:sp>
        <p:nvSpPr>
          <p:cNvPr id="285" name="StV2"/>
          <p:cNvSpPr/>
          <p:nvPr/>
        </p:nvSpPr>
        <p:spPr>
          <a:xfrm>
            <a:off x="7318248" y="3750000"/>
            <a:ext cx="1235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 M€</a:t>
            </a:r>
            <a:endParaRPr lang="en-US" sz="1100" dirty="0"/>
          </a:p>
        </p:txBody>
      </p:sp>
      <p:sp>
        <p:nvSpPr>
          <p:cNvPr id="286" name="StL2"/>
          <p:cNvSpPr/>
          <p:nvPr/>
        </p:nvSpPr>
        <p:spPr>
          <a:xfrm>
            <a:off x="7318248" y="3950000"/>
            <a:ext cx="12354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 annuel brut</a:t>
            </a:r>
            <a:endParaRPr lang="en-US" sz="1100" dirty="0"/>
          </a:p>
        </p:txBody>
      </p:sp>
      <p:sp>
        <p:nvSpPr>
          <p:cNvPr id="41" name="Note"/>
          <p:cNvSpPr/>
          <p:nvPr/>
        </p:nvSpPr>
        <p:spPr>
          <a:xfrm>
            <a:off x="502920" y="4682000"/>
            <a:ext cx="8110728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performances passées ne préjugent pas des performances futures.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CD0746E8-FB33-4697-A845-8B97A0CDD877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41</a:t>
            </a:fld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CONVICTION NOVAPIERRE PRIMA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Novapierre Prima — 100 % Allemagne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128" y="1520000"/>
            <a:ext cx="1937744" cy="680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5 %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2024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100 %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47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Commerce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66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proximité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976" name="CH976"/>
          <p:cNvSpPr/>
          <p:nvPr/>
        </p:nvSpPr>
        <p:spPr>
          <a:xfrm>
            <a:off x="502920" y="295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7" name="CT977"/>
          <p:cNvSpPr/>
          <p:nvPr/>
        </p:nvSpPr>
        <p:spPr>
          <a:xfrm>
            <a:off x="658368" y="294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Équipe expérimentée et locale (74,5 milliards gérés dans le monde)</a:t>
            </a:r>
            <a:endParaRPr lang="en-US" sz="950" dirty="0"/>
          </a:p>
        </p:txBody>
      </p:sp>
      <p:sp>
        <p:nvSpPr>
          <p:cNvPr id="978" name="CH978"/>
          <p:cNvSpPr/>
          <p:nvPr/>
        </p:nvSpPr>
        <p:spPr>
          <a:xfrm>
            <a:off x="502920" y="324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9" name="CT979"/>
          <p:cNvSpPr/>
          <p:nvPr/>
        </p:nvSpPr>
        <p:spPr>
          <a:xfrm>
            <a:off x="658368" y="323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100 % commerce de proximité — résilient en toutes conjonctures</a:t>
            </a:r>
            <a:endParaRPr lang="en-US" sz="950" dirty="0"/>
          </a:p>
        </p:txBody>
      </p:sp>
      <p:sp>
        <p:nvSpPr>
          <p:cNvPr id="980" name="CH980"/>
          <p:cNvSpPr/>
          <p:nvPr/>
        </p:nvSpPr>
        <p:spPr>
          <a:xfrm>
            <a:off x="502920" y="353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1" name="CT981"/>
          <p:cNvSpPr/>
          <p:nvPr/>
        </p:nvSpPr>
        <p:spPr>
          <a:xfrm>
            <a:off x="658368" y="352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Track record solide avec Novapierre Allemagne 1</a:t>
            </a:r>
            <a:endParaRPr lang="en-US" sz="950" dirty="0"/>
          </a:p>
        </p:txBody>
      </p:sp>
      <p:sp>
        <p:nvSpPr>
          <p:cNvPr id="982" name="CH982"/>
          <p:cNvSpPr/>
          <p:nvPr/>
        </p:nvSpPr>
        <p:spPr>
          <a:xfrm>
            <a:off x="602920" y="4403200"/>
            <a:ext cx="620000" cy="1568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3" name="CT983"/>
          <p:cNvSpPr/>
          <p:nvPr/>
        </p:nvSpPr>
        <p:spPr>
          <a:xfrm>
            <a:off x="522920" y="4218200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1,61 %</a:t>
            </a:r>
            <a:endParaRPr lang="en-US" sz="900" dirty="0"/>
          </a:p>
        </p:txBody>
      </p:sp>
      <p:sp>
        <p:nvSpPr>
          <p:cNvPr id="984" name="CT984"/>
          <p:cNvSpPr/>
          <p:nvPr/>
        </p:nvSpPr>
        <p:spPr>
          <a:xfrm>
            <a:off x="52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2020</a:t>
            </a:r>
            <a:endParaRPr lang="en-US" sz="700" dirty="0"/>
          </a:p>
        </p:txBody>
      </p:sp>
      <p:sp>
        <p:nvSpPr>
          <p:cNvPr id="985" name="CH985"/>
          <p:cNvSpPr/>
          <p:nvPr/>
        </p:nvSpPr>
        <p:spPr>
          <a:xfrm>
            <a:off x="1972920" y="4229844"/>
            <a:ext cx="620000" cy="330156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6" name="CT986"/>
          <p:cNvSpPr/>
          <p:nvPr/>
        </p:nvSpPr>
        <p:spPr>
          <a:xfrm>
            <a:off x="1892920" y="404484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3,39 %</a:t>
            </a:r>
            <a:endParaRPr lang="en-US" sz="900" dirty="0"/>
          </a:p>
        </p:txBody>
      </p:sp>
      <p:sp>
        <p:nvSpPr>
          <p:cNvPr id="987" name="CT987"/>
          <p:cNvSpPr/>
          <p:nvPr/>
        </p:nvSpPr>
        <p:spPr>
          <a:xfrm>
            <a:off x="189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2021</a:t>
            </a:r>
            <a:endParaRPr lang="en-US" sz="700" dirty="0"/>
          </a:p>
        </p:txBody>
      </p:sp>
      <p:sp>
        <p:nvSpPr>
          <p:cNvPr id="988" name="CH988"/>
          <p:cNvSpPr/>
          <p:nvPr/>
        </p:nvSpPr>
        <p:spPr>
          <a:xfrm>
            <a:off x="3342920" y="4121740"/>
            <a:ext cx="620000" cy="43826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9" name="CT989"/>
          <p:cNvSpPr/>
          <p:nvPr/>
        </p:nvSpPr>
        <p:spPr>
          <a:xfrm>
            <a:off x="3262920" y="3936740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4,50 %</a:t>
            </a:r>
            <a:endParaRPr lang="en-US" sz="900" dirty="0"/>
          </a:p>
        </p:txBody>
      </p:sp>
      <p:sp>
        <p:nvSpPr>
          <p:cNvPr id="990" name="CT990"/>
          <p:cNvSpPr/>
          <p:nvPr/>
        </p:nvSpPr>
        <p:spPr>
          <a:xfrm>
            <a:off x="326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2022</a:t>
            </a:r>
            <a:endParaRPr lang="en-US" sz="700" dirty="0"/>
          </a:p>
        </p:txBody>
      </p:sp>
      <p:sp>
        <p:nvSpPr>
          <p:cNvPr id="991" name="CH991"/>
          <p:cNvSpPr/>
          <p:nvPr/>
        </p:nvSpPr>
        <p:spPr>
          <a:xfrm>
            <a:off x="4712920" y="4092522"/>
            <a:ext cx="620000" cy="467478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2" name="CT992"/>
          <p:cNvSpPr/>
          <p:nvPr/>
        </p:nvSpPr>
        <p:spPr>
          <a:xfrm>
            <a:off x="4632920" y="3907522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4,80 %</a:t>
            </a:r>
            <a:endParaRPr lang="en-US" sz="900" dirty="0"/>
          </a:p>
        </p:txBody>
      </p:sp>
      <p:sp>
        <p:nvSpPr>
          <p:cNvPr id="993" name="CT993"/>
          <p:cNvSpPr/>
          <p:nvPr/>
        </p:nvSpPr>
        <p:spPr>
          <a:xfrm>
            <a:off x="463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2023</a:t>
            </a:r>
            <a:endParaRPr lang="en-US" sz="700" dirty="0"/>
          </a:p>
        </p:txBody>
      </p:sp>
      <p:sp>
        <p:nvSpPr>
          <p:cNvPr id="994" name="CH994"/>
          <p:cNvSpPr/>
          <p:nvPr/>
        </p:nvSpPr>
        <p:spPr>
          <a:xfrm>
            <a:off x="6082920" y="4073044"/>
            <a:ext cx="620000" cy="486956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5" name="CT995"/>
          <p:cNvSpPr/>
          <p:nvPr/>
        </p:nvSpPr>
        <p:spPr>
          <a:xfrm>
            <a:off x="6002920" y="388804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5,00 %</a:t>
            </a:r>
            <a:endParaRPr lang="en-US" sz="900" dirty="0"/>
          </a:p>
        </p:txBody>
      </p:sp>
      <p:sp>
        <p:nvSpPr>
          <p:cNvPr id="996" name="CT996"/>
          <p:cNvSpPr/>
          <p:nvPr/>
        </p:nvSpPr>
        <p:spPr>
          <a:xfrm>
            <a:off x="600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2024</a:t>
            </a:r>
            <a:endParaRPr lang="en-US" sz="700" dirty="0"/>
          </a:p>
        </p:txBody>
      </p:sp>
      <p:sp>
        <p:nvSpPr>
          <p:cNvPr id="997" name="CH997"/>
          <p:cNvSpPr/>
          <p:nvPr/>
        </p:nvSpPr>
        <p:spPr>
          <a:xfrm>
            <a:off x="502920" y="4560000"/>
            <a:ext cx="6400000" cy="10973"/>
          </a:xfrm>
          <a:prstGeom prst="rect">
            <a:avLst/>
          </a:prstGeom>
          <a:solidFill>
            <a:srgbClr val="CFC8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8" name="CT998"/>
          <p:cNvSpPr/>
          <p:nvPr/>
        </p:nvSpPr>
        <p:spPr>
          <a:xfrm>
            <a:off x="7100000" y="4000000"/>
            <a:ext cx="1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1A1A"/>
                </a:solidFill>
                <a:latin typeface="Garamond" pitchFamily="34" charset="0"/>
              </a:rPr>
              <a:t>5,00 %</a:t>
            </a:r>
            <a:endParaRPr lang="en-US" sz="1600" dirty="0"/>
          </a:p>
        </p:txBody>
      </p:sp>
      <p:sp>
        <p:nvSpPr>
          <p:cNvPr id="999" name="CT999"/>
          <p:cNvSpPr/>
          <p:nvPr/>
        </p:nvSpPr>
        <p:spPr>
          <a:xfrm>
            <a:off x="7100000" y="4310000"/>
            <a:ext cx="14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9080"/>
                </a:solidFill>
                <a:latin typeface="Calibri" pitchFamily="34" charset="0"/>
              </a:rPr>
              <a:t>en 2024</a:t>
            </a:r>
            <a:endParaRPr lang="en-US" sz="750" dirty="0"/>
          </a:p>
        </p:txBody>
      </p:sp>
      <p:sp>
        <p:nvSpPr>
          <p:cNvPr id="1000" name="CT1000"/>
          <p:cNvSpPr/>
          <p:nvPr/>
        </p:nvSpPr>
        <p:spPr>
          <a:xfrm>
            <a:off x="502920" y="4750000"/>
            <a:ext cx="56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</a:rPr>
              <a:t>Variation du prix de part : +4 % en 2022</a:t>
            </a:r>
            <a:endParaRPr lang="en-US" sz="750" dirty="0"/>
          </a:p>
        </p:txBody>
      </p:sp>
      <p:sp>
        <p:nvSpPr>
          <p:cNvPr id="1001" name="CT1001"/>
          <p:cNvSpPr/>
          <p:nvPr/>
        </p:nvSpPr>
        <p:spPr>
          <a:xfrm>
            <a:off x="502920" y="4880000"/>
            <a:ext cx="8110728" cy="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i="1" dirty="0">
                <a:solidFill>
                  <a:srgbClr val="A09080"/>
                </a:solidFill>
                <a:latin typeface="Calibri" pitchFamily="34" charset="0"/>
              </a:rPr>
              <a:t>Les performances passées ne préjugent pas des performances futures. Document à usage interne — confidentiel.</a:t>
            </a:r>
            <a:endParaRPr lang="en-US" sz="6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9EAD54F2-8A73-4A05-860B-48B0ACA899B1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42</a:t>
            </a:fld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SCPI · CONVICTION PIERVAL SANTÉ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Pierval Santé — Immobilier de santé européen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8" name="LogoPartner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500" y="1520000"/>
            <a:ext cx="1615000" cy="680000"/>
          </a:xfrm>
          <a:prstGeom prst="rect">
            <a:avLst/>
          </a:prstGeom>
        </p:spPr>
      </p:pic>
      <p:sp>
        <p:nvSpPr>
          <p:cNvPr id="23" name="SV0"/>
          <p:cNvSpPr/>
          <p:nvPr/>
        </p:nvSpPr>
        <p:spPr>
          <a:xfrm>
            <a:off x="502920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2,9 Mds€</a:t>
            </a:r>
            <a:endParaRPr lang="en-US" sz="1100" dirty="0"/>
          </a:p>
        </p:txBody>
      </p:sp>
      <p:sp>
        <p:nvSpPr>
          <p:cNvPr id="24" name="SL0"/>
          <p:cNvSpPr/>
          <p:nvPr/>
        </p:nvSpPr>
        <p:spPr>
          <a:xfrm>
            <a:off x="502920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capitalisation</a:t>
            </a:r>
            <a:endParaRPr lang="en-US" sz="1100" dirty="0"/>
          </a:p>
        </p:txBody>
      </p:sp>
      <p:sp>
        <p:nvSpPr>
          <p:cNvPr id="25" name="SS0"/>
          <p:cNvSpPr/>
          <p:nvPr/>
        </p:nvSpPr>
        <p:spPr>
          <a:xfrm>
            <a:off x="3195523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V1"/>
          <p:cNvSpPr/>
          <p:nvPr/>
        </p:nvSpPr>
        <p:spPr>
          <a:xfrm>
            <a:off x="3206496" y="2470000"/>
            <a:ext cx="2692603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183 immeubles</a:t>
            </a:r>
            <a:endParaRPr lang="en-US" sz="1100" dirty="0"/>
          </a:p>
        </p:txBody>
      </p:sp>
      <p:sp>
        <p:nvSpPr>
          <p:cNvPr id="27" name="SL1"/>
          <p:cNvSpPr/>
          <p:nvPr/>
        </p:nvSpPr>
        <p:spPr>
          <a:xfrm>
            <a:off x="3206496" y="2660000"/>
            <a:ext cx="2692603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</a:t>
            </a:r>
            <a:endParaRPr lang="en-US" sz="1100" dirty="0"/>
          </a:p>
        </p:txBody>
      </p:sp>
      <p:sp>
        <p:nvSpPr>
          <p:cNvPr id="28" name="SS1"/>
          <p:cNvSpPr/>
          <p:nvPr/>
        </p:nvSpPr>
        <p:spPr>
          <a:xfrm>
            <a:off x="5899099" y="2470000"/>
            <a:ext cx="10973" cy="32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V2"/>
          <p:cNvSpPr/>
          <p:nvPr/>
        </p:nvSpPr>
        <p:spPr>
          <a:xfrm>
            <a:off x="5910072" y="2470000"/>
            <a:ext cx="2703576" cy="19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 pays</a:t>
            </a:r>
            <a:endParaRPr lang="en-US" sz="1100" dirty="0"/>
          </a:p>
        </p:txBody>
      </p:sp>
      <p:sp>
        <p:nvSpPr>
          <p:cNvPr id="30" name="SL2"/>
          <p:cNvSpPr/>
          <p:nvPr/>
        </p:nvSpPr>
        <p:spPr>
          <a:xfrm>
            <a:off x="5910072" y="2660000"/>
            <a:ext cx="2703576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002" name="CH1002"/>
          <p:cNvSpPr/>
          <p:nvPr/>
        </p:nvSpPr>
        <p:spPr>
          <a:xfrm>
            <a:off x="502920" y="295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3" name="CT1003"/>
          <p:cNvSpPr/>
          <p:nvPr/>
        </p:nvSpPr>
        <p:spPr>
          <a:xfrm>
            <a:off x="658368" y="294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Équipe de spécialistes immobilier et scientifiques — expertise santé</a:t>
            </a:r>
            <a:endParaRPr lang="en-US" sz="950" dirty="0"/>
          </a:p>
        </p:txBody>
      </p:sp>
      <p:sp>
        <p:nvSpPr>
          <p:cNvPr id="1004" name="CH1004"/>
          <p:cNvSpPr/>
          <p:nvPr/>
        </p:nvSpPr>
        <p:spPr>
          <a:xfrm>
            <a:off x="502920" y="324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5" name="CT1005"/>
          <p:cNvSpPr/>
          <p:nvPr/>
        </p:nvSpPr>
        <p:spPr>
          <a:xfrm>
            <a:off x="658368" y="323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Secteur de la santé : résilient et non cyclique</a:t>
            </a:r>
            <a:endParaRPr lang="en-US" sz="950" dirty="0"/>
          </a:p>
        </p:txBody>
      </p:sp>
      <p:sp>
        <p:nvSpPr>
          <p:cNvPr id="1006" name="CH1006"/>
          <p:cNvSpPr/>
          <p:nvPr/>
        </p:nvSpPr>
        <p:spPr>
          <a:xfrm>
            <a:off x="502920" y="3530000"/>
            <a:ext cx="22860" cy="240000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7" name="CT1007"/>
          <p:cNvSpPr/>
          <p:nvPr/>
        </p:nvSpPr>
        <p:spPr>
          <a:xfrm>
            <a:off x="658368" y="3520000"/>
            <a:ext cx="7453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Répartition : 29 % France, 22 % UK, 17 % Allemagne, 12 % Irlande, 16 % Pays-Bas</a:t>
            </a:r>
            <a:endParaRPr lang="en-US" sz="950" dirty="0"/>
          </a:p>
        </p:txBody>
      </p:sp>
      <p:sp>
        <p:nvSpPr>
          <p:cNvPr id="1008" name="CH1008"/>
          <p:cNvSpPr/>
          <p:nvPr/>
        </p:nvSpPr>
        <p:spPr>
          <a:xfrm>
            <a:off x="602920" y="4158642"/>
            <a:ext cx="620000" cy="401358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9" name="CT1009"/>
          <p:cNvSpPr/>
          <p:nvPr/>
        </p:nvSpPr>
        <p:spPr>
          <a:xfrm>
            <a:off x="522920" y="3973642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4,22 %</a:t>
            </a:r>
            <a:endParaRPr lang="en-US" sz="900" dirty="0"/>
          </a:p>
        </p:txBody>
      </p:sp>
      <p:sp>
        <p:nvSpPr>
          <p:cNvPr id="1010" name="CT1010"/>
          <p:cNvSpPr/>
          <p:nvPr/>
        </p:nvSpPr>
        <p:spPr>
          <a:xfrm>
            <a:off x="52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2020</a:t>
            </a:r>
            <a:endParaRPr lang="en-US" sz="700" dirty="0"/>
          </a:p>
        </p:txBody>
      </p:sp>
      <p:sp>
        <p:nvSpPr>
          <p:cNvPr id="1011" name="CH1011"/>
          <p:cNvSpPr/>
          <p:nvPr/>
        </p:nvSpPr>
        <p:spPr>
          <a:xfrm>
            <a:off x="1972920" y="4138669"/>
            <a:ext cx="620000" cy="421331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2" name="CT1012"/>
          <p:cNvSpPr/>
          <p:nvPr/>
        </p:nvSpPr>
        <p:spPr>
          <a:xfrm>
            <a:off x="1892920" y="3953669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4,43 %</a:t>
            </a:r>
            <a:endParaRPr lang="en-US" sz="900" dirty="0"/>
          </a:p>
        </p:txBody>
      </p:sp>
      <p:sp>
        <p:nvSpPr>
          <p:cNvPr id="1013" name="CT1013"/>
          <p:cNvSpPr/>
          <p:nvPr/>
        </p:nvSpPr>
        <p:spPr>
          <a:xfrm>
            <a:off x="189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2021</a:t>
            </a:r>
            <a:endParaRPr lang="en-US" sz="700" dirty="0"/>
          </a:p>
        </p:txBody>
      </p:sp>
      <p:sp>
        <p:nvSpPr>
          <p:cNvPr id="1014" name="CH1014"/>
          <p:cNvSpPr/>
          <p:nvPr/>
        </p:nvSpPr>
        <p:spPr>
          <a:xfrm>
            <a:off x="3342920" y="4114892"/>
            <a:ext cx="620000" cy="445108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5" name="CT1015"/>
          <p:cNvSpPr/>
          <p:nvPr/>
        </p:nvSpPr>
        <p:spPr>
          <a:xfrm>
            <a:off x="3262920" y="3929892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4,68 %</a:t>
            </a:r>
            <a:endParaRPr lang="en-US" sz="900" dirty="0"/>
          </a:p>
        </p:txBody>
      </p:sp>
      <p:sp>
        <p:nvSpPr>
          <p:cNvPr id="1016" name="CT1016"/>
          <p:cNvSpPr/>
          <p:nvPr/>
        </p:nvSpPr>
        <p:spPr>
          <a:xfrm>
            <a:off x="326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2022</a:t>
            </a:r>
            <a:endParaRPr lang="en-US" sz="700" dirty="0"/>
          </a:p>
        </p:txBody>
      </p:sp>
      <p:sp>
        <p:nvSpPr>
          <p:cNvPr id="1017" name="CH1017"/>
          <p:cNvSpPr/>
          <p:nvPr/>
        </p:nvSpPr>
        <p:spPr>
          <a:xfrm>
            <a:off x="4712920" y="4083506"/>
            <a:ext cx="620000" cy="476494"/>
          </a:xfrm>
          <a:prstGeom prst="rect">
            <a:avLst/>
          </a:prstGeom>
          <a:solidFill>
            <a:srgbClr val="1C2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8" name="CT1018"/>
          <p:cNvSpPr/>
          <p:nvPr/>
        </p:nvSpPr>
        <p:spPr>
          <a:xfrm>
            <a:off x="4632920" y="3898506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5,01 %</a:t>
            </a:r>
            <a:endParaRPr lang="en-US" sz="900" dirty="0"/>
          </a:p>
        </p:txBody>
      </p:sp>
      <p:sp>
        <p:nvSpPr>
          <p:cNvPr id="1019" name="CT1019"/>
          <p:cNvSpPr/>
          <p:nvPr/>
        </p:nvSpPr>
        <p:spPr>
          <a:xfrm>
            <a:off x="463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2023</a:t>
            </a:r>
            <a:endParaRPr lang="en-US" sz="700" dirty="0"/>
          </a:p>
        </p:txBody>
      </p:sp>
      <p:sp>
        <p:nvSpPr>
          <p:cNvPr id="1020" name="CH1020"/>
          <p:cNvSpPr/>
          <p:nvPr/>
        </p:nvSpPr>
        <p:spPr>
          <a:xfrm>
            <a:off x="6082920" y="4073044"/>
            <a:ext cx="620000" cy="486956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1" name="CT1021"/>
          <p:cNvSpPr/>
          <p:nvPr/>
        </p:nvSpPr>
        <p:spPr>
          <a:xfrm>
            <a:off x="6002920" y="3888044"/>
            <a:ext cx="780000" cy="16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B3A"/>
                </a:solidFill>
                <a:latin typeface="Garamond" pitchFamily="34" charset="0"/>
              </a:rPr>
              <a:t>5,12 %</a:t>
            </a:r>
            <a:endParaRPr lang="en-US" sz="900" dirty="0"/>
          </a:p>
        </p:txBody>
      </p:sp>
      <p:sp>
        <p:nvSpPr>
          <p:cNvPr id="1022" name="CT1022"/>
          <p:cNvSpPr/>
          <p:nvPr/>
        </p:nvSpPr>
        <p:spPr>
          <a:xfrm>
            <a:off x="6002920" y="4585000"/>
            <a:ext cx="7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A09080"/>
                </a:solidFill>
                <a:latin typeface="Calibri" pitchFamily="34" charset="0"/>
              </a:rPr>
              <a:t>2024</a:t>
            </a:r>
            <a:endParaRPr lang="en-US" sz="700" dirty="0"/>
          </a:p>
        </p:txBody>
      </p:sp>
      <p:sp>
        <p:nvSpPr>
          <p:cNvPr id="1023" name="CH1023"/>
          <p:cNvSpPr/>
          <p:nvPr/>
        </p:nvSpPr>
        <p:spPr>
          <a:xfrm>
            <a:off x="502920" y="4560000"/>
            <a:ext cx="6400000" cy="10973"/>
          </a:xfrm>
          <a:prstGeom prst="rect">
            <a:avLst/>
          </a:prstGeom>
          <a:solidFill>
            <a:srgbClr val="CFC8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4" name="CT1024"/>
          <p:cNvSpPr/>
          <p:nvPr/>
        </p:nvSpPr>
        <p:spPr>
          <a:xfrm>
            <a:off x="7100000" y="4000000"/>
            <a:ext cx="14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1A1A"/>
                </a:solidFill>
                <a:latin typeface="Garamond" pitchFamily="34" charset="0"/>
              </a:rPr>
              <a:t>5,12 %</a:t>
            </a:r>
            <a:endParaRPr lang="en-US" sz="1600" dirty="0"/>
          </a:p>
        </p:txBody>
      </p:sp>
      <p:sp>
        <p:nvSpPr>
          <p:cNvPr id="1025" name="CT1025"/>
          <p:cNvSpPr/>
          <p:nvPr/>
        </p:nvSpPr>
        <p:spPr>
          <a:xfrm>
            <a:off x="7100000" y="4310000"/>
            <a:ext cx="14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A09080"/>
                </a:solidFill>
                <a:latin typeface="Calibri" pitchFamily="34" charset="0"/>
              </a:rPr>
              <a:t>en 2024</a:t>
            </a:r>
            <a:endParaRPr lang="en-US" sz="750" dirty="0"/>
          </a:p>
        </p:txBody>
      </p:sp>
      <p:sp>
        <p:nvSpPr>
          <p:cNvPr id="1026" name="CT1026"/>
          <p:cNvSpPr/>
          <p:nvPr/>
        </p:nvSpPr>
        <p:spPr>
          <a:xfrm>
            <a:off x="502920" y="4750000"/>
            <a:ext cx="56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</a:rPr>
              <a:t>Variation du prix de part : à compléter</a:t>
            </a:r>
            <a:endParaRPr lang="en-US" sz="750" dirty="0"/>
          </a:p>
        </p:txBody>
      </p:sp>
      <p:sp>
        <p:nvSpPr>
          <p:cNvPr id="1027" name="CT1027"/>
          <p:cNvSpPr/>
          <p:nvPr/>
        </p:nvSpPr>
        <p:spPr>
          <a:xfrm>
            <a:off x="502920" y="4880000"/>
            <a:ext cx="8110728" cy="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i="1" dirty="0">
                <a:solidFill>
                  <a:srgbClr val="A09080"/>
                </a:solidFill>
                <a:latin typeface="Calibri" pitchFamily="34" charset="0"/>
              </a:rPr>
              <a:t>Les performances passées ne préjugent pas des performances futures. Document à usage interne — confidentiel.</a:t>
            </a:r>
            <a:endParaRPr lang="en-US" sz="6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D0FFA242-2194-4BCB-BBE0-A486AE4D7D7C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43</a:t>
            </a:fld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IMMOBILIER DIRECT · LMNP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 location meublée non professionnelle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ColSep"/>
          <p:cNvSpPr/>
          <p:nvPr/>
        </p:nvSpPr>
        <p:spPr>
          <a:xfrm>
            <a:off x="4572000" y="1350000"/>
            <a:ext cx="10973" cy="3250000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LHdr"/>
          <p:cNvSpPr/>
          <p:nvPr/>
        </p:nvSpPr>
        <p:spPr>
          <a:xfrm>
            <a:off x="502920" y="1450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 MÉCANISME</a:t>
            </a:r>
            <a:endParaRPr lang="en-US" sz="1100" dirty="0"/>
          </a:p>
        </p:txBody>
      </p:sp>
      <p:sp>
        <p:nvSpPr>
          <p:cNvPr id="22" name="RHdr"/>
          <p:cNvSpPr/>
          <p:nvPr/>
        </p:nvSpPr>
        <p:spPr>
          <a:xfrm>
            <a:off x="4709160" y="1450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 AVANTAGES</a:t>
            </a:r>
            <a:endParaRPr lang="en-US" sz="1100" dirty="0"/>
          </a:p>
        </p:txBody>
      </p:sp>
      <p:sp>
        <p:nvSpPr>
          <p:cNvPr id="23" name="LS0"/>
          <p:cNvSpPr/>
          <p:nvPr/>
        </p:nvSpPr>
        <p:spPr>
          <a:xfrm>
            <a:off x="502920" y="18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LT0"/>
          <p:cNvSpPr/>
          <p:nvPr/>
        </p:nvSpPr>
        <p:spPr>
          <a:xfrm>
            <a:off x="502920" y="18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dans une résidence gérée (tourisme, étudiant, senior, EHPAD)</a:t>
            </a:r>
            <a:endParaRPr lang="en-US" sz="1100" dirty="0"/>
          </a:p>
        </p:txBody>
      </p:sp>
      <p:sp>
        <p:nvSpPr>
          <p:cNvPr id="25" name="LS1"/>
          <p:cNvSpPr/>
          <p:nvPr/>
        </p:nvSpPr>
        <p:spPr>
          <a:xfrm>
            <a:off x="502920" y="25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LT1"/>
          <p:cNvSpPr/>
          <p:nvPr/>
        </p:nvSpPr>
        <p:spPr>
          <a:xfrm>
            <a:off x="502920" y="25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commercial de 9 à 12 ans avec l'exploitant spécialisé</a:t>
            </a:r>
            <a:endParaRPr lang="en-US" sz="1100" dirty="0"/>
          </a:p>
        </p:txBody>
      </p:sp>
      <p:sp>
        <p:nvSpPr>
          <p:cNvPr id="27" name="LS2"/>
          <p:cNvSpPr/>
          <p:nvPr/>
        </p:nvSpPr>
        <p:spPr>
          <a:xfrm>
            <a:off x="502920" y="32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LT2"/>
          <p:cNvSpPr/>
          <p:nvPr/>
        </p:nvSpPr>
        <p:spPr>
          <a:xfrm>
            <a:off x="502920" y="32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classés en BIC (et non revenus fonciers)</a:t>
            </a:r>
            <a:endParaRPr lang="en-US" sz="1100" dirty="0"/>
          </a:p>
        </p:txBody>
      </p:sp>
      <p:sp>
        <p:nvSpPr>
          <p:cNvPr id="29" name="LS3"/>
          <p:cNvSpPr/>
          <p:nvPr/>
        </p:nvSpPr>
        <p:spPr>
          <a:xfrm>
            <a:off x="502920" y="39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LT3"/>
          <p:cNvSpPr/>
          <p:nvPr/>
        </p:nvSpPr>
        <p:spPr>
          <a:xfrm>
            <a:off x="502920" y="39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de TVA possible (résidence neuve)</a:t>
            </a:r>
            <a:endParaRPr lang="en-US" sz="1100" dirty="0"/>
          </a:p>
        </p:txBody>
      </p:sp>
      <p:sp>
        <p:nvSpPr>
          <p:cNvPr id="31" name="RS0"/>
          <p:cNvSpPr/>
          <p:nvPr/>
        </p:nvSpPr>
        <p:spPr>
          <a:xfrm>
            <a:off x="4709160" y="18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T0"/>
          <p:cNvSpPr/>
          <p:nvPr/>
        </p:nvSpPr>
        <p:spPr>
          <a:xfrm>
            <a:off x="4709160" y="18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100 % déléguée à l'exploitant commercial</a:t>
            </a:r>
            <a:endParaRPr lang="en-US" sz="1100" dirty="0"/>
          </a:p>
        </p:txBody>
      </p:sp>
      <p:sp>
        <p:nvSpPr>
          <p:cNvPr id="33" name="RS1"/>
          <p:cNvSpPr/>
          <p:nvPr/>
        </p:nvSpPr>
        <p:spPr>
          <a:xfrm>
            <a:off x="4709160" y="25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T1"/>
          <p:cNvSpPr/>
          <p:nvPr/>
        </p:nvSpPr>
        <p:spPr>
          <a:xfrm>
            <a:off x="4709160" y="25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de loyer pendant toute la durée du bail commercial</a:t>
            </a:r>
            <a:endParaRPr lang="en-US" sz="1100" dirty="0"/>
          </a:p>
        </p:txBody>
      </p:sp>
      <p:sp>
        <p:nvSpPr>
          <p:cNvPr id="35" name="RS2"/>
          <p:cNvSpPr/>
          <p:nvPr/>
        </p:nvSpPr>
        <p:spPr>
          <a:xfrm>
            <a:off x="4709160" y="32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RT2"/>
          <p:cNvSpPr/>
          <p:nvPr/>
        </p:nvSpPr>
        <p:spPr>
          <a:xfrm>
            <a:off x="4709160" y="32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 du bien : fiscalité très réduite sur les revenus</a:t>
            </a:r>
            <a:endParaRPr lang="en-US" sz="1100" dirty="0"/>
          </a:p>
        </p:txBody>
      </p:sp>
      <p:sp>
        <p:nvSpPr>
          <p:cNvPr id="37" name="RS3"/>
          <p:cNvSpPr/>
          <p:nvPr/>
        </p:nvSpPr>
        <p:spPr>
          <a:xfrm>
            <a:off x="4709160" y="3900000"/>
            <a:ext cx="384048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RT3"/>
          <p:cNvSpPr/>
          <p:nvPr/>
        </p:nvSpPr>
        <p:spPr>
          <a:xfrm>
            <a:off x="4709160" y="3970000"/>
            <a:ext cx="3840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et charges pris en charge par l'exploitant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BA8EF2CD-F7BB-4704-899A-4334EF1D2B81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44</a:t>
            </a:fld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IMMOBILIER DIRECT · NUE-PROPRIÉTÉ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L'acquisition en nue-propriété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801" name="NP801"/>
          <p:cNvSpPr/>
          <p:nvPr/>
        </p:nvSpPr>
        <p:spPr>
          <a:xfrm>
            <a:off x="1400000" y="2500000"/>
            <a:ext cx="6200000" cy="12000"/>
          </a:xfrm>
          <a:prstGeom prst="rect">
            <a:avLst/>
          </a:prstGeom>
          <a:solidFill>
            <a:srgbClr val="CFC8B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2" name="NP802"/>
          <p:cNvSpPr/>
          <p:nvPr/>
        </p:nvSpPr>
        <p:spPr>
          <a:xfrm>
            <a:off x="1364000" y="2464000"/>
            <a:ext cx="72000" cy="72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3" name="NT803"/>
          <p:cNvSpPr/>
          <p:nvPr/>
        </p:nvSpPr>
        <p:spPr>
          <a:xfrm>
            <a:off x="300000" y="1250000"/>
            <a:ext cx="22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2B3A"/>
                </a:solidFill>
                <a:latin typeface="Garamond" pitchFamily="34" charset="0"/>
              </a:rPr>
              <a:t>−30 %</a:t>
            </a:r>
            <a:endParaRPr lang="en-US" sz="1100" dirty="0"/>
          </a:p>
        </p:txBody>
      </p:sp>
      <p:sp>
        <p:nvSpPr>
          <p:cNvPr id="804" name="NT804"/>
          <p:cNvSpPr/>
          <p:nvPr/>
        </p:nvSpPr>
        <p:spPr>
          <a:xfrm>
            <a:off x="300000" y="2100000"/>
            <a:ext cx="2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spc="200" dirty="0">
                <a:solidFill>
                  <a:srgbClr val="8B1A1A"/>
                </a:solidFill>
                <a:latin typeface="Garamond" pitchFamily="34" charset="0"/>
              </a:rPr>
              <a:t>À L’ACQUISITION</a:t>
            </a:r>
            <a:endParaRPr lang="en-US" sz="1100" dirty="0"/>
          </a:p>
        </p:txBody>
      </p:sp>
      <p:sp>
        <p:nvSpPr>
          <p:cNvPr id="805" name="NT805"/>
          <p:cNvSpPr/>
          <p:nvPr/>
        </p:nvSpPr>
        <p:spPr>
          <a:xfrm>
            <a:off x="250000" y="2700000"/>
            <a:ext cx="23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Décote immédiate sur la valeur du bien (15 à 40 % selon la durée)</a:t>
            </a:r>
            <a:endParaRPr lang="en-US" sz="1100" dirty="0"/>
          </a:p>
        </p:txBody>
      </p:sp>
      <p:sp>
        <p:nvSpPr>
          <p:cNvPr id="806" name="NP806"/>
          <p:cNvSpPr/>
          <p:nvPr/>
        </p:nvSpPr>
        <p:spPr>
          <a:xfrm>
            <a:off x="4464000" y="2464000"/>
            <a:ext cx="72000" cy="72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7" name="NT807"/>
          <p:cNvSpPr/>
          <p:nvPr/>
        </p:nvSpPr>
        <p:spPr>
          <a:xfrm>
            <a:off x="3400000" y="1250000"/>
            <a:ext cx="22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2B3A"/>
                </a:solidFill>
                <a:latin typeface="Garamond" pitchFamily="34" charset="0"/>
              </a:rPr>
              <a:t>15 ans</a:t>
            </a:r>
            <a:endParaRPr lang="en-US" sz="1100" dirty="0"/>
          </a:p>
        </p:txBody>
      </p:sp>
      <p:sp>
        <p:nvSpPr>
          <p:cNvPr id="808" name="NT808"/>
          <p:cNvSpPr/>
          <p:nvPr/>
        </p:nvSpPr>
        <p:spPr>
          <a:xfrm>
            <a:off x="3400000" y="2100000"/>
            <a:ext cx="2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spc="200" dirty="0">
                <a:solidFill>
                  <a:srgbClr val="8B1A1A"/>
                </a:solidFill>
                <a:latin typeface="Garamond" pitchFamily="34" charset="0"/>
              </a:rPr>
              <a:t>PENDANT LE DÉMEMBREMENT</a:t>
            </a:r>
            <a:endParaRPr lang="en-US" sz="1100" dirty="0"/>
          </a:p>
        </p:txBody>
      </p:sp>
      <p:sp>
        <p:nvSpPr>
          <p:cNvPr id="809" name="NT809"/>
          <p:cNvSpPr/>
          <p:nvPr/>
        </p:nvSpPr>
        <p:spPr>
          <a:xfrm>
            <a:off x="3350000" y="2700000"/>
            <a:ext cx="23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Aucun revenu foncier imposable, aucune charge, aucune gestion</a:t>
            </a:r>
            <a:endParaRPr lang="en-US" sz="1100" dirty="0"/>
          </a:p>
        </p:txBody>
      </p:sp>
      <p:sp>
        <p:nvSpPr>
          <p:cNvPr id="810" name="NP810"/>
          <p:cNvSpPr/>
          <p:nvPr/>
        </p:nvSpPr>
        <p:spPr>
          <a:xfrm>
            <a:off x="7564000" y="2464000"/>
            <a:ext cx="72000" cy="72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1" name="NT811"/>
          <p:cNvSpPr/>
          <p:nvPr/>
        </p:nvSpPr>
        <p:spPr>
          <a:xfrm>
            <a:off x="6500000" y="1250000"/>
            <a:ext cx="22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2B3A"/>
                </a:solidFill>
                <a:latin typeface="Garamond" pitchFamily="34" charset="0"/>
              </a:rPr>
              <a:t>100 %</a:t>
            </a:r>
            <a:endParaRPr lang="en-US" sz="1100" dirty="0"/>
          </a:p>
        </p:txBody>
      </p:sp>
      <p:sp>
        <p:nvSpPr>
          <p:cNvPr id="812" name="NT812"/>
          <p:cNvSpPr/>
          <p:nvPr/>
        </p:nvSpPr>
        <p:spPr>
          <a:xfrm>
            <a:off x="6500000" y="2100000"/>
            <a:ext cx="22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spc="200" dirty="0">
                <a:solidFill>
                  <a:srgbClr val="8B1A1A"/>
                </a:solidFill>
                <a:latin typeface="Garamond" pitchFamily="34" charset="0"/>
              </a:rPr>
              <a:t>À L’ÉCHÉANCE</a:t>
            </a:r>
            <a:endParaRPr lang="en-US" sz="1100" dirty="0"/>
          </a:p>
        </p:txBody>
      </p:sp>
      <p:sp>
        <p:nvSpPr>
          <p:cNvPr id="813" name="NT813"/>
          <p:cNvSpPr/>
          <p:nvPr/>
        </p:nvSpPr>
        <p:spPr>
          <a:xfrm>
            <a:off x="6450000" y="2700000"/>
            <a:ext cx="23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</a:rPr>
              <a:t>Récupération de la pleine propriété, libre de tout engagement</a:t>
            </a:r>
            <a:endParaRPr lang="en-US" sz="1100" dirty="0"/>
          </a:p>
        </p:txBody>
      </p:sp>
      <p:sp>
        <p:nvSpPr>
          <p:cNvPr id="814" name="NP814"/>
          <p:cNvSpPr/>
          <p:nvPr/>
        </p:nvSpPr>
        <p:spPr>
          <a:xfrm>
            <a:off x="502920" y="40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5" name="NT815"/>
          <p:cNvSpPr/>
          <p:nvPr/>
        </p:nvSpPr>
        <p:spPr>
          <a:xfrm>
            <a:off x="502920" y="4120000"/>
            <a:ext cx="8110728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Idéal pour préparer des </a:t>
            </a:r>
            <a:r>
              <a:rPr lang="en-US" sz="1100" b="1" dirty="0">
                <a:solidFill>
                  <a:srgbClr val="1C2B3A"/>
                </a:solidFill>
                <a:latin typeface="Calibri" pitchFamily="34" charset="0"/>
              </a:rPr>
              <a:t>revenus futurs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 ou une </a:t>
            </a:r>
            <a:r>
              <a:rPr lang="en-US" sz="1100" b="1" dirty="0">
                <a:solidFill>
                  <a:srgbClr val="1C2B3A"/>
                </a:solidFill>
                <a:latin typeface="Calibri" pitchFamily="34" charset="0"/>
              </a:rPr>
              <a:t>transmission</a:t>
            </a:r>
            <a:r>
              <a:rPr lang="en-US" sz="1100" dirty="0">
                <a:solidFill>
                  <a:srgbClr val="4A5568"/>
                </a:solidFill>
                <a:latin typeface="Calibri" pitchFamily="34" charset="0"/>
              </a:rPr>
              <a:t> — sans alourdir la fiscalité présente (IR, IFI).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43E28BE-825B-423B-81C2-BAE95C6938AD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45</a:t>
            </a:fld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PRIVATE EQUITY · INTRODUCTION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 Private Equity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591" name="Card1591"/>
          <p:cNvSpPr/>
          <p:nvPr/>
        </p:nvSpPr>
        <p:spPr>
          <a:xfrm>
            <a:off x="50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92" name="Accent1592"/>
          <p:cNvSpPr/>
          <p:nvPr/>
        </p:nvSpPr>
        <p:spPr>
          <a:xfrm>
            <a:off x="50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3" name="CardT1593"/>
          <p:cNvSpPr/>
          <p:nvPr/>
        </p:nvSpPr>
        <p:spPr>
          <a:xfrm>
            <a:off x="67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Entreprises non cotées</a:t>
            </a:r>
            <a:endParaRPr lang="en-US" sz="1100" dirty="0"/>
          </a:p>
        </p:txBody>
      </p:sp>
      <p:sp>
        <p:nvSpPr>
          <p:cNvPr id="1594" name="CardD1594"/>
          <p:cNvSpPr/>
          <p:nvPr/>
        </p:nvSpPr>
        <p:spPr>
          <a:xfrm>
            <a:off x="67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Sociétés à fort potentiel de croissance, hors marchés boursiers</a:t>
            </a:r>
            <a:endParaRPr lang="en-US" sz="900" dirty="0"/>
          </a:p>
        </p:txBody>
      </p:sp>
      <p:sp>
        <p:nvSpPr>
          <p:cNvPr id="1595" name="Card1595"/>
          <p:cNvSpPr/>
          <p:nvPr/>
        </p:nvSpPr>
        <p:spPr>
          <a:xfrm>
            <a:off x="4662920" y="14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96" name="Accent1596"/>
          <p:cNvSpPr/>
          <p:nvPr/>
        </p:nvSpPr>
        <p:spPr>
          <a:xfrm>
            <a:off x="466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97" name="CardT1597"/>
          <p:cNvSpPr/>
          <p:nvPr/>
        </p:nvSpPr>
        <p:spPr>
          <a:xfrm>
            <a:off x="4832920" y="15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Horizon long</a:t>
            </a:r>
            <a:endParaRPr lang="en-US" sz="1100" dirty="0"/>
          </a:p>
        </p:txBody>
      </p:sp>
      <p:sp>
        <p:nvSpPr>
          <p:cNvPr id="1598" name="CardD1598"/>
          <p:cNvSpPr/>
          <p:nvPr/>
        </p:nvSpPr>
        <p:spPr>
          <a:xfrm>
            <a:off x="4832920" y="18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7 à 10 ans — prime d'illiquidité attractive</a:t>
            </a:r>
            <a:endParaRPr lang="en-US" sz="900" dirty="0"/>
          </a:p>
        </p:txBody>
      </p:sp>
      <p:sp>
        <p:nvSpPr>
          <p:cNvPr id="1599" name="Card1599"/>
          <p:cNvSpPr/>
          <p:nvPr/>
        </p:nvSpPr>
        <p:spPr>
          <a:xfrm>
            <a:off x="50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00" name="Accent1600"/>
          <p:cNvSpPr/>
          <p:nvPr/>
        </p:nvSpPr>
        <p:spPr>
          <a:xfrm>
            <a:off x="50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1" name="CardT1601"/>
          <p:cNvSpPr/>
          <p:nvPr/>
        </p:nvSpPr>
        <p:spPr>
          <a:xfrm>
            <a:off x="67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Diversification réelle</a:t>
            </a:r>
            <a:endParaRPr lang="en-US" sz="1100" dirty="0"/>
          </a:p>
        </p:txBody>
      </p:sp>
      <p:sp>
        <p:nvSpPr>
          <p:cNvPr id="1602" name="CardD1602"/>
          <p:cNvSpPr/>
          <p:nvPr/>
        </p:nvSpPr>
        <p:spPr>
          <a:xfrm>
            <a:off x="67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Complément décorrélé des portefeuilles cotés</a:t>
            </a:r>
            <a:endParaRPr lang="en-US" sz="900" dirty="0"/>
          </a:p>
        </p:txBody>
      </p:sp>
      <p:sp>
        <p:nvSpPr>
          <p:cNvPr id="1603" name="Card1603"/>
          <p:cNvSpPr/>
          <p:nvPr/>
        </p:nvSpPr>
        <p:spPr>
          <a:xfrm>
            <a:off x="4662920" y="2980000"/>
            <a:ext cx="3950000" cy="129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04" name="Accent1604"/>
          <p:cNvSpPr/>
          <p:nvPr/>
        </p:nvSpPr>
        <p:spPr>
          <a:xfrm>
            <a:off x="4662920" y="29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5" name="CardT1605"/>
          <p:cNvSpPr/>
          <p:nvPr/>
        </p:nvSpPr>
        <p:spPr>
          <a:xfrm>
            <a:off x="4832920" y="3090000"/>
            <a:ext cx="361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Rendements supérieurs</a:t>
            </a:r>
            <a:endParaRPr lang="en-US" sz="1100" dirty="0"/>
          </a:p>
        </p:txBody>
      </p:sp>
      <p:sp>
        <p:nvSpPr>
          <p:cNvPr id="1606" name="CardD1606"/>
          <p:cNvSpPr/>
          <p:nvPr/>
        </p:nvSpPr>
        <p:spPr>
          <a:xfrm>
            <a:off x="4832920" y="3380000"/>
            <a:ext cx="3610000" cy="7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Historiquement au-dessus des classes d'actifs traditionnelles</a:t>
            </a:r>
            <a:endParaRPr lang="en-US" sz="900" dirty="0"/>
          </a:p>
        </p:txBody>
      </p:sp>
      <p:sp>
        <p:nvSpPr>
          <p:cNvPr id="1607" name="SynthL1607"/>
          <p:cNvSpPr/>
          <p:nvPr/>
        </p:nvSpPr>
        <p:spPr>
          <a:xfrm>
            <a:off x="502920" y="44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08" name="SynthT1608"/>
          <p:cNvSpPr/>
          <p:nvPr/>
        </p:nvSpPr>
        <p:spPr>
          <a:xfrm>
            <a:off x="502920" y="4470000"/>
            <a:ext cx="81107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2B3A"/>
                </a:solidFill>
                <a:latin typeface="Garamond" pitchFamily="34" charset="0"/>
              </a:rPr>
              <a:t>Accéder à la croissance des entreprises avant leur cotation.</a:t>
            </a:r>
            <a:endParaRPr lang="en-US" sz="105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56F6C3C4-4813-440D-9C85-5537B89833EF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46</a:t>
            </a:fld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DETTE PRIVÉE · IMMOBILIER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 dette privée immobilière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1609" name="Card1609"/>
          <p:cNvSpPr/>
          <p:nvPr/>
        </p:nvSpPr>
        <p:spPr>
          <a:xfrm>
            <a:off x="502920" y="1480000"/>
            <a:ext cx="2590000" cy="125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10" name="Accent1610"/>
          <p:cNvSpPr/>
          <p:nvPr/>
        </p:nvSpPr>
        <p:spPr>
          <a:xfrm>
            <a:off x="50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1" name="CardT1611"/>
          <p:cNvSpPr/>
          <p:nvPr/>
        </p:nvSpPr>
        <p:spPr>
          <a:xfrm>
            <a:off x="672920" y="1590000"/>
            <a:ext cx="225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Financement immobilier</a:t>
            </a:r>
            <a:endParaRPr lang="en-US" sz="1100" dirty="0"/>
          </a:p>
        </p:txBody>
      </p:sp>
      <p:sp>
        <p:nvSpPr>
          <p:cNvPr id="1612" name="CardD1612"/>
          <p:cNvSpPr/>
          <p:nvPr/>
        </p:nvSpPr>
        <p:spPr>
          <a:xfrm>
            <a:off x="672920" y="1880000"/>
            <a:ext cx="225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Opérations sélectionnées, adossées à un collatéral réel</a:t>
            </a:r>
            <a:endParaRPr lang="en-US" sz="900" dirty="0"/>
          </a:p>
        </p:txBody>
      </p:sp>
      <p:sp>
        <p:nvSpPr>
          <p:cNvPr id="1613" name="Card1613"/>
          <p:cNvSpPr/>
          <p:nvPr/>
        </p:nvSpPr>
        <p:spPr>
          <a:xfrm>
            <a:off x="3262920" y="1480000"/>
            <a:ext cx="2590000" cy="125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14" name="Accent1614"/>
          <p:cNvSpPr/>
          <p:nvPr/>
        </p:nvSpPr>
        <p:spPr>
          <a:xfrm>
            <a:off x="326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5" name="CardT1615"/>
          <p:cNvSpPr/>
          <p:nvPr/>
        </p:nvSpPr>
        <p:spPr>
          <a:xfrm>
            <a:off x="3432920" y="1590000"/>
            <a:ext cx="225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Horizon court</a:t>
            </a:r>
            <a:endParaRPr lang="en-US" sz="1100" dirty="0"/>
          </a:p>
        </p:txBody>
      </p:sp>
      <p:sp>
        <p:nvSpPr>
          <p:cNvPr id="1616" name="CardD1616"/>
          <p:cNvSpPr/>
          <p:nvPr/>
        </p:nvSpPr>
        <p:spPr>
          <a:xfrm>
            <a:off x="3432920" y="1880000"/>
            <a:ext cx="225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Détention de 6 à 48 mois — visibilité sur la sortie</a:t>
            </a:r>
            <a:endParaRPr lang="en-US" sz="900" dirty="0"/>
          </a:p>
        </p:txBody>
      </p:sp>
      <p:sp>
        <p:nvSpPr>
          <p:cNvPr id="1617" name="Card1617"/>
          <p:cNvSpPr/>
          <p:nvPr/>
        </p:nvSpPr>
        <p:spPr>
          <a:xfrm>
            <a:off x="6022920" y="1480000"/>
            <a:ext cx="2590000" cy="125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18" name="Accent1618"/>
          <p:cNvSpPr/>
          <p:nvPr/>
        </p:nvSpPr>
        <p:spPr>
          <a:xfrm>
            <a:off x="6022920" y="148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19" name="CardT1619"/>
          <p:cNvSpPr/>
          <p:nvPr/>
        </p:nvSpPr>
        <p:spPr>
          <a:xfrm>
            <a:off x="6192920" y="1590000"/>
            <a:ext cx="225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Coupons périodiques</a:t>
            </a:r>
            <a:endParaRPr lang="en-US" sz="1100" dirty="0"/>
          </a:p>
        </p:txBody>
      </p:sp>
      <p:sp>
        <p:nvSpPr>
          <p:cNvPr id="1620" name="CardD1620"/>
          <p:cNvSpPr/>
          <p:nvPr/>
        </p:nvSpPr>
        <p:spPr>
          <a:xfrm>
            <a:off x="6192920" y="1880000"/>
            <a:ext cx="225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Versements réguliers pendant toute la durée</a:t>
            </a:r>
            <a:endParaRPr lang="en-US" sz="900" dirty="0"/>
          </a:p>
        </p:txBody>
      </p:sp>
      <p:sp>
        <p:nvSpPr>
          <p:cNvPr id="1621" name="Card1621"/>
          <p:cNvSpPr/>
          <p:nvPr/>
        </p:nvSpPr>
        <p:spPr>
          <a:xfrm>
            <a:off x="1882920" y="2920000"/>
            <a:ext cx="2590000" cy="125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2" name="Accent1622"/>
          <p:cNvSpPr/>
          <p:nvPr/>
        </p:nvSpPr>
        <p:spPr>
          <a:xfrm>
            <a:off x="1882920" y="292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3" name="CardT1623"/>
          <p:cNvSpPr/>
          <p:nvPr/>
        </p:nvSpPr>
        <p:spPr>
          <a:xfrm>
            <a:off x="2052920" y="3030000"/>
            <a:ext cx="225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Rendement cible élevé</a:t>
            </a:r>
            <a:endParaRPr lang="en-US" sz="1100" dirty="0"/>
          </a:p>
        </p:txBody>
      </p:sp>
      <p:sp>
        <p:nvSpPr>
          <p:cNvPr id="1624" name="CardD1624"/>
          <p:cNvSpPr/>
          <p:nvPr/>
        </p:nvSpPr>
        <p:spPr>
          <a:xfrm>
            <a:off x="2052920" y="3320000"/>
            <a:ext cx="225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7 à 12 % annuel selon les opérations</a:t>
            </a:r>
            <a:endParaRPr lang="en-US" sz="900" dirty="0"/>
          </a:p>
        </p:txBody>
      </p:sp>
      <p:sp>
        <p:nvSpPr>
          <p:cNvPr id="1625" name="Card1625"/>
          <p:cNvSpPr/>
          <p:nvPr/>
        </p:nvSpPr>
        <p:spPr>
          <a:xfrm>
            <a:off x="4642920" y="2920000"/>
            <a:ext cx="2590000" cy="125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6" name="Accent1626"/>
          <p:cNvSpPr/>
          <p:nvPr/>
        </p:nvSpPr>
        <p:spPr>
          <a:xfrm>
            <a:off x="4642920" y="2920000"/>
            <a:ext cx="400000" cy="30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27" name="CardT1627"/>
          <p:cNvSpPr/>
          <p:nvPr/>
        </p:nvSpPr>
        <p:spPr>
          <a:xfrm>
            <a:off x="4812920" y="3030000"/>
            <a:ext cx="225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  <a:latin typeface="Garamond" pitchFamily="34" charset="0"/>
              </a:rPr>
              <a:t>Garanties solides</a:t>
            </a:r>
            <a:endParaRPr lang="en-US" sz="1100" dirty="0"/>
          </a:p>
        </p:txBody>
      </p:sp>
      <p:sp>
        <p:nvSpPr>
          <p:cNvPr id="1628" name="CardD1628"/>
          <p:cNvSpPr/>
          <p:nvPr/>
        </p:nvSpPr>
        <p:spPr>
          <a:xfrm>
            <a:off x="4812920" y="3320000"/>
            <a:ext cx="2250000" cy="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</a:rPr>
              <a:t>Hypothèque de 1er rang ou garantie bancaire</a:t>
            </a:r>
            <a:endParaRPr lang="en-US" sz="900" dirty="0"/>
          </a:p>
        </p:txBody>
      </p:sp>
      <p:sp>
        <p:nvSpPr>
          <p:cNvPr id="1629" name="SynthL1629"/>
          <p:cNvSpPr/>
          <p:nvPr/>
        </p:nvSpPr>
        <p:spPr>
          <a:xfrm>
            <a:off x="502920" y="4400000"/>
            <a:ext cx="8110728" cy="10973"/>
          </a:xfrm>
          <a:prstGeom prst="rect">
            <a:avLst/>
          </a:prstGeom>
          <a:solidFill>
            <a:srgbClr val="E5E0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30" name="SynthT1630"/>
          <p:cNvSpPr/>
          <p:nvPr/>
        </p:nvSpPr>
        <p:spPr>
          <a:xfrm>
            <a:off x="502920" y="4470000"/>
            <a:ext cx="8110728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2B3A"/>
                </a:solidFill>
                <a:latin typeface="Garamond" pitchFamily="34" charset="0"/>
              </a:rPr>
              <a:t>Le rendement de l'immobilier, la position du créancier.</a:t>
            </a:r>
            <a:endParaRPr lang="en-US" sz="105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E9A5C1E0-7EB4-4099-81C0-3D5B10AC020D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47</a:t>
            </a:fld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TRANSMISSION · ASSURANCE VIE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Assurance vie et transmission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Axis"/>
          <p:cNvSpPr/>
          <p:nvPr/>
        </p:nvSpPr>
        <p:spPr>
          <a:xfrm>
            <a:off x="4564500" y="1500000"/>
            <a:ext cx="15000" cy="28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Bloc21"/>
          <p:cNvSpPr/>
          <p:nvPr/>
        </p:nvSpPr>
        <p:spPr>
          <a:xfrm>
            <a:off x="502920" y="1500000"/>
            <a:ext cx="3700000" cy="28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BHdr22"/>
          <p:cNvSpPr/>
          <p:nvPr/>
        </p:nvSpPr>
        <p:spPr>
          <a:xfrm>
            <a:off x="602920" y="1650000"/>
            <a:ext cx="3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AVANT 70 ANS — Article 990 I</a:t>
            </a:r>
            <a:endParaRPr lang="en-US" sz="1100" dirty="0"/>
          </a:p>
        </p:txBody>
      </p:sp>
      <p:sp>
        <p:nvSpPr>
          <p:cNvPr id="23" name="BAmt23"/>
          <p:cNvSpPr/>
          <p:nvPr/>
        </p:nvSpPr>
        <p:spPr>
          <a:xfrm>
            <a:off x="602920" y="2050000"/>
            <a:ext cx="35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152 500 €</a:t>
            </a:r>
            <a:endParaRPr lang="en-US" sz="1100" dirty="0"/>
          </a:p>
        </p:txBody>
      </p:sp>
      <p:sp>
        <p:nvSpPr>
          <p:cNvPr id="24" name="BLbl24"/>
          <p:cNvSpPr/>
          <p:nvPr/>
        </p:nvSpPr>
        <p:spPr>
          <a:xfrm>
            <a:off x="602920" y="2600000"/>
            <a:ext cx="3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d'abattement par bénéficiaire</a:t>
            </a:r>
            <a:endParaRPr lang="en-US" sz="1100" dirty="0"/>
          </a:p>
        </p:txBody>
      </p:sp>
      <p:sp>
        <p:nvSpPr>
          <p:cNvPr id="25" name="BSep25"/>
          <p:cNvSpPr/>
          <p:nvPr/>
        </p:nvSpPr>
        <p:spPr>
          <a:xfrm>
            <a:off x="1002920" y="2980000"/>
            <a:ext cx="2700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BD126"/>
          <p:cNvSpPr/>
          <p:nvPr/>
        </p:nvSpPr>
        <p:spPr>
          <a:xfrm>
            <a:off x="602920" y="3080000"/>
            <a:ext cx="3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20% jusqu'à 700 000 €</a:t>
            </a:r>
            <a:endParaRPr lang="en-US" sz="1100" dirty="0"/>
          </a:p>
        </p:txBody>
      </p:sp>
      <p:sp>
        <p:nvSpPr>
          <p:cNvPr id="27" name="BD227"/>
          <p:cNvSpPr/>
          <p:nvPr/>
        </p:nvSpPr>
        <p:spPr>
          <a:xfrm>
            <a:off x="602920" y="3380000"/>
            <a:ext cx="3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31,25% au-delà</a:t>
            </a:r>
            <a:endParaRPr lang="en-US" sz="1100" dirty="0"/>
          </a:p>
        </p:txBody>
      </p:sp>
      <p:sp>
        <p:nvSpPr>
          <p:cNvPr id="28" name="Bloc28"/>
          <p:cNvSpPr/>
          <p:nvPr/>
        </p:nvSpPr>
        <p:spPr>
          <a:xfrm>
            <a:off x="4941000" y="1500000"/>
            <a:ext cx="3670000" cy="280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BHdr29"/>
          <p:cNvSpPr/>
          <p:nvPr/>
        </p:nvSpPr>
        <p:spPr>
          <a:xfrm>
            <a:off x="5041000" y="1650000"/>
            <a:ext cx="347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APRÈS 70 ANS — Article 757 B</a:t>
            </a:r>
            <a:endParaRPr lang="en-US" sz="1100" dirty="0"/>
          </a:p>
        </p:txBody>
      </p:sp>
      <p:sp>
        <p:nvSpPr>
          <p:cNvPr id="30" name="BAmt30"/>
          <p:cNvSpPr/>
          <p:nvPr/>
        </p:nvSpPr>
        <p:spPr>
          <a:xfrm>
            <a:off x="5041000" y="2050000"/>
            <a:ext cx="347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30 500 €</a:t>
            </a:r>
            <a:endParaRPr lang="en-US" sz="1100" dirty="0"/>
          </a:p>
        </p:txBody>
      </p:sp>
      <p:sp>
        <p:nvSpPr>
          <p:cNvPr id="31" name="BLbl31"/>
          <p:cNvSpPr/>
          <p:nvPr/>
        </p:nvSpPr>
        <p:spPr>
          <a:xfrm>
            <a:off x="5041000" y="2600000"/>
            <a:ext cx="347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d'abattement global sur les primes</a:t>
            </a:r>
            <a:endParaRPr lang="en-US" sz="1100" dirty="0"/>
          </a:p>
        </p:txBody>
      </p:sp>
      <p:sp>
        <p:nvSpPr>
          <p:cNvPr id="32" name="BSep32"/>
          <p:cNvSpPr/>
          <p:nvPr/>
        </p:nvSpPr>
        <p:spPr>
          <a:xfrm>
            <a:off x="5441000" y="2980000"/>
            <a:ext cx="2670000" cy="10973"/>
          </a:xfrm>
          <a:prstGeom prst="rect">
            <a:avLst/>
          </a:prstGeom>
          <a:solidFill>
            <a:srgbClr val="E5E0D8"/>
          </a:solidFill>
          <a:ln w="12700">
            <a:solidFill>
              <a:srgbClr val="E5E0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BD133"/>
          <p:cNvSpPr/>
          <p:nvPr/>
        </p:nvSpPr>
        <p:spPr>
          <a:xfrm>
            <a:off x="5041000" y="3080000"/>
            <a:ext cx="347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et plus-values exonérés</a:t>
            </a:r>
            <a:endParaRPr lang="en-US" sz="1100" dirty="0"/>
          </a:p>
        </p:txBody>
      </p:sp>
      <p:sp>
        <p:nvSpPr>
          <p:cNvPr id="34" name="BD234"/>
          <p:cNvSpPr/>
          <p:nvPr/>
        </p:nvSpPr>
        <p:spPr>
          <a:xfrm>
            <a:off x="5041000" y="3380000"/>
            <a:ext cx="347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 : droits de succession classiques</a:t>
            </a:r>
            <a:endParaRPr lang="en-US" sz="1100" dirty="0"/>
          </a:p>
        </p:txBody>
      </p:sp>
      <p:sp>
        <p:nvSpPr>
          <p:cNvPr id="35" name="Badge70"/>
          <p:cNvSpPr/>
          <p:nvPr/>
        </p:nvSpPr>
        <p:spPr>
          <a:xfrm>
            <a:off x="4192000" y="1620000"/>
            <a:ext cx="760000" cy="760000"/>
          </a:xfrm>
          <a:prstGeom prst="ellipse">
            <a:avLst/>
          </a:prstGeom>
          <a:solidFill>
            <a:srgbClr val="8B1A1A"/>
          </a:solidFill>
          <a:ln w="25400">
            <a:solidFill>
              <a:srgbClr val="F3F0EB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70 ANS</a:t>
            </a:r>
            <a:endParaRPr lang="en-US" sz="1100" dirty="0"/>
          </a:p>
        </p:txBody>
      </p:sp>
      <p:sp>
        <p:nvSpPr>
          <p:cNvPr id="36" name="BandTEPA"/>
          <p:cNvSpPr/>
          <p:nvPr/>
        </p:nvSpPr>
        <p:spPr>
          <a:xfrm>
            <a:off x="502920" y="4380000"/>
            <a:ext cx="8108080" cy="340000"/>
          </a:xfrm>
          <a:prstGeom prst="rect">
            <a:avLst/>
          </a:prstGeom>
          <a:noFill/>
          <a:ln w="12700">
            <a:solidFill>
              <a:srgbClr val="8B1A1A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Conjoint et partenaire PACS : exonération totale de droits — loi TEPA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061AA376-7C5A-4C69-959B-BAFD96C89551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48</a:t>
            </a:fld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TRANSMISSION · DROITS DE SUCCESSION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Barème des droits de succession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HBg"/>
          <p:cNvSpPr/>
          <p:nvPr/>
        </p:nvSpPr>
        <p:spPr>
          <a:xfrm>
            <a:off x="502920" y="1371600"/>
            <a:ext cx="384048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Tx"/>
          <p:cNvSpPr/>
          <p:nvPr/>
        </p:nvSpPr>
        <p:spPr>
          <a:xfrm>
            <a:off x="557784" y="13716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TARIF LIGNE DIRECTE</a:t>
            </a:r>
            <a:endParaRPr lang="en-US" sz="1100" dirty="0"/>
          </a:p>
        </p:txBody>
      </p:sp>
      <p:sp>
        <p:nvSpPr>
          <p:cNvPr id="22" name="C1Bg0"/>
          <p:cNvSpPr/>
          <p:nvPr/>
        </p:nvSpPr>
        <p:spPr>
          <a:xfrm>
            <a:off x="502920" y="1645920"/>
            <a:ext cx="2304288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C1Tx0"/>
          <p:cNvSpPr/>
          <p:nvPr/>
        </p:nvSpPr>
        <p:spPr>
          <a:xfrm>
            <a:off x="539496" y="1645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8 072 €</a:t>
            </a:r>
            <a:endParaRPr lang="en-US" sz="1100" dirty="0"/>
          </a:p>
        </p:txBody>
      </p:sp>
      <p:sp>
        <p:nvSpPr>
          <p:cNvPr id="24" name="C2Bg0"/>
          <p:cNvSpPr/>
          <p:nvPr/>
        </p:nvSpPr>
        <p:spPr>
          <a:xfrm>
            <a:off x="2807208" y="1645920"/>
            <a:ext cx="1536192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C2Tx0"/>
          <p:cNvSpPr/>
          <p:nvPr/>
        </p:nvSpPr>
        <p:spPr>
          <a:xfrm>
            <a:off x="2825496" y="1645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5 %</a:t>
            </a:r>
            <a:endParaRPr lang="en-US" sz="1100" dirty="0"/>
          </a:p>
        </p:txBody>
      </p:sp>
      <p:sp>
        <p:nvSpPr>
          <p:cNvPr id="26" name="C1Bg1"/>
          <p:cNvSpPr/>
          <p:nvPr/>
        </p:nvSpPr>
        <p:spPr>
          <a:xfrm>
            <a:off x="502920" y="1901920"/>
            <a:ext cx="2304288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C1Tx1"/>
          <p:cNvSpPr/>
          <p:nvPr/>
        </p:nvSpPr>
        <p:spPr>
          <a:xfrm>
            <a:off x="539496" y="1901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8 072 € à 12 109 €</a:t>
            </a:r>
            <a:endParaRPr lang="en-US" sz="1100" dirty="0"/>
          </a:p>
        </p:txBody>
      </p:sp>
      <p:sp>
        <p:nvSpPr>
          <p:cNvPr id="28" name="C2Bg1"/>
          <p:cNvSpPr/>
          <p:nvPr/>
        </p:nvSpPr>
        <p:spPr>
          <a:xfrm>
            <a:off x="2807208" y="1901920"/>
            <a:ext cx="1536192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C2Tx1"/>
          <p:cNvSpPr/>
          <p:nvPr/>
        </p:nvSpPr>
        <p:spPr>
          <a:xfrm>
            <a:off x="2825496" y="1901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10 %</a:t>
            </a:r>
            <a:endParaRPr lang="en-US" sz="1100" dirty="0"/>
          </a:p>
        </p:txBody>
      </p:sp>
      <p:sp>
        <p:nvSpPr>
          <p:cNvPr id="30" name="C1Bg2"/>
          <p:cNvSpPr/>
          <p:nvPr/>
        </p:nvSpPr>
        <p:spPr>
          <a:xfrm>
            <a:off x="502920" y="2157920"/>
            <a:ext cx="2304288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C1Tx2"/>
          <p:cNvSpPr/>
          <p:nvPr/>
        </p:nvSpPr>
        <p:spPr>
          <a:xfrm>
            <a:off x="539496" y="2157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12 109 € à 15 932 €</a:t>
            </a:r>
            <a:endParaRPr lang="en-US" sz="1100" dirty="0"/>
          </a:p>
        </p:txBody>
      </p:sp>
      <p:sp>
        <p:nvSpPr>
          <p:cNvPr id="32" name="C2Bg2"/>
          <p:cNvSpPr/>
          <p:nvPr/>
        </p:nvSpPr>
        <p:spPr>
          <a:xfrm>
            <a:off x="2807208" y="2157920"/>
            <a:ext cx="1536192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C2Tx2"/>
          <p:cNvSpPr/>
          <p:nvPr/>
        </p:nvSpPr>
        <p:spPr>
          <a:xfrm>
            <a:off x="2825496" y="2157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15 %</a:t>
            </a:r>
            <a:endParaRPr lang="en-US" sz="1100" dirty="0"/>
          </a:p>
        </p:txBody>
      </p:sp>
      <p:sp>
        <p:nvSpPr>
          <p:cNvPr id="34" name="C1Bg3"/>
          <p:cNvSpPr/>
          <p:nvPr/>
        </p:nvSpPr>
        <p:spPr>
          <a:xfrm>
            <a:off x="502920" y="2413920"/>
            <a:ext cx="2304288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C1Tx3"/>
          <p:cNvSpPr/>
          <p:nvPr/>
        </p:nvSpPr>
        <p:spPr>
          <a:xfrm>
            <a:off x="539496" y="2413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15 932 € à 552 324 €</a:t>
            </a:r>
            <a:endParaRPr lang="en-US" sz="1100" dirty="0"/>
          </a:p>
        </p:txBody>
      </p:sp>
      <p:sp>
        <p:nvSpPr>
          <p:cNvPr id="36" name="C2Bg3"/>
          <p:cNvSpPr/>
          <p:nvPr/>
        </p:nvSpPr>
        <p:spPr>
          <a:xfrm>
            <a:off x="2807208" y="2413920"/>
            <a:ext cx="1536192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C2Tx3"/>
          <p:cNvSpPr/>
          <p:nvPr/>
        </p:nvSpPr>
        <p:spPr>
          <a:xfrm>
            <a:off x="2825496" y="2413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20 %</a:t>
            </a:r>
            <a:endParaRPr lang="en-US" sz="1100" dirty="0"/>
          </a:p>
        </p:txBody>
      </p:sp>
      <p:sp>
        <p:nvSpPr>
          <p:cNvPr id="38" name="C1Bg4"/>
          <p:cNvSpPr/>
          <p:nvPr/>
        </p:nvSpPr>
        <p:spPr>
          <a:xfrm>
            <a:off x="502920" y="2669920"/>
            <a:ext cx="2304288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C1Tx4"/>
          <p:cNvSpPr/>
          <p:nvPr/>
        </p:nvSpPr>
        <p:spPr>
          <a:xfrm>
            <a:off x="539496" y="2669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552 324 € à 902 838 €</a:t>
            </a:r>
            <a:endParaRPr lang="en-US" sz="1100" dirty="0"/>
          </a:p>
        </p:txBody>
      </p:sp>
      <p:sp>
        <p:nvSpPr>
          <p:cNvPr id="40" name="C2Bg4"/>
          <p:cNvSpPr/>
          <p:nvPr/>
        </p:nvSpPr>
        <p:spPr>
          <a:xfrm>
            <a:off x="2807208" y="2669920"/>
            <a:ext cx="1536192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C2Tx4"/>
          <p:cNvSpPr/>
          <p:nvPr/>
        </p:nvSpPr>
        <p:spPr>
          <a:xfrm>
            <a:off x="2825496" y="2669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30 %</a:t>
            </a:r>
            <a:endParaRPr lang="en-US" sz="1100" dirty="0"/>
          </a:p>
        </p:txBody>
      </p:sp>
      <p:sp>
        <p:nvSpPr>
          <p:cNvPr id="42" name="C1Bg5"/>
          <p:cNvSpPr/>
          <p:nvPr/>
        </p:nvSpPr>
        <p:spPr>
          <a:xfrm>
            <a:off x="502920" y="2925920"/>
            <a:ext cx="2304288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C1Tx5"/>
          <p:cNvSpPr/>
          <p:nvPr/>
        </p:nvSpPr>
        <p:spPr>
          <a:xfrm>
            <a:off x="539496" y="2925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902 838 € à 1 805 677 €</a:t>
            </a:r>
            <a:endParaRPr lang="en-US" sz="1100" dirty="0"/>
          </a:p>
        </p:txBody>
      </p:sp>
      <p:sp>
        <p:nvSpPr>
          <p:cNvPr id="44" name="C2Bg5"/>
          <p:cNvSpPr/>
          <p:nvPr/>
        </p:nvSpPr>
        <p:spPr>
          <a:xfrm>
            <a:off x="2807208" y="2925920"/>
            <a:ext cx="1536192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C2Tx5"/>
          <p:cNvSpPr/>
          <p:nvPr/>
        </p:nvSpPr>
        <p:spPr>
          <a:xfrm>
            <a:off x="2825496" y="2925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40 %</a:t>
            </a:r>
            <a:endParaRPr lang="en-US" sz="1100" dirty="0"/>
          </a:p>
        </p:txBody>
      </p:sp>
      <p:sp>
        <p:nvSpPr>
          <p:cNvPr id="46" name="C1Bg6"/>
          <p:cNvSpPr/>
          <p:nvPr/>
        </p:nvSpPr>
        <p:spPr>
          <a:xfrm>
            <a:off x="502920" y="3181920"/>
            <a:ext cx="2304288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C1Tx6"/>
          <p:cNvSpPr/>
          <p:nvPr/>
        </p:nvSpPr>
        <p:spPr>
          <a:xfrm>
            <a:off x="539496" y="3181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1 805 677 €</a:t>
            </a:r>
            <a:endParaRPr lang="en-US" sz="1100" dirty="0"/>
          </a:p>
        </p:txBody>
      </p:sp>
      <p:sp>
        <p:nvSpPr>
          <p:cNvPr id="48" name="C2Bg6"/>
          <p:cNvSpPr/>
          <p:nvPr/>
        </p:nvSpPr>
        <p:spPr>
          <a:xfrm>
            <a:off x="2807208" y="3181920"/>
            <a:ext cx="1536192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C2Tx6"/>
          <p:cNvSpPr/>
          <p:nvPr/>
        </p:nvSpPr>
        <p:spPr>
          <a:xfrm>
            <a:off x="2825496" y="3181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45 %</a:t>
            </a:r>
            <a:endParaRPr lang="en-US" sz="1100" dirty="0"/>
          </a:p>
        </p:txBody>
      </p:sp>
      <p:sp>
        <p:nvSpPr>
          <p:cNvPr id="50" name="HBg"/>
          <p:cNvSpPr/>
          <p:nvPr/>
        </p:nvSpPr>
        <p:spPr>
          <a:xfrm>
            <a:off x="4526280" y="1371600"/>
            <a:ext cx="3840480" cy="27432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HTx"/>
          <p:cNvSpPr/>
          <p:nvPr/>
        </p:nvSpPr>
        <p:spPr>
          <a:xfrm>
            <a:off x="4581144" y="13716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ABATTEMENTS PAR BÉNÉFICIAIRE</a:t>
            </a:r>
            <a:endParaRPr lang="en-US" sz="1100" dirty="0"/>
          </a:p>
        </p:txBody>
      </p:sp>
      <p:sp>
        <p:nvSpPr>
          <p:cNvPr id="52" name="C1Bg0"/>
          <p:cNvSpPr/>
          <p:nvPr/>
        </p:nvSpPr>
        <p:spPr>
          <a:xfrm>
            <a:off x="4526280" y="1645920"/>
            <a:ext cx="2304288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C1Tx0"/>
          <p:cNvSpPr/>
          <p:nvPr/>
        </p:nvSpPr>
        <p:spPr>
          <a:xfrm>
            <a:off x="4562856" y="1645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Conjoint / PACS</a:t>
            </a:r>
            <a:endParaRPr lang="en-US" sz="1100" dirty="0"/>
          </a:p>
        </p:txBody>
      </p:sp>
      <p:sp>
        <p:nvSpPr>
          <p:cNvPr id="54" name="C2Bg0"/>
          <p:cNvSpPr/>
          <p:nvPr/>
        </p:nvSpPr>
        <p:spPr>
          <a:xfrm>
            <a:off x="6830568" y="1645920"/>
            <a:ext cx="1536192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C2Tx0"/>
          <p:cNvSpPr/>
          <p:nvPr/>
        </p:nvSpPr>
        <p:spPr>
          <a:xfrm>
            <a:off x="6848856" y="1645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EXONÉRÉ</a:t>
            </a:r>
            <a:endParaRPr lang="en-US" sz="1100" dirty="0"/>
          </a:p>
        </p:txBody>
      </p:sp>
      <p:sp>
        <p:nvSpPr>
          <p:cNvPr id="56" name="C1Bg1"/>
          <p:cNvSpPr/>
          <p:nvPr/>
        </p:nvSpPr>
        <p:spPr>
          <a:xfrm>
            <a:off x="4526280" y="1901920"/>
            <a:ext cx="2304288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C1Tx1"/>
          <p:cNvSpPr/>
          <p:nvPr/>
        </p:nvSpPr>
        <p:spPr>
          <a:xfrm>
            <a:off x="4562856" y="1901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 (par parent)</a:t>
            </a:r>
            <a:endParaRPr lang="en-US" sz="1100" dirty="0"/>
          </a:p>
        </p:txBody>
      </p:sp>
      <p:sp>
        <p:nvSpPr>
          <p:cNvPr id="58" name="C2Bg1"/>
          <p:cNvSpPr/>
          <p:nvPr/>
        </p:nvSpPr>
        <p:spPr>
          <a:xfrm>
            <a:off x="6830568" y="1901920"/>
            <a:ext cx="1536192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C2Tx1"/>
          <p:cNvSpPr/>
          <p:nvPr/>
        </p:nvSpPr>
        <p:spPr>
          <a:xfrm>
            <a:off x="6848856" y="1901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100 000 €</a:t>
            </a:r>
            <a:endParaRPr lang="en-US" sz="1100" dirty="0"/>
          </a:p>
        </p:txBody>
      </p:sp>
      <p:sp>
        <p:nvSpPr>
          <p:cNvPr id="60" name="C1Bg2"/>
          <p:cNvSpPr/>
          <p:nvPr/>
        </p:nvSpPr>
        <p:spPr>
          <a:xfrm>
            <a:off x="4526280" y="2157920"/>
            <a:ext cx="2304288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C1Tx2"/>
          <p:cNvSpPr/>
          <p:nvPr/>
        </p:nvSpPr>
        <p:spPr>
          <a:xfrm>
            <a:off x="4562856" y="2157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Petit-enfant</a:t>
            </a:r>
            <a:endParaRPr lang="en-US" sz="1100" dirty="0"/>
          </a:p>
        </p:txBody>
      </p:sp>
      <p:sp>
        <p:nvSpPr>
          <p:cNvPr id="62" name="C2Bg2"/>
          <p:cNvSpPr/>
          <p:nvPr/>
        </p:nvSpPr>
        <p:spPr>
          <a:xfrm>
            <a:off x="6830568" y="2157920"/>
            <a:ext cx="1536192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C2Tx2"/>
          <p:cNvSpPr/>
          <p:nvPr/>
        </p:nvSpPr>
        <p:spPr>
          <a:xfrm>
            <a:off x="6848856" y="2157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1 594 €</a:t>
            </a:r>
            <a:endParaRPr lang="en-US" sz="1100" dirty="0"/>
          </a:p>
        </p:txBody>
      </p:sp>
      <p:sp>
        <p:nvSpPr>
          <p:cNvPr id="64" name="C1Bg3"/>
          <p:cNvSpPr/>
          <p:nvPr/>
        </p:nvSpPr>
        <p:spPr>
          <a:xfrm>
            <a:off x="4526280" y="2413920"/>
            <a:ext cx="2304288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C1Tx3"/>
          <p:cNvSpPr/>
          <p:nvPr/>
        </p:nvSpPr>
        <p:spPr>
          <a:xfrm>
            <a:off x="4562856" y="2413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Frère / Sœur</a:t>
            </a:r>
            <a:endParaRPr lang="en-US" sz="1100" dirty="0"/>
          </a:p>
        </p:txBody>
      </p:sp>
      <p:sp>
        <p:nvSpPr>
          <p:cNvPr id="66" name="C2Bg3"/>
          <p:cNvSpPr/>
          <p:nvPr/>
        </p:nvSpPr>
        <p:spPr>
          <a:xfrm>
            <a:off x="6830568" y="2413920"/>
            <a:ext cx="1536192" cy="256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C2Tx3"/>
          <p:cNvSpPr/>
          <p:nvPr/>
        </p:nvSpPr>
        <p:spPr>
          <a:xfrm>
            <a:off x="6848856" y="2413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15 932 €</a:t>
            </a:r>
            <a:endParaRPr lang="en-US" sz="1100" dirty="0"/>
          </a:p>
        </p:txBody>
      </p:sp>
      <p:sp>
        <p:nvSpPr>
          <p:cNvPr id="68" name="C1Bg4"/>
          <p:cNvSpPr/>
          <p:nvPr/>
        </p:nvSpPr>
        <p:spPr>
          <a:xfrm>
            <a:off x="4526280" y="2669920"/>
            <a:ext cx="2304288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C1Tx4"/>
          <p:cNvSpPr/>
          <p:nvPr/>
        </p:nvSpPr>
        <p:spPr>
          <a:xfrm>
            <a:off x="4562856" y="2669920"/>
            <a:ext cx="2267712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5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Neveu / Nièce</a:t>
            </a:r>
            <a:endParaRPr lang="en-US" sz="1100" dirty="0"/>
          </a:p>
        </p:txBody>
      </p:sp>
      <p:sp>
        <p:nvSpPr>
          <p:cNvPr id="70" name="C2Bg4"/>
          <p:cNvSpPr/>
          <p:nvPr/>
        </p:nvSpPr>
        <p:spPr>
          <a:xfrm>
            <a:off x="6830568" y="2669920"/>
            <a:ext cx="1536192" cy="256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C2Tx4"/>
          <p:cNvSpPr/>
          <p:nvPr/>
        </p:nvSpPr>
        <p:spPr>
          <a:xfrm>
            <a:off x="6848856" y="2669920"/>
            <a:ext cx="1517904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5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7 967 €</a:t>
            </a:r>
            <a:endParaRPr lang="en-US" sz="1100" dirty="0"/>
          </a:p>
        </p:txBody>
      </p:sp>
      <p:sp>
        <p:nvSpPr>
          <p:cNvPr id="72" name="Note"/>
          <p:cNvSpPr/>
          <p:nvPr/>
        </p:nvSpPr>
        <p:spPr>
          <a:xfrm>
            <a:off x="502920" y="35110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Abattements renouvelables tous les 15 ans. Source : BOFIP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8260DD58-3F7F-4445-B201-0FA0B76EC4EE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49</a:t>
            </a:fld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TARIFICATION · GESTION DÉLÉGUÉE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offre — Assurance vie gestion déléguée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HBg0"/>
          <p:cNvSpPr/>
          <p:nvPr/>
        </p:nvSpPr>
        <p:spPr>
          <a:xfrm>
            <a:off x="502920" y="1500000"/>
            <a:ext cx="2433218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Tx0"/>
          <p:cNvSpPr/>
          <p:nvPr/>
        </p:nvSpPr>
        <p:spPr>
          <a:xfrm>
            <a:off x="557784" y="1500000"/>
            <a:ext cx="232349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HBg1"/>
          <p:cNvSpPr/>
          <p:nvPr/>
        </p:nvSpPr>
        <p:spPr>
          <a:xfrm>
            <a:off x="2936138" y="1500000"/>
            <a:ext cx="1865467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HTx1"/>
          <p:cNvSpPr/>
          <p:nvPr/>
        </p:nvSpPr>
        <p:spPr>
          <a:xfrm>
            <a:off x="2991002" y="1500000"/>
            <a:ext cx="1755739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Frais standards du marché</a:t>
            </a:r>
            <a:endParaRPr lang="en-US" sz="1100" dirty="0"/>
          </a:p>
        </p:txBody>
      </p:sp>
      <p:sp>
        <p:nvSpPr>
          <p:cNvPr id="24" name="HBg2"/>
          <p:cNvSpPr/>
          <p:nvPr/>
        </p:nvSpPr>
        <p:spPr>
          <a:xfrm>
            <a:off x="4801605" y="1500000"/>
            <a:ext cx="1784360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HTx2"/>
          <p:cNvSpPr/>
          <p:nvPr/>
        </p:nvSpPr>
        <p:spPr>
          <a:xfrm>
            <a:off x="4856469" y="1500000"/>
            <a:ext cx="167463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offre</a:t>
            </a:r>
            <a:endParaRPr lang="en-US" sz="1100" dirty="0"/>
          </a:p>
        </p:txBody>
      </p:sp>
      <p:sp>
        <p:nvSpPr>
          <p:cNvPr id="26" name="HBg3"/>
          <p:cNvSpPr/>
          <p:nvPr/>
        </p:nvSpPr>
        <p:spPr>
          <a:xfrm>
            <a:off x="6585965" y="1500000"/>
            <a:ext cx="2027683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HTx3"/>
          <p:cNvSpPr/>
          <p:nvPr/>
        </p:nvSpPr>
        <p:spPr>
          <a:xfrm>
            <a:off x="6640829" y="1500000"/>
            <a:ext cx="191795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dont rémunération Affilior</a:t>
            </a:r>
            <a:endParaRPr lang="en-US" sz="1100" dirty="0"/>
          </a:p>
        </p:txBody>
      </p:sp>
      <p:sp>
        <p:nvSpPr>
          <p:cNvPr id="28" name="RBg0_0"/>
          <p:cNvSpPr/>
          <p:nvPr/>
        </p:nvSpPr>
        <p:spPr>
          <a:xfrm>
            <a:off x="502920" y="1800000"/>
            <a:ext cx="2433218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Tx0_0"/>
          <p:cNvSpPr/>
          <p:nvPr/>
        </p:nvSpPr>
        <p:spPr>
          <a:xfrm>
            <a:off x="557784" y="180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d'entrée</a:t>
            </a:r>
            <a:endParaRPr lang="en-US" sz="1100" dirty="0"/>
          </a:p>
        </p:txBody>
      </p:sp>
      <p:sp>
        <p:nvSpPr>
          <p:cNvPr id="30" name="RBg0_1"/>
          <p:cNvSpPr/>
          <p:nvPr/>
        </p:nvSpPr>
        <p:spPr>
          <a:xfrm>
            <a:off x="2936138" y="1800000"/>
            <a:ext cx="1865467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Tx0_1"/>
          <p:cNvSpPr/>
          <p:nvPr/>
        </p:nvSpPr>
        <p:spPr>
          <a:xfrm>
            <a:off x="2991002" y="180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4,8 %</a:t>
            </a:r>
            <a:endParaRPr lang="en-US" sz="1100" dirty="0"/>
          </a:p>
        </p:txBody>
      </p:sp>
      <p:sp>
        <p:nvSpPr>
          <p:cNvPr id="32" name="RBg0_2"/>
          <p:cNvSpPr/>
          <p:nvPr/>
        </p:nvSpPr>
        <p:spPr>
          <a:xfrm>
            <a:off x="4801605" y="180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Tx0_2"/>
          <p:cNvSpPr/>
          <p:nvPr/>
        </p:nvSpPr>
        <p:spPr>
          <a:xfrm>
            <a:off x="4856469" y="180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2 %</a:t>
            </a:r>
            <a:endParaRPr lang="en-US" sz="1100" dirty="0"/>
          </a:p>
        </p:txBody>
      </p:sp>
      <p:sp>
        <p:nvSpPr>
          <p:cNvPr id="34" name="RBg0_3"/>
          <p:cNvSpPr/>
          <p:nvPr/>
        </p:nvSpPr>
        <p:spPr>
          <a:xfrm>
            <a:off x="6585965" y="1800000"/>
            <a:ext cx="2027683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Tx0_3"/>
          <p:cNvSpPr/>
          <p:nvPr/>
        </p:nvSpPr>
        <p:spPr>
          <a:xfrm>
            <a:off x="6640829" y="180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2 %</a:t>
            </a:r>
            <a:endParaRPr lang="en-US" sz="1100" dirty="0"/>
          </a:p>
        </p:txBody>
      </p:sp>
      <p:sp>
        <p:nvSpPr>
          <p:cNvPr id="36" name="RBg1_0"/>
          <p:cNvSpPr/>
          <p:nvPr/>
        </p:nvSpPr>
        <p:spPr>
          <a:xfrm>
            <a:off x="502920" y="2230000"/>
            <a:ext cx="2433218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Tx1_0"/>
          <p:cNvSpPr/>
          <p:nvPr/>
        </p:nvSpPr>
        <p:spPr>
          <a:xfrm>
            <a:off x="557784" y="223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d'arbitrages</a:t>
            </a:r>
            <a:endParaRPr lang="en-US" sz="1100" dirty="0"/>
          </a:p>
        </p:txBody>
      </p:sp>
      <p:sp>
        <p:nvSpPr>
          <p:cNvPr id="38" name="RBg1_1"/>
          <p:cNvSpPr/>
          <p:nvPr/>
        </p:nvSpPr>
        <p:spPr>
          <a:xfrm>
            <a:off x="2936138" y="2230000"/>
            <a:ext cx="1865467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Tx1_1"/>
          <p:cNvSpPr/>
          <p:nvPr/>
        </p:nvSpPr>
        <p:spPr>
          <a:xfrm>
            <a:off x="2991002" y="223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0 %</a:t>
            </a:r>
            <a:endParaRPr lang="en-US" sz="1100" dirty="0"/>
          </a:p>
        </p:txBody>
      </p:sp>
      <p:sp>
        <p:nvSpPr>
          <p:cNvPr id="40" name="RBg1_2"/>
          <p:cNvSpPr/>
          <p:nvPr/>
        </p:nvSpPr>
        <p:spPr>
          <a:xfrm>
            <a:off x="4801605" y="223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Tx1_2"/>
          <p:cNvSpPr/>
          <p:nvPr/>
        </p:nvSpPr>
        <p:spPr>
          <a:xfrm>
            <a:off x="4856469" y="223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0 %</a:t>
            </a:r>
            <a:endParaRPr lang="en-US" sz="1100" dirty="0"/>
          </a:p>
        </p:txBody>
      </p:sp>
      <p:sp>
        <p:nvSpPr>
          <p:cNvPr id="42" name="RBg1_3"/>
          <p:cNvSpPr/>
          <p:nvPr/>
        </p:nvSpPr>
        <p:spPr>
          <a:xfrm>
            <a:off x="6585965" y="2230000"/>
            <a:ext cx="2027683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Tx1_3"/>
          <p:cNvSpPr/>
          <p:nvPr/>
        </p:nvSpPr>
        <p:spPr>
          <a:xfrm>
            <a:off x="6640829" y="223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0 %</a:t>
            </a:r>
            <a:endParaRPr lang="en-US" sz="1100" dirty="0"/>
          </a:p>
        </p:txBody>
      </p:sp>
      <p:sp>
        <p:nvSpPr>
          <p:cNvPr id="44" name="RBg2_0"/>
          <p:cNvSpPr/>
          <p:nvPr/>
        </p:nvSpPr>
        <p:spPr>
          <a:xfrm>
            <a:off x="502920" y="2660000"/>
            <a:ext cx="2433218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Tx2_0"/>
          <p:cNvSpPr/>
          <p:nvPr/>
        </p:nvSpPr>
        <p:spPr>
          <a:xfrm>
            <a:off x="557784" y="266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gestion annuels</a:t>
            </a:r>
            <a:endParaRPr lang="en-US" sz="1100" dirty="0"/>
          </a:p>
        </p:txBody>
      </p:sp>
      <p:sp>
        <p:nvSpPr>
          <p:cNvPr id="46" name="RBg2_1"/>
          <p:cNvSpPr/>
          <p:nvPr/>
        </p:nvSpPr>
        <p:spPr>
          <a:xfrm>
            <a:off x="2936138" y="2660000"/>
            <a:ext cx="1865467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Tx2_1"/>
          <p:cNvSpPr/>
          <p:nvPr/>
        </p:nvSpPr>
        <p:spPr>
          <a:xfrm>
            <a:off x="2991002" y="266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1 %</a:t>
            </a:r>
            <a:endParaRPr lang="en-US" sz="1100" dirty="0"/>
          </a:p>
        </p:txBody>
      </p:sp>
      <p:sp>
        <p:nvSpPr>
          <p:cNvPr id="48" name="RBg2_2"/>
          <p:cNvSpPr/>
          <p:nvPr/>
        </p:nvSpPr>
        <p:spPr>
          <a:xfrm>
            <a:off x="4801605" y="266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Tx2_2"/>
          <p:cNvSpPr/>
          <p:nvPr/>
        </p:nvSpPr>
        <p:spPr>
          <a:xfrm>
            <a:off x="4856469" y="266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1 %</a:t>
            </a:r>
            <a:endParaRPr lang="en-US" sz="1100" dirty="0"/>
          </a:p>
        </p:txBody>
      </p:sp>
      <p:sp>
        <p:nvSpPr>
          <p:cNvPr id="50" name="RBg2_3"/>
          <p:cNvSpPr/>
          <p:nvPr/>
        </p:nvSpPr>
        <p:spPr>
          <a:xfrm>
            <a:off x="6585965" y="2660000"/>
            <a:ext cx="2027683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Tx2_3"/>
          <p:cNvSpPr/>
          <p:nvPr/>
        </p:nvSpPr>
        <p:spPr>
          <a:xfrm>
            <a:off x="6640829" y="266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0,5 %</a:t>
            </a:r>
            <a:endParaRPr lang="en-US" sz="1100" dirty="0"/>
          </a:p>
        </p:txBody>
      </p:sp>
      <p:sp>
        <p:nvSpPr>
          <p:cNvPr id="52" name="RBg3_0"/>
          <p:cNvSpPr/>
          <p:nvPr/>
        </p:nvSpPr>
        <p:spPr>
          <a:xfrm>
            <a:off x="502920" y="3090000"/>
            <a:ext cx="2433218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RTx3_0"/>
          <p:cNvSpPr/>
          <p:nvPr/>
        </p:nvSpPr>
        <p:spPr>
          <a:xfrm>
            <a:off x="557784" y="309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gestion financière</a:t>
            </a:r>
            <a:endParaRPr lang="en-US" sz="1100" dirty="0"/>
          </a:p>
        </p:txBody>
      </p:sp>
      <p:sp>
        <p:nvSpPr>
          <p:cNvPr id="54" name="RBg3_1"/>
          <p:cNvSpPr/>
          <p:nvPr/>
        </p:nvSpPr>
        <p:spPr>
          <a:xfrm>
            <a:off x="2936138" y="3090000"/>
            <a:ext cx="1865467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RTx3_1"/>
          <p:cNvSpPr/>
          <p:nvPr/>
        </p:nvSpPr>
        <p:spPr>
          <a:xfrm>
            <a:off x="2991002" y="309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1 %</a:t>
            </a:r>
            <a:endParaRPr lang="en-US" sz="1100" dirty="0"/>
          </a:p>
        </p:txBody>
      </p:sp>
      <p:sp>
        <p:nvSpPr>
          <p:cNvPr id="56" name="RBg3_2"/>
          <p:cNvSpPr/>
          <p:nvPr/>
        </p:nvSpPr>
        <p:spPr>
          <a:xfrm>
            <a:off x="4801605" y="309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RTx3_2"/>
          <p:cNvSpPr/>
          <p:nvPr/>
        </p:nvSpPr>
        <p:spPr>
          <a:xfrm>
            <a:off x="4856469" y="309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1 %</a:t>
            </a:r>
            <a:endParaRPr lang="en-US" sz="1100" dirty="0"/>
          </a:p>
        </p:txBody>
      </p:sp>
      <p:sp>
        <p:nvSpPr>
          <p:cNvPr id="58" name="RBg3_3"/>
          <p:cNvSpPr/>
          <p:nvPr/>
        </p:nvSpPr>
        <p:spPr>
          <a:xfrm>
            <a:off x="6585965" y="3090000"/>
            <a:ext cx="2027683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RTx3_3"/>
          <p:cNvSpPr/>
          <p:nvPr/>
        </p:nvSpPr>
        <p:spPr>
          <a:xfrm>
            <a:off x="6640829" y="309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0,5 %</a:t>
            </a:r>
            <a:endParaRPr lang="en-US" sz="1100" dirty="0"/>
          </a:p>
        </p:txBody>
      </p:sp>
      <p:sp>
        <p:nvSpPr>
          <p:cNvPr id="61" name="Note"/>
          <p:cNvSpPr/>
          <p:nvPr/>
        </p:nvSpPr>
        <p:spPr>
          <a:xfrm>
            <a:off x="502920" y="3640000"/>
            <a:ext cx="81107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rémunération d'Affilior est intégralement comprise dans les frais indiqués en colonne « Notre offre » — elle ne s'y ajoute pas.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772D56A-3B54-47C0-9969-B4B9B21E99BD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50</a:t>
            </a:fld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TARIFICATION · ASSURANCE VIE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offre — Assurance vie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HBg0"/>
          <p:cNvSpPr/>
          <p:nvPr/>
        </p:nvSpPr>
        <p:spPr>
          <a:xfrm>
            <a:off x="502920" y="1500000"/>
            <a:ext cx="2433218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Tx0"/>
          <p:cNvSpPr/>
          <p:nvPr/>
        </p:nvSpPr>
        <p:spPr>
          <a:xfrm>
            <a:off x="557784" y="1500000"/>
            <a:ext cx="232349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HBg1"/>
          <p:cNvSpPr/>
          <p:nvPr/>
        </p:nvSpPr>
        <p:spPr>
          <a:xfrm>
            <a:off x="2936138" y="1500000"/>
            <a:ext cx="1865467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HTx1"/>
          <p:cNvSpPr/>
          <p:nvPr/>
        </p:nvSpPr>
        <p:spPr>
          <a:xfrm>
            <a:off x="2991002" y="1500000"/>
            <a:ext cx="1755739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Frais standards du marché</a:t>
            </a:r>
            <a:endParaRPr lang="en-US" sz="1100" dirty="0"/>
          </a:p>
        </p:txBody>
      </p:sp>
      <p:sp>
        <p:nvSpPr>
          <p:cNvPr id="24" name="HBg2"/>
          <p:cNvSpPr/>
          <p:nvPr/>
        </p:nvSpPr>
        <p:spPr>
          <a:xfrm>
            <a:off x="4801605" y="1500000"/>
            <a:ext cx="1784360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HTx2"/>
          <p:cNvSpPr/>
          <p:nvPr/>
        </p:nvSpPr>
        <p:spPr>
          <a:xfrm>
            <a:off x="4856469" y="1500000"/>
            <a:ext cx="167463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offre</a:t>
            </a:r>
            <a:endParaRPr lang="en-US" sz="1100" dirty="0"/>
          </a:p>
        </p:txBody>
      </p:sp>
      <p:sp>
        <p:nvSpPr>
          <p:cNvPr id="26" name="HBg3"/>
          <p:cNvSpPr/>
          <p:nvPr/>
        </p:nvSpPr>
        <p:spPr>
          <a:xfrm>
            <a:off x="6585965" y="1500000"/>
            <a:ext cx="2027683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HTx3"/>
          <p:cNvSpPr/>
          <p:nvPr/>
        </p:nvSpPr>
        <p:spPr>
          <a:xfrm>
            <a:off x="6640829" y="1500000"/>
            <a:ext cx="191795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dont rémunération Affilior</a:t>
            </a:r>
            <a:endParaRPr lang="en-US" sz="1100" dirty="0"/>
          </a:p>
        </p:txBody>
      </p:sp>
      <p:sp>
        <p:nvSpPr>
          <p:cNvPr id="28" name="RBg0_0"/>
          <p:cNvSpPr/>
          <p:nvPr/>
        </p:nvSpPr>
        <p:spPr>
          <a:xfrm>
            <a:off x="502920" y="1800000"/>
            <a:ext cx="2433218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Tx0_0"/>
          <p:cNvSpPr/>
          <p:nvPr/>
        </p:nvSpPr>
        <p:spPr>
          <a:xfrm>
            <a:off x="557784" y="180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d'entrée</a:t>
            </a:r>
            <a:endParaRPr lang="en-US" sz="1100" dirty="0"/>
          </a:p>
        </p:txBody>
      </p:sp>
      <p:sp>
        <p:nvSpPr>
          <p:cNvPr id="30" name="RBg0_1"/>
          <p:cNvSpPr/>
          <p:nvPr/>
        </p:nvSpPr>
        <p:spPr>
          <a:xfrm>
            <a:off x="2936138" y="1800000"/>
            <a:ext cx="1865467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Tx0_1"/>
          <p:cNvSpPr/>
          <p:nvPr/>
        </p:nvSpPr>
        <p:spPr>
          <a:xfrm>
            <a:off x="2991002" y="180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4,8 %</a:t>
            </a:r>
            <a:endParaRPr lang="en-US" sz="1100" dirty="0"/>
          </a:p>
        </p:txBody>
      </p:sp>
      <p:sp>
        <p:nvSpPr>
          <p:cNvPr id="32" name="RBg0_2"/>
          <p:cNvSpPr/>
          <p:nvPr/>
        </p:nvSpPr>
        <p:spPr>
          <a:xfrm>
            <a:off x="4801605" y="180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Tx0_2"/>
          <p:cNvSpPr/>
          <p:nvPr/>
        </p:nvSpPr>
        <p:spPr>
          <a:xfrm>
            <a:off x="4856469" y="180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2 %</a:t>
            </a:r>
            <a:endParaRPr lang="en-US" sz="1100" dirty="0"/>
          </a:p>
        </p:txBody>
      </p:sp>
      <p:sp>
        <p:nvSpPr>
          <p:cNvPr id="34" name="RBg0_3"/>
          <p:cNvSpPr/>
          <p:nvPr/>
        </p:nvSpPr>
        <p:spPr>
          <a:xfrm>
            <a:off x="6585965" y="1800000"/>
            <a:ext cx="2027683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Tx0_3"/>
          <p:cNvSpPr/>
          <p:nvPr/>
        </p:nvSpPr>
        <p:spPr>
          <a:xfrm>
            <a:off x="6640829" y="180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2 %</a:t>
            </a:r>
            <a:endParaRPr lang="en-US" sz="1100" dirty="0"/>
          </a:p>
        </p:txBody>
      </p:sp>
      <p:sp>
        <p:nvSpPr>
          <p:cNvPr id="36" name="RBg1_0"/>
          <p:cNvSpPr/>
          <p:nvPr/>
        </p:nvSpPr>
        <p:spPr>
          <a:xfrm>
            <a:off x="502920" y="2230000"/>
            <a:ext cx="2433218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Tx1_0"/>
          <p:cNvSpPr/>
          <p:nvPr/>
        </p:nvSpPr>
        <p:spPr>
          <a:xfrm>
            <a:off x="557784" y="223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d'arbitrages</a:t>
            </a:r>
            <a:endParaRPr lang="en-US" sz="1100" dirty="0"/>
          </a:p>
        </p:txBody>
      </p:sp>
      <p:sp>
        <p:nvSpPr>
          <p:cNvPr id="38" name="RBg1_1"/>
          <p:cNvSpPr/>
          <p:nvPr/>
        </p:nvSpPr>
        <p:spPr>
          <a:xfrm>
            <a:off x="2936138" y="2230000"/>
            <a:ext cx="1865467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Tx1_1"/>
          <p:cNvSpPr/>
          <p:nvPr/>
        </p:nvSpPr>
        <p:spPr>
          <a:xfrm>
            <a:off x="2991002" y="223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100" dirty="0"/>
          </a:p>
        </p:txBody>
      </p:sp>
      <p:sp>
        <p:nvSpPr>
          <p:cNvPr id="40" name="RBg1_2"/>
          <p:cNvSpPr/>
          <p:nvPr/>
        </p:nvSpPr>
        <p:spPr>
          <a:xfrm>
            <a:off x="4801605" y="223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Tx1_2"/>
          <p:cNvSpPr/>
          <p:nvPr/>
        </p:nvSpPr>
        <p:spPr>
          <a:xfrm>
            <a:off x="4856469" y="223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gratuit puis 0,50 %</a:t>
            </a:r>
            <a:endParaRPr lang="en-US" sz="1100" dirty="0"/>
          </a:p>
        </p:txBody>
      </p:sp>
      <p:sp>
        <p:nvSpPr>
          <p:cNvPr id="42" name="RBg1_3"/>
          <p:cNvSpPr/>
          <p:nvPr/>
        </p:nvSpPr>
        <p:spPr>
          <a:xfrm>
            <a:off x="6585965" y="2230000"/>
            <a:ext cx="2027683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Tx1_3"/>
          <p:cNvSpPr/>
          <p:nvPr/>
        </p:nvSpPr>
        <p:spPr>
          <a:xfrm>
            <a:off x="6640829" y="223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</a:t>
            </a:r>
            <a:endParaRPr lang="en-US" sz="1100" dirty="0"/>
          </a:p>
        </p:txBody>
      </p:sp>
      <p:sp>
        <p:nvSpPr>
          <p:cNvPr id="44" name="RBg2_0"/>
          <p:cNvSpPr/>
          <p:nvPr/>
        </p:nvSpPr>
        <p:spPr>
          <a:xfrm>
            <a:off x="502920" y="2660000"/>
            <a:ext cx="2433218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Tx2_0"/>
          <p:cNvSpPr/>
          <p:nvPr/>
        </p:nvSpPr>
        <p:spPr>
          <a:xfrm>
            <a:off x="557784" y="266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gestion annuels</a:t>
            </a:r>
            <a:endParaRPr lang="en-US" sz="1100" dirty="0"/>
          </a:p>
        </p:txBody>
      </p:sp>
      <p:sp>
        <p:nvSpPr>
          <p:cNvPr id="46" name="RBg2_1"/>
          <p:cNvSpPr/>
          <p:nvPr/>
        </p:nvSpPr>
        <p:spPr>
          <a:xfrm>
            <a:off x="2936138" y="2660000"/>
            <a:ext cx="1865467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Tx2_1"/>
          <p:cNvSpPr/>
          <p:nvPr/>
        </p:nvSpPr>
        <p:spPr>
          <a:xfrm>
            <a:off x="2991002" y="266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1 %</a:t>
            </a:r>
            <a:endParaRPr lang="en-US" sz="1100" dirty="0"/>
          </a:p>
        </p:txBody>
      </p:sp>
      <p:sp>
        <p:nvSpPr>
          <p:cNvPr id="48" name="RBg2_2"/>
          <p:cNvSpPr/>
          <p:nvPr/>
        </p:nvSpPr>
        <p:spPr>
          <a:xfrm>
            <a:off x="4801605" y="266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Tx2_2"/>
          <p:cNvSpPr/>
          <p:nvPr/>
        </p:nvSpPr>
        <p:spPr>
          <a:xfrm>
            <a:off x="4856469" y="266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1 %</a:t>
            </a:r>
            <a:endParaRPr lang="en-US" sz="1100" dirty="0"/>
          </a:p>
        </p:txBody>
      </p:sp>
      <p:sp>
        <p:nvSpPr>
          <p:cNvPr id="50" name="RBg2_3"/>
          <p:cNvSpPr/>
          <p:nvPr/>
        </p:nvSpPr>
        <p:spPr>
          <a:xfrm>
            <a:off x="6585965" y="2660000"/>
            <a:ext cx="2027683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Tx2_3"/>
          <p:cNvSpPr/>
          <p:nvPr/>
        </p:nvSpPr>
        <p:spPr>
          <a:xfrm>
            <a:off x="6640829" y="266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0,5 %</a:t>
            </a:r>
            <a:endParaRPr lang="en-US" sz="1100" dirty="0"/>
          </a:p>
        </p:txBody>
      </p:sp>
      <p:sp>
        <p:nvSpPr>
          <p:cNvPr id="53" name="Note"/>
          <p:cNvSpPr/>
          <p:nvPr/>
        </p:nvSpPr>
        <p:spPr>
          <a:xfrm>
            <a:off x="502920" y="3210000"/>
            <a:ext cx="81107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rémunération d'Affilior est intégralement comprise dans les frais indiqués en colonne « Notre offre » — elle ne s'y ajoute pas.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71B05084-B0A2-445C-85DA-9DDCF05B48FD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51</a:t>
            </a:fld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3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3648" y="411480"/>
            <a:ext cx="10973" cy="4224528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76288" y="4773168"/>
            <a:ext cx="1572768" cy="10973"/>
          </a:xfrm>
          <a:prstGeom prst="rect">
            <a:avLst/>
          </a:prstGeom>
          <a:solidFill>
            <a:srgbClr val="8B1A1A">
              <a:alpha val="45000"/>
            </a:srgbClr>
          </a:solidFill>
          <a:ln w="12700">
            <a:solidFill>
              <a:srgbClr val="8B1A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LogoFooter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4974336"/>
            <a:ext cx="374904" cy="1691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ecHdr"/>
          <p:cNvSpPr/>
          <p:nvPr/>
        </p:nvSpPr>
        <p:spPr>
          <a:xfrm>
            <a:off x="4846320" y="228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B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TARIFICATION · SCPI</a:t>
            </a:r>
            <a:endParaRPr lang="en-US" sz="1100" dirty="0"/>
          </a:p>
        </p:txBody>
      </p:sp>
      <p:sp>
        <p:nvSpPr>
          <p:cNvPr id="9" name="SubLine"/>
          <p:cNvSpPr/>
          <p:nvPr/>
        </p:nvSpPr>
        <p:spPr>
          <a:xfrm>
            <a:off x="502920" y="475488"/>
            <a:ext cx="8001000" cy="10973"/>
          </a:xfrm>
          <a:prstGeom prst="rect">
            <a:avLst/>
          </a:prstGeom>
          <a:solidFill>
            <a:srgbClr val="CFC8BD"/>
          </a:solidFill>
          <a:ln w="12700">
            <a:solidFill>
              <a:srgbClr val="CFC8B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itle"/>
          <p:cNvSpPr/>
          <p:nvPr/>
        </p:nvSpPr>
        <p:spPr>
          <a:xfrm>
            <a:off x="502920" y="594360"/>
            <a:ext cx="8110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C2B3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offre — SCPI</a:t>
            </a:r>
            <a:endParaRPr lang="en-US" sz="1100" dirty="0"/>
          </a:p>
        </p:txBody>
      </p:sp>
      <p:sp>
        <p:nvSpPr>
          <p:cNvPr id="11" name="RedLine"/>
          <p:cNvSpPr/>
          <p:nvPr/>
        </p:nvSpPr>
        <p:spPr>
          <a:xfrm>
            <a:off x="502920" y="1207008"/>
            <a:ext cx="347472" cy="20117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HBg0"/>
          <p:cNvSpPr/>
          <p:nvPr/>
        </p:nvSpPr>
        <p:spPr>
          <a:xfrm>
            <a:off x="502920" y="1500000"/>
            <a:ext cx="2433218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Tx0"/>
          <p:cNvSpPr/>
          <p:nvPr/>
        </p:nvSpPr>
        <p:spPr>
          <a:xfrm>
            <a:off x="557784" y="1500000"/>
            <a:ext cx="232349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HBg1"/>
          <p:cNvSpPr/>
          <p:nvPr/>
        </p:nvSpPr>
        <p:spPr>
          <a:xfrm>
            <a:off x="2936138" y="1500000"/>
            <a:ext cx="1865467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HTx1"/>
          <p:cNvSpPr/>
          <p:nvPr/>
        </p:nvSpPr>
        <p:spPr>
          <a:xfrm>
            <a:off x="2991002" y="1500000"/>
            <a:ext cx="1755739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Frais standards du marché</a:t>
            </a:r>
            <a:endParaRPr lang="en-US" sz="1100" dirty="0"/>
          </a:p>
        </p:txBody>
      </p:sp>
      <p:sp>
        <p:nvSpPr>
          <p:cNvPr id="24" name="HBg2"/>
          <p:cNvSpPr/>
          <p:nvPr/>
        </p:nvSpPr>
        <p:spPr>
          <a:xfrm>
            <a:off x="4801605" y="1500000"/>
            <a:ext cx="1784360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HTx2"/>
          <p:cNvSpPr/>
          <p:nvPr/>
        </p:nvSpPr>
        <p:spPr>
          <a:xfrm>
            <a:off x="4856469" y="1500000"/>
            <a:ext cx="167463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Notre offre</a:t>
            </a:r>
            <a:endParaRPr lang="en-US" sz="1100" dirty="0"/>
          </a:p>
        </p:txBody>
      </p:sp>
      <p:sp>
        <p:nvSpPr>
          <p:cNvPr id="26" name="HBg3"/>
          <p:cNvSpPr/>
          <p:nvPr/>
        </p:nvSpPr>
        <p:spPr>
          <a:xfrm>
            <a:off x="6585965" y="1500000"/>
            <a:ext cx="2027683" cy="30000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HTx3"/>
          <p:cNvSpPr/>
          <p:nvPr/>
        </p:nvSpPr>
        <p:spPr>
          <a:xfrm>
            <a:off x="6640829" y="1500000"/>
            <a:ext cx="191795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dont rémunération Affilior</a:t>
            </a:r>
            <a:endParaRPr lang="en-US" sz="1100" dirty="0"/>
          </a:p>
        </p:txBody>
      </p:sp>
      <p:sp>
        <p:nvSpPr>
          <p:cNvPr id="28" name="RBg0_0"/>
          <p:cNvSpPr/>
          <p:nvPr/>
        </p:nvSpPr>
        <p:spPr>
          <a:xfrm>
            <a:off x="502920" y="1800000"/>
            <a:ext cx="2433218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Tx0_0"/>
          <p:cNvSpPr/>
          <p:nvPr/>
        </p:nvSpPr>
        <p:spPr>
          <a:xfrm>
            <a:off x="557784" y="180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souscription</a:t>
            </a:r>
            <a:endParaRPr lang="en-US" sz="1100" dirty="0"/>
          </a:p>
        </p:txBody>
      </p:sp>
      <p:sp>
        <p:nvSpPr>
          <p:cNvPr id="30" name="RBg0_1"/>
          <p:cNvSpPr/>
          <p:nvPr/>
        </p:nvSpPr>
        <p:spPr>
          <a:xfrm>
            <a:off x="2936138" y="1800000"/>
            <a:ext cx="1865467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Tx0_1"/>
          <p:cNvSpPr/>
          <p:nvPr/>
        </p:nvSpPr>
        <p:spPr>
          <a:xfrm>
            <a:off x="2991002" y="180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32" name="RBg0_2"/>
          <p:cNvSpPr/>
          <p:nvPr/>
        </p:nvSpPr>
        <p:spPr>
          <a:xfrm>
            <a:off x="4801605" y="180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Tx0_2"/>
          <p:cNvSpPr/>
          <p:nvPr/>
        </p:nvSpPr>
        <p:spPr>
          <a:xfrm>
            <a:off x="4856469" y="180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Négociés</a:t>
            </a:r>
            <a:endParaRPr lang="en-US" sz="1100" dirty="0"/>
          </a:p>
        </p:txBody>
      </p:sp>
      <p:sp>
        <p:nvSpPr>
          <p:cNvPr id="34" name="RBg0_3"/>
          <p:cNvSpPr/>
          <p:nvPr/>
        </p:nvSpPr>
        <p:spPr>
          <a:xfrm>
            <a:off x="6585965" y="1800000"/>
            <a:ext cx="2027683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Tx0_3"/>
          <p:cNvSpPr/>
          <p:nvPr/>
        </p:nvSpPr>
        <p:spPr>
          <a:xfrm>
            <a:off x="6640829" y="180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6" name="RBg1_0"/>
          <p:cNvSpPr/>
          <p:nvPr/>
        </p:nvSpPr>
        <p:spPr>
          <a:xfrm>
            <a:off x="502920" y="2230000"/>
            <a:ext cx="2433218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Tx1_0"/>
          <p:cNvSpPr/>
          <p:nvPr/>
        </p:nvSpPr>
        <p:spPr>
          <a:xfrm>
            <a:off x="557784" y="223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Honoraires de mise en place</a:t>
            </a:r>
            <a:endParaRPr lang="en-US" sz="1100" dirty="0"/>
          </a:p>
        </p:txBody>
      </p:sp>
      <p:sp>
        <p:nvSpPr>
          <p:cNvPr id="38" name="RBg1_1"/>
          <p:cNvSpPr/>
          <p:nvPr/>
        </p:nvSpPr>
        <p:spPr>
          <a:xfrm>
            <a:off x="2936138" y="2230000"/>
            <a:ext cx="1865467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Tx1_1"/>
          <p:cNvSpPr/>
          <p:nvPr/>
        </p:nvSpPr>
        <p:spPr>
          <a:xfrm>
            <a:off x="2991002" y="223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1 000 €</a:t>
            </a:r>
            <a:endParaRPr lang="en-US" sz="1100" dirty="0"/>
          </a:p>
        </p:txBody>
      </p:sp>
      <p:sp>
        <p:nvSpPr>
          <p:cNvPr id="40" name="RBg1_2"/>
          <p:cNvSpPr/>
          <p:nvPr/>
        </p:nvSpPr>
        <p:spPr>
          <a:xfrm>
            <a:off x="4801605" y="223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Tx1_2"/>
          <p:cNvSpPr/>
          <p:nvPr/>
        </p:nvSpPr>
        <p:spPr>
          <a:xfrm>
            <a:off x="4856469" y="223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1 000 €</a:t>
            </a:r>
            <a:endParaRPr lang="en-US" sz="1100" dirty="0"/>
          </a:p>
        </p:txBody>
      </p:sp>
      <p:sp>
        <p:nvSpPr>
          <p:cNvPr id="42" name="RBg1_3"/>
          <p:cNvSpPr/>
          <p:nvPr/>
        </p:nvSpPr>
        <p:spPr>
          <a:xfrm>
            <a:off x="6585965" y="2230000"/>
            <a:ext cx="2027683" cy="430000"/>
          </a:xfrm>
          <a:prstGeom prst="rect">
            <a:avLst/>
          </a:prstGeom>
          <a:solidFill>
            <a:srgbClr val="F3F0EB"/>
          </a:solidFill>
          <a:ln w="12700">
            <a:solidFill>
              <a:srgbClr val="F3F0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Tx1_3"/>
          <p:cNvSpPr/>
          <p:nvPr/>
        </p:nvSpPr>
        <p:spPr>
          <a:xfrm>
            <a:off x="6640829" y="223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1 000 €</a:t>
            </a:r>
            <a:endParaRPr lang="en-US" sz="1100" dirty="0"/>
          </a:p>
        </p:txBody>
      </p:sp>
      <p:sp>
        <p:nvSpPr>
          <p:cNvPr id="44" name="RBg2_0"/>
          <p:cNvSpPr/>
          <p:nvPr/>
        </p:nvSpPr>
        <p:spPr>
          <a:xfrm>
            <a:off x="502920" y="2660000"/>
            <a:ext cx="2433218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Tx2_0"/>
          <p:cNvSpPr/>
          <p:nvPr/>
        </p:nvSpPr>
        <p:spPr>
          <a:xfrm>
            <a:off x="557784" y="2669144"/>
            <a:ext cx="2323490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annuel</a:t>
            </a:r>
            <a:endParaRPr lang="en-US" sz="1100" dirty="0"/>
          </a:p>
        </p:txBody>
      </p:sp>
      <p:sp>
        <p:nvSpPr>
          <p:cNvPr id="46" name="RBg2_1"/>
          <p:cNvSpPr/>
          <p:nvPr/>
        </p:nvSpPr>
        <p:spPr>
          <a:xfrm>
            <a:off x="2936138" y="2660000"/>
            <a:ext cx="1865467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Tx2_1"/>
          <p:cNvSpPr/>
          <p:nvPr/>
        </p:nvSpPr>
        <p:spPr>
          <a:xfrm>
            <a:off x="2991002" y="2669144"/>
            <a:ext cx="1755739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8" name="RBg2_2"/>
          <p:cNvSpPr/>
          <p:nvPr/>
        </p:nvSpPr>
        <p:spPr>
          <a:xfrm>
            <a:off x="4801605" y="2660000"/>
            <a:ext cx="1784360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Tx2_2"/>
          <p:cNvSpPr/>
          <p:nvPr/>
        </p:nvSpPr>
        <p:spPr>
          <a:xfrm>
            <a:off x="4856469" y="2669144"/>
            <a:ext cx="1674632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</a:t>
            </a:r>
            <a:endParaRPr lang="en-US" sz="1100" dirty="0"/>
          </a:p>
        </p:txBody>
      </p:sp>
      <p:sp>
        <p:nvSpPr>
          <p:cNvPr id="50" name="RBg2_3"/>
          <p:cNvSpPr/>
          <p:nvPr/>
        </p:nvSpPr>
        <p:spPr>
          <a:xfrm>
            <a:off x="6585965" y="2660000"/>
            <a:ext cx="2027683" cy="430000"/>
          </a:xfrm>
          <a:prstGeom prst="rect">
            <a:avLst/>
          </a:prstGeom>
          <a:solidFill>
            <a:srgbClr val="F7F5F1"/>
          </a:solidFill>
          <a:ln w="12700">
            <a:solidFill>
              <a:srgbClr val="F7F5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Tx2_3"/>
          <p:cNvSpPr/>
          <p:nvPr/>
        </p:nvSpPr>
        <p:spPr>
          <a:xfrm>
            <a:off x="6640829" y="2669144"/>
            <a:ext cx="1917955" cy="420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Note"/>
          <p:cNvSpPr/>
          <p:nvPr/>
        </p:nvSpPr>
        <p:spPr>
          <a:xfrm>
            <a:off x="502920" y="3210000"/>
            <a:ext cx="811072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rémunération d'Affilior est intégralement comprise dans les frais indiqués en colonne « Notre offre » — elle ne s'y ajoute pas.</a:t>
            </a:r>
            <a:endParaRPr lang="en-US" sz="1100" dirty="0"/>
          </a:p>
        </p:txBody>
      </p:sp>
      <p:sp>
        <p:nvSpPr>
          <p:cNvPr id="99" name="Footer"/>
          <p:cNvSpPr/>
          <p:nvPr/>
        </p:nvSpPr>
        <p:spPr>
          <a:xfrm>
            <a:off x="2560320" y="5001768"/>
            <a:ext cx="6080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A0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Affilior Gestion Privée  ·  Confidentiel  ·  [MOIS ANNÉE]  ·  Ce document ne constitue pas un conseil en investissement au sens MIF2</a:t>
            </a:r>
            <a:endParaRPr lang="en-US" sz="1100" dirty="0"/>
          </a:p>
        </p:txBody>
      </p:sp>
      <p:sp>
        <p:nvSpPr>
          <p:cNvPr id="4000" name="PageNum"/>
          <p:cNvSpPr/>
          <p:nvPr/>
        </p:nvSpPr>
        <p:spPr>
          <a:xfrm>
            <a:off x="8100000" y="228600"/>
            <a:ext cx="4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fld id="{4AF7C340-D589-4055-A027-E6209DE3E042}" type="slidenum">
              <a:rPr lang="en-US" sz="900" dirty="0">
                <a:solidFill>
                  <a:srgbClr val="A09080"/>
                </a:solidFill>
                <a:latin typeface="Garamond" pitchFamily="34" charset="0"/>
              </a:rPr>
              <a:t>52</a:t>
            </a:fld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4706</Words>
  <Application>Microsoft Office PowerPoint</Application>
  <PresentationFormat>Affichage à l'écran (16:9)</PresentationFormat>
  <Paragraphs>905</Paragraphs>
  <Slides>52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6" baseType="lpstr">
      <vt:lpstr>Arial</vt:lpstr>
      <vt:lpstr>Calibri</vt:lpstr>
      <vt:lpstr>Garamond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 Amiel</cp:lastModifiedBy>
  <cp:revision>3</cp:revision>
  <dcterms:created xsi:type="dcterms:W3CDTF">2026-08-01T09:13:54Z</dcterms:created>
  <dcterms:modified xsi:type="dcterms:W3CDTF">2026-08-28T12:00:30Z</dcterms:modified>
</cp:coreProperties>
</file>